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3" r:id="rId4"/>
    <p:sldId id="259" r:id="rId5"/>
    <p:sldId id="262" r:id="rId6"/>
    <p:sldId id="269" r:id="rId7"/>
    <p:sldId id="267" r:id="rId8"/>
    <p:sldId id="261" r:id="rId9"/>
    <p:sldId id="264" r:id="rId10"/>
    <p:sldId id="265" r:id="rId11"/>
    <p:sldId id="270" r:id="rId12"/>
    <p:sldId id="268" r:id="rId13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57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3A14D-719C-4887-9009-D1E514AADF11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1D797-8FAC-4F3F-9BAE-CDC6806FD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326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1D797-8FAC-4F3F-9BAE-CDC6806FD20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658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1D797-8FAC-4F3F-9BAE-CDC6806FD20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725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1D797-8FAC-4F3F-9BAE-CDC6806FD20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725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7079270" y="-534099"/>
            <a:ext cx="11227780" cy="10865044"/>
            <a:chOff x="0" y="-38100"/>
            <a:chExt cx="2985058" cy="1548094"/>
          </a:xfrm>
        </p:grpSpPr>
        <p:sp>
          <p:nvSpPr>
            <p:cNvPr id="4" name="Freeform 4"/>
            <p:cNvSpPr/>
            <p:nvPr/>
          </p:nvSpPr>
          <p:spPr>
            <a:xfrm>
              <a:off x="54659" y="38392"/>
              <a:ext cx="2930399" cy="1467014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82956" cy="1548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276953" y="2550882"/>
            <a:ext cx="11011047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spc="1085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PROJECT Title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86955" y="5794724"/>
            <a:ext cx="11001045" cy="59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59"/>
              </a:lnSpc>
            </a:pPr>
            <a:r>
              <a:rPr lang="en-US" sz="4459" spc="405" dirty="0">
                <a:solidFill>
                  <a:srgbClr val="543855"/>
                </a:solidFill>
                <a:latin typeface="Bobby Jones Condensed"/>
                <a:ea typeface="Bobby Jones Condensed"/>
                <a:cs typeface="Bobby Jones Condensed"/>
                <a:sym typeface="Bobby Jones Condensed"/>
              </a:rPr>
              <a:t>Team Name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4B26983-ED2E-DE6A-B1F2-3DF31A42662F}"/>
              </a:ext>
            </a:extLst>
          </p:cNvPr>
          <p:cNvSpPr txBox="1"/>
          <p:nvPr/>
        </p:nvSpPr>
        <p:spPr>
          <a:xfrm>
            <a:off x="7276953" y="4020788"/>
            <a:ext cx="1100104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spc="1085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Selected Theme 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8208B8C-4891-DDDE-5A7C-C3CBDEBEE223}"/>
              </a:ext>
            </a:extLst>
          </p:cNvPr>
          <p:cNvSpPr txBox="1"/>
          <p:nvPr/>
        </p:nvSpPr>
        <p:spPr>
          <a:xfrm>
            <a:off x="7299599" y="7159549"/>
            <a:ext cx="1100104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spc="1085" dirty="0">
                <a:latin typeface="Jingleberry"/>
                <a:ea typeface="Jingleberry"/>
                <a:cs typeface="Jingleberry"/>
                <a:sym typeface="Jingleberry"/>
              </a:rPr>
              <a:t>Participants’ name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FAB141C4-1788-5D80-CA18-AFFA1BE44FC0}"/>
              </a:ext>
            </a:extLst>
          </p:cNvPr>
          <p:cNvSpPr txBox="1"/>
          <p:nvPr/>
        </p:nvSpPr>
        <p:spPr>
          <a:xfrm>
            <a:off x="7294654" y="8186091"/>
            <a:ext cx="1101239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spc="1085" dirty="0">
                <a:latin typeface="Jingleberry"/>
                <a:ea typeface="Jingleberry"/>
                <a:cs typeface="Jingleberry"/>
                <a:sym typeface="Jingleberry"/>
              </a:rPr>
              <a:t>Institute’s name</a:t>
            </a:r>
          </a:p>
        </p:txBody>
      </p:sp>
      <p:pic>
        <p:nvPicPr>
          <p:cNvPr id="7" name="Picture 6" descr="Generated image 1">
            <a:extLst>
              <a:ext uri="{FF2B5EF4-FFF2-40B4-BE49-F238E27FC236}">
                <a16:creationId xmlns:a16="http://schemas.microsoft.com/office/drawing/2014/main" id="{AEA92AA3-D8F6-2D17-6B9D-7E49A798B5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853"/>
          <a:stretch>
            <a:fillRect/>
          </a:stretch>
        </p:blipFill>
        <p:spPr>
          <a:xfrm>
            <a:off x="46852" y="17834"/>
            <a:ext cx="8002937" cy="102513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2206C6-4908-CAAF-17C9-172CF524BB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9409"/>
          <a:stretch>
            <a:fillRect/>
          </a:stretch>
        </p:blipFill>
        <p:spPr>
          <a:xfrm>
            <a:off x="8255379" y="17834"/>
            <a:ext cx="9762706" cy="10894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0" t="-40382" b="-3888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52400" y="1332182"/>
            <a:ext cx="17907000" cy="8652257"/>
          </a:xfrm>
          <a:custGeom>
            <a:avLst/>
            <a:gdLst/>
            <a:ahLst/>
            <a:cxnLst/>
            <a:rect l="l" t="t" r="r" b="b"/>
            <a:pathLst>
              <a:path w="8621486" h="8229600">
                <a:moveTo>
                  <a:pt x="0" y="0"/>
                </a:moveTo>
                <a:lnTo>
                  <a:pt x="8621486" y="0"/>
                </a:lnTo>
                <a:lnTo>
                  <a:pt x="862148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2895600" y="2552700"/>
            <a:ext cx="148590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4000" b="1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Summary</a:t>
            </a:r>
          </a:p>
          <a:p>
            <a:pPr algn="l">
              <a:lnSpc>
                <a:spcPts val="3557"/>
              </a:lnSpc>
            </a:pPr>
            <a:endParaRPr lang="en-US" sz="4000" b="1" dirty="0">
              <a:solidFill>
                <a:srgbClr val="484744"/>
              </a:solidFill>
              <a:latin typeface="One Little Font"/>
              <a:ea typeface="One Little Font"/>
              <a:cs typeface="One Little Font"/>
              <a:sym typeface="One Little Font"/>
            </a:endParaRPr>
          </a:p>
          <a:p>
            <a:pPr algn="l">
              <a:lnSpc>
                <a:spcPts val="3557"/>
              </a:lnSpc>
            </a:pPr>
            <a:r>
              <a:rPr lang="en-US" sz="2989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Briefly describe the problem studied, study area, disaster type/disaster event chosen, data used, and main result in 4–5 lines.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609600" y="325421"/>
            <a:ext cx="7174351" cy="68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5"/>
              </a:lnSpc>
            </a:pPr>
            <a:r>
              <a:rPr lang="en-US" sz="5165" b="1" spc="506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Project Overview</a:t>
            </a:r>
          </a:p>
        </p:txBody>
      </p:sp>
      <p:sp>
        <p:nvSpPr>
          <p:cNvPr id="6" name="Freeform 6"/>
          <p:cNvSpPr/>
          <p:nvPr/>
        </p:nvSpPr>
        <p:spPr>
          <a:xfrm>
            <a:off x="15786799" y="6961943"/>
            <a:ext cx="4088001" cy="4073135"/>
          </a:xfrm>
          <a:custGeom>
            <a:avLst/>
            <a:gdLst/>
            <a:ahLst/>
            <a:cxnLst/>
            <a:rect l="l" t="t" r="r" b="b"/>
            <a:pathLst>
              <a:path w="4088001" h="4073135">
                <a:moveTo>
                  <a:pt x="0" y="0"/>
                </a:moveTo>
                <a:lnTo>
                  <a:pt x="4088001" y="0"/>
                </a:lnTo>
                <a:lnTo>
                  <a:pt x="4088001" y="4073136"/>
                </a:lnTo>
                <a:lnTo>
                  <a:pt x="0" y="4073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8012D7E7-C887-5841-8246-BEC5C27DF237}"/>
              </a:ext>
            </a:extLst>
          </p:cNvPr>
          <p:cNvSpPr txBox="1"/>
          <p:nvPr/>
        </p:nvSpPr>
        <p:spPr>
          <a:xfrm>
            <a:off x="2895600" y="6438900"/>
            <a:ext cx="14859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4000" b="1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Innovation statement (50 words max)</a:t>
            </a:r>
          </a:p>
          <a:p>
            <a:pPr algn="l">
              <a:lnSpc>
                <a:spcPts val="3557"/>
              </a:lnSpc>
            </a:pPr>
            <a:r>
              <a:rPr lang="en-US" sz="2989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State what is new or different in your project/approach compared to existing studies/research.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18" t="-49976" r="-2555" b="-3842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>
            <a:spLocks noChangeAspect="1"/>
          </p:cNvSpPr>
          <p:nvPr/>
        </p:nvSpPr>
        <p:spPr>
          <a:xfrm>
            <a:off x="-2971885" y="5738630"/>
            <a:ext cx="7093367" cy="11916000"/>
          </a:xfrm>
          <a:custGeom>
            <a:avLst/>
            <a:gdLst/>
            <a:ahLst/>
            <a:cxnLst/>
            <a:rect l="l" t="t" r="r" b="b"/>
            <a:pathLst>
              <a:path w="6192385" h="10402451">
                <a:moveTo>
                  <a:pt x="0" y="0"/>
                </a:moveTo>
                <a:lnTo>
                  <a:pt x="6192385" y="0"/>
                </a:lnTo>
                <a:lnTo>
                  <a:pt x="6192385" y="10402451"/>
                </a:lnTo>
                <a:lnTo>
                  <a:pt x="0" y="1040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0" y="67093"/>
            <a:ext cx="10896600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19"/>
              </a:lnSpc>
            </a:pPr>
            <a:r>
              <a:rPr lang="en-US" sz="8799" spc="879" dirty="0">
                <a:solidFill>
                  <a:srgbClr val="6D4F6D"/>
                </a:solidFill>
                <a:latin typeface="Jingleberry"/>
                <a:ea typeface="Jingleberry"/>
                <a:cs typeface="Jingleberry"/>
                <a:sym typeface="Jingleberry"/>
              </a:rPr>
              <a:t>BASIC Information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045820-F1E5-9E44-7986-E791DCD6893A}"/>
              </a:ext>
            </a:extLst>
          </p:cNvPr>
          <p:cNvGrpSpPr/>
          <p:nvPr/>
        </p:nvGrpSpPr>
        <p:grpSpPr>
          <a:xfrm>
            <a:off x="4106242" y="1733134"/>
            <a:ext cx="4172285" cy="3982636"/>
            <a:chOff x="13118200" y="5285189"/>
            <a:chExt cx="4172285" cy="3982636"/>
          </a:xfrm>
        </p:grpSpPr>
        <p:sp>
          <p:nvSpPr>
            <p:cNvPr id="6" name="Freeform 6"/>
            <p:cNvSpPr/>
            <p:nvPr/>
          </p:nvSpPr>
          <p:spPr>
            <a:xfrm>
              <a:off x="13118200" y="5285189"/>
              <a:ext cx="4172285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445094" y="5660712"/>
              <a:ext cx="3597621" cy="36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2685" dirty="0">
                  <a:solidFill>
                    <a:srgbClr val="605F5B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Study Area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31970" y="6159853"/>
              <a:ext cx="3179419" cy="1474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0"/>
                </a:lnSpc>
              </a:pPr>
              <a:r>
                <a:rPr lang="en-US" sz="1899" dirty="0">
                  <a:solidFill>
                    <a:srgbClr val="484744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Mention the geographic location studied (state/district/basin/</a:t>
              </a:r>
              <a:r>
                <a:rPr lang="en-US" sz="1899" dirty="0" err="1">
                  <a:solidFill>
                    <a:srgbClr val="484744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etc</a:t>
              </a:r>
              <a:r>
                <a:rPr lang="en-US" sz="1899" dirty="0">
                  <a:solidFill>
                    <a:srgbClr val="484744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) and why it is relevant to the selected disaster.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94EE854-14FC-113A-A219-E8C1B1F5DF7B}"/>
              </a:ext>
            </a:extLst>
          </p:cNvPr>
          <p:cNvGrpSpPr/>
          <p:nvPr/>
        </p:nvGrpSpPr>
        <p:grpSpPr>
          <a:xfrm>
            <a:off x="8452298" y="1733134"/>
            <a:ext cx="4172285" cy="3982636"/>
            <a:chOff x="13118200" y="5285189"/>
            <a:chExt cx="4172285" cy="3982636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5B2886D8-7B68-6B55-B17F-8E10FA3D1B59}"/>
                </a:ext>
              </a:extLst>
            </p:cNvPr>
            <p:cNvSpPr/>
            <p:nvPr/>
          </p:nvSpPr>
          <p:spPr>
            <a:xfrm>
              <a:off x="13118200" y="5285189"/>
              <a:ext cx="4172285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9F9E0056-6A06-0A89-5F2E-5668F782A56B}"/>
                </a:ext>
              </a:extLst>
            </p:cNvPr>
            <p:cNvSpPr txBox="1"/>
            <p:nvPr/>
          </p:nvSpPr>
          <p:spPr>
            <a:xfrm>
              <a:off x="13445094" y="5660712"/>
              <a:ext cx="3597621" cy="36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2685" dirty="0">
                  <a:solidFill>
                    <a:srgbClr val="605F5B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Data</a:t>
              </a:r>
            </a:p>
          </p:txBody>
        </p:sp>
        <p:sp>
          <p:nvSpPr>
            <p:cNvPr id="23" name="TextBox 16">
              <a:extLst>
                <a:ext uri="{FF2B5EF4-FFF2-40B4-BE49-F238E27FC236}">
                  <a16:creationId xmlns:a16="http://schemas.microsoft.com/office/drawing/2014/main" id="{17F240BE-617D-4250-B88B-83A05FCE1AA6}"/>
                </a:ext>
              </a:extLst>
            </p:cNvPr>
            <p:cNvSpPr txBox="1"/>
            <p:nvPr/>
          </p:nvSpPr>
          <p:spPr>
            <a:xfrm>
              <a:off x="13831970" y="6159853"/>
              <a:ext cx="3179419" cy="589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0"/>
                </a:lnSpc>
              </a:pPr>
              <a:r>
                <a:rPr lang="en-US" sz="1899" dirty="0">
                  <a:solidFill>
                    <a:srgbClr val="484744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List the main datasets used along with their source.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C6B737-CDB2-DA94-8EC2-B401491F4CB6}"/>
              </a:ext>
            </a:extLst>
          </p:cNvPr>
          <p:cNvGrpSpPr/>
          <p:nvPr/>
        </p:nvGrpSpPr>
        <p:grpSpPr>
          <a:xfrm>
            <a:off x="12801600" y="1733134"/>
            <a:ext cx="4172285" cy="3982636"/>
            <a:chOff x="13118200" y="5285189"/>
            <a:chExt cx="4172285" cy="3982636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075E93B-A5BF-5EB2-28D9-F30AD0DA795E}"/>
                </a:ext>
              </a:extLst>
            </p:cNvPr>
            <p:cNvSpPr/>
            <p:nvPr/>
          </p:nvSpPr>
          <p:spPr>
            <a:xfrm>
              <a:off x="13118200" y="5285189"/>
              <a:ext cx="4172285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Box 12">
              <a:extLst>
                <a:ext uri="{FF2B5EF4-FFF2-40B4-BE49-F238E27FC236}">
                  <a16:creationId xmlns:a16="http://schemas.microsoft.com/office/drawing/2014/main" id="{B9A156E2-38CD-04C6-F5AE-1B54BC3374CF}"/>
                </a:ext>
              </a:extLst>
            </p:cNvPr>
            <p:cNvSpPr txBox="1"/>
            <p:nvPr/>
          </p:nvSpPr>
          <p:spPr>
            <a:xfrm>
              <a:off x="13445094" y="5660712"/>
              <a:ext cx="3597621" cy="36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2685" dirty="0">
                  <a:solidFill>
                    <a:srgbClr val="605F5B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Method</a:t>
              </a:r>
            </a:p>
          </p:txBody>
        </p:sp>
        <p:sp>
          <p:nvSpPr>
            <p:cNvPr id="27" name="TextBox 16">
              <a:extLst>
                <a:ext uri="{FF2B5EF4-FFF2-40B4-BE49-F238E27FC236}">
                  <a16:creationId xmlns:a16="http://schemas.microsoft.com/office/drawing/2014/main" id="{8D707467-6730-ABFC-A95B-477EB1A3A2F4}"/>
                </a:ext>
              </a:extLst>
            </p:cNvPr>
            <p:cNvSpPr txBox="1"/>
            <p:nvPr/>
          </p:nvSpPr>
          <p:spPr>
            <a:xfrm>
              <a:off x="13831970" y="6159853"/>
              <a:ext cx="3179419" cy="117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0"/>
                </a:lnSpc>
              </a:pPr>
              <a:r>
                <a:rPr lang="en-US" sz="1899" dirty="0">
                  <a:solidFill>
                    <a:srgbClr val="484744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Briefly describe the steps or approach used to analyze the data (e.g., time-series analysis, mapping, comparison).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6782D05-7766-AD62-D148-D0C1F6BC7293}"/>
              </a:ext>
            </a:extLst>
          </p:cNvPr>
          <p:cNvGrpSpPr/>
          <p:nvPr/>
        </p:nvGrpSpPr>
        <p:grpSpPr>
          <a:xfrm>
            <a:off x="4106241" y="6003217"/>
            <a:ext cx="4172285" cy="3982636"/>
            <a:chOff x="13118200" y="5285189"/>
            <a:chExt cx="4172285" cy="3982636"/>
          </a:xfrm>
        </p:grpSpPr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8BA71829-3114-A612-2003-9E0D39EC6B16}"/>
                </a:ext>
              </a:extLst>
            </p:cNvPr>
            <p:cNvSpPr/>
            <p:nvPr/>
          </p:nvSpPr>
          <p:spPr>
            <a:xfrm>
              <a:off x="13118200" y="5285189"/>
              <a:ext cx="4172285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TextBox 12">
              <a:extLst>
                <a:ext uri="{FF2B5EF4-FFF2-40B4-BE49-F238E27FC236}">
                  <a16:creationId xmlns:a16="http://schemas.microsoft.com/office/drawing/2014/main" id="{55980385-2D45-9558-FD23-5414E25CD986}"/>
                </a:ext>
              </a:extLst>
            </p:cNvPr>
            <p:cNvSpPr txBox="1"/>
            <p:nvPr/>
          </p:nvSpPr>
          <p:spPr>
            <a:xfrm>
              <a:off x="13445094" y="5660712"/>
              <a:ext cx="3597621" cy="36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2685" dirty="0">
                  <a:solidFill>
                    <a:srgbClr val="605F5B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Output</a:t>
              </a:r>
            </a:p>
          </p:txBody>
        </p:sp>
        <p:sp>
          <p:nvSpPr>
            <p:cNvPr id="31" name="TextBox 16">
              <a:extLst>
                <a:ext uri="{FF2B5EF4-FFF2-40B4-BE49-F238E27FC236}">
                  <a16:creationId xmlns:a16="http://schemas.microsoft.com/office/drawing/2014/main" id="{42FBA1C0-6445-470F-B0BA-4F23A8FBCD49}"/>
                </a:ext>
              </a:extLst>
            </p:cNvPr>
            <p:cNvSpPr txBox="1"/>
            <p:nvPr/>
          </p:nvSpPr>
          <p:spPr>
            <a:xfrm>
              <a:off x="13831970" y="6159853"/>
              <a:ext cx="3179419" cy="884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0"/>
                </a:lnSpc>
              </a:pPr>
              <a:r>
                <a:rPr lang="en-US" sz="1899" dirty="0">
                  <a:solidFill>
                    <a:srgbClr val="484744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Specify what final products were generated, such as maps, graphs, indices, or risk zones.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56D40A4-8FD9-C02B-BA32-DE5B620A0E2D}"/>
              </a:ext>
            </a:extLst>
          </p:cNvPr>
          <p:cNvGrpSpPr/>
          <p:nvPr/>
        </p:nvGrpSpPr>
        <p:grpSpPr>
          <a:xfrm>
            <a:off x="8436736" y="6003217"/>
            <a:ext cx="4172285" cy="3982636"/>
            <a:chOff x="13118200" y="5285189"/>
            <a:chExt cx="4172285" cy="3982636"/>
          </a:xfrm>
        </p:grpSpPr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AFDE0B61-4977-A16D-6EE4-1734E43FDF42}"/>
                </a:ext>
              </a:extLst>
            </p:cNvPr>
            <p:cNvSpPr/>
            <p:nvPr/>
          </p:nvSpPr>
          <p:spPr>
            <a:xfrm>
              <a:off x="13118200" y="5285189"/>
              <a:ext cx="4172285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C995CD11-8A65-ABC2-BE8D-2E90F55B96B1}"/>
                </a:ext>
              </a:extLst>
            </p:cNvPr>
            <p:cNvSpPr txBox="1"/>
            <p:nvPr/>
          </p:nvSpPr>
          <p:spPr>
            <a:xfrm>
              <a:off x="13445094" y="5660712"/>
              <a:ext cx="3597621" cy="36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2685" dirty="0">
                  <a:solidFill>
                    <a:srgbClr val="605F5B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Impact</a:t>
              </a:r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9856D841-16BA-A149-B77F-6F052BACBCE2}"/>
                </a:ext>
              </a:extLst>
            </p:cNvPr>
            <p:cNvSpPr txBox="1"/>
            <p:nvPr/>
          </p:nvSpPr>
          <p:spPr>
            <a:xfrm>
              <a:off x="13831970" y="6159853"/>
              <a:ext cx="3179419" cy="117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0"/>
                </a:lnSpc>
              </a:pPr>
              <a:r>
                <a:rPr lang="en-IN" sz="1899" dirty="0">
                  <a:solidFill>
                    <a:srgbClr val="484744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Explain which people (farmers, policy makers, citizens) can be benefited from your outputs/results.</a:t>
              </a:r>
              <a:endParaRPr lang="en-US" sz="1899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222B042-77BD-3376-B6CD-9525299A5BFE}"/>
              </a:ext>
            </a:extLst>
          </p:cNvPr>
          <p:cNvGrpSpPr/>
          <p:nvPr/>
        </p:nvGrpSpPr>
        <p:grpSpPr>
          <a:xfrm>
            <a:off x="12801600" y="6010067"/>
            <a:ext cx="4172285" cy="3982636"/>
            <a:chOff x="13118200" y="5285189"/>
            <a:chExt cx="4172285" cy="3982636"/>
          </a:xfrm>
        </p:grpSpPr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483E51B-117D-2174-35B6-8A5086AE5E92}"/>
                </a:ext>
              </a:extLst>
            </p:cNvPr>
            <p:cNvSpPr/>
            <p:nvPr/>
          </p:nvSpPr>
          <p:spPr>
            <a:xfrm>
              <a:off x="13118200" y="5285189"/>
              <a:ext cx="4172285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TextBox 12">
              <a:extLst>
                <a:ext uri="{FF2B5EF4-FFF2-40B4-BE49-F238E27FC236}">
                  <a16:creationId xmlns:a16="http://schemas.microsoft.com/office/drawing/2014/main" id="{6E7D8B5A-7824-69A8-7DFE-8C7136E27251}"/>
                </a:ext>
              </a:extLst>
            </p:cNvPr>
            <p:cNvSpPr txBox="1"/>
            <p:nvPr/>
          </p:nvSpPr>
          <p:spPr>
            <a:xfrm>
              <a:off x="13445094" y="5660712"/>
              <a:ext cx="3597621" cy="36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2685" dirty="0">
                  <a:solidFill>
                    <a:srgbClr val="605F5B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SDG Connection</a:t>
              </a:r>
            </a:p>
          </p:txBody>
        </p:sp>
        <p:sp>
          <p:nvSpPr>
            <p:cNvPr id="39" name="TextBox 16">
              <a:extLst>
                <a:ext uri="{FF2B5EF4-FFF2-40B4-BE49-F238E27FC236}">
                  <a16:creationId xmlns:a16="http://schemas.microsoft.com/office/drawing/2014/main" id="{19F5D3B2-2115-6A45-972C-424A8D32B1A1}"/>
                </a:ext>
              </a:extLst>
            </p:cNvPr>
            <p:cNvSpPr txBox="1"/>
            <p:nvPr/>
          </p:nvSpPr>
          <p:spPr>
            <a:xfrm>
              <a:off x="13831970" y="6159853"/>
              <a:ext cx="3179419" cy="117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0"/>
                </a:lnSpc>
              </a:pPr>
              <a:r>
                <a:rPr lang="en-US" sz="1899" dirty="0">
                  <a:solidFill>
                    <a:srgbClr val="484744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Mention which Sustainable Development Goal(s) your work supports and how it contributes to them.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18" t="-49976" r="-2555" b="-3842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0" y="67093"/>
            <a:ext cx="10896600" cy="1181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19"/>
              </a:lnSpc>
            </a:pPr>
            <a:r>
              <a:rPr lang="en-US" sz="6000" b="1" spc="879" dirty="0">
                <a:solidFill>
                  <a:srgbClr val="6D4F6D"/>
                </a:solidFill>
                <a:latin typeface="Jingleberry"/>
                <a:ea typeface="Jingleberry"/>
                <a:cs typeface="Jingleberry"/>
                <a:sym typeface="Jingleberry"/>
              </a:rPr>
              <a:t>	Method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C6B737-CDB2-DA94-8EC2-B401491F4CB6}"/>
              </a:ext>
            </a:extLst>
          </p:cNvPr>
          <p:cNvGrpSpPr>
            <a:grpSpLocks noChangeAspect="1"/>
          </p:cNvGrpSpPr>
          <p:nvPr/>
        </p:nvGrpSpPr>
        <p:grpSpPr>
          <a:xfrm>
            <a:off x="800001" y="1448638"/>
            <a:ext cx="16741241" cy="8638743"/>
            <a:chOff x="13118200" y="5285189"/>
            <a:chExt cx="7718052" cy="3982636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075E93B-A5BF-5EB2-28D9-F30AD0DA795E}"/>
                </a:ext>
              </a:extLst>
            </p:cNvPr>
            <p:cNvSpPr/>
            <p:nvPr/>
          </p:nvSpPr>
          <p:spPr>
            <a:xfrm>
              <a:off x="13118200" y="5285189"/>
              <a:ext cx="7718052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Box 16">
              <a:extLst>
                <a:ext uri="{FF2B5EF4-FFF2-40B4-BE49-F238E27FC236}">
                  <a16:creationId xmlns:a16="http://schemas.microsoft.com/office/drawing/2014/main" id="{8D707467-6730-ABFC-A95B-477EB1A3A2F4}"/>
                </a:ext>
              </a:extLst>
            </p:cNvPr>
            <p:cNvSpPr txBox="1"/>
            <p:nvPr/>
          </p:nvSpPr>
          <p:spPr>
            <a:xfrm>
              <a:off x="14148139" y="5961370"/>
              <a:ext cx="6688113" cy="1275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260"/>
                </a:lnSpc>
              </a:pPr>
              <a:r>
                <a:rPr lang="en-US" sz="1899" dirty="0">
                  <a:solidFill>
                    <a:schemeClr val="bg1">
                      <a:lumMod val="65000"/>
                    </a:schemeClr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Briefly describe the steps or approach used to analyze the data (e.g., time-series analysis, mapping, comparison).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76200" y="266700"/>
            <a:ext cx="18135600" cy="9905999"/>
            <a:chOff x="0" y="0"/>
            <a:chExt cx="17226556" cy="10675605"/>
          </a:xfrm>
        </p:grpSpPr>
        <p:grpSp>
          <p:nvGrpSpPr>
            <p:cNvPr id="4" name="Group 4"/>
            <p:cNvGrpSpPr/>
            <p:nvPr/>
          </p:nvGrpSpPr>
          <p:grpSpPr>
            <a:xfrm>
              <a:off x="194102" y="194102"/>
              <a:ext cx="17032455" cy="10481503"/>
              <a:chOff x="0" y="0"/>
              <a:chExt cx="3522136" cy="21674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7032455" cy="10481503"/>
              <a:chOff x="0" y="0"/>
              <a:chExt cx="3522136" cy="216746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-262207" y="264639"/>
            <a:ext cx="7844107" cy="1175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6000" b="1" spc="1009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Results</a:t>
            </a:r>
          </a:p>
        </p:txBody>
      </p:sp>
      <p:sp>
        <p:nvSpPr>
          <p:cNvPr id="13" name="Freeform 13"/>
          <p:cNvSpPr/>
          <p:nvPr/>
        </p:nvSpPr>
        <p:spPr>
          <a:xfrm>
            <a:off x="-952680" y="-278767"/>
            <a:ext cx="2828746" cy="3268508"/>
          </a:xfrm>
          <a:custGeom>
            <a:avLst/>
            <a:gdLst/>
            <a:ahLst/>
            <a:cxnLst/>
            <a:rect l="l" t="t" r="r" b="b"/>
            <a:pathLst>
              <a:path w="2828746" h="3268508">
                <a:moveTo>
                  <a:pt x="0" y="0"/>
                </a:moveTo>
                <a:lnTo>
                  <a:pt x="2828745" y="0"/>
                </a:lnTo>
                <a:lnTo>
                  <a:pt x="2828745" y="3268509"/>
                </a:lnTo>
                <a:lnTo>
                  <a:pt x="0" y="3268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DC0E875-6757-9FF5-E4E8-8009F5F19540}"/>
              </a:ext>
            </a:extLst>
          </p:cNvPr>
          <p:cNvGrpSpPr>
            <a:grpSpLocks noChangeAspect="1"/>
          </p:cNvGrpSpPr>
          <p:nvPr/>
        </p:nvGrpSpPr>
        <p:grpSpPr>
          <a:xfrm>
            <a:off x="1940137" y="1669369"/>
            <a:ext cx="15996201" cy="7131731"/>
            <a:chOff x="1876065" y="2677326"/>
            <a:chExt cx="15273615" cy="680957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E97077-8BD4-8956-5D82-8772A4CFD298}"/>
                </a:ext>
              </a:extLst>
            </p:cNvPr>
            <p:cNvSpPr/>
            <p:nvPr/>
          </p:nvSpPr>
          <p:spPr>
            <a:xfrm>
              <a:off x="1876065" y="2677327"/>
              <a:ext cx="7496535" cy="680957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1FCBE41-3672-CAF4-65AA-8FC9D00D4D12}"/>
                </a:ext>
              </a:extLst>
            </p:cNvPr>
            <p:cNvSpPr/>
            <p:nvPr/>
          </p:nvSpPr>
          <p:spPr>
            <a:xfrm>
              <a:off x="9653145" y="2677326"/>
              <a:ext cx="7496535" cy="680957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A5F4AEDC-2DCF-039E-2696-DEF9112D3A0E}"/>
                </a:ext>
              </a:extLst>
            </p:cNvPr>
            <p:cNvSpPr txBox="1"/>
            <p:nvPr/>
          </p:nvSpPr>
          <p:spPr>
            <a:xfrm>
              <a:off x="1917699" y="2844633"/>
              <a:ext cx="7454901" cy="409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3200" b="1" dirty="0">
                  <a:solidFill>
                    <a:srgbClr val="605F5B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Maps</a:t>
              </a:r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8D08B964-B592-B255-C4C5-871D9E348BCB}"/>
                </a:ext>
              </a:extLst>
            </p:cNvPr>
            <p:cNvSpPr txBox="1"/>
            <p:nvPr/>
          </p:nvSpPr>
          <p:spPr>
            <a:xfrm>
              <a:off x="9653145" y="2842386"/>
              <a:ext cx="7454901" cy="39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3200" b="1" dirty="0">
                  <a:solidFill>
                    <a:srgbClr val="605F5B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Charts &amp; Statistics</a:t>
              </a:r>
            </a:p>
          </p:txBody>
        </p:sp>
      </p:grpSp>
      <p:sp>
        <p:nvSpPr>
          <p:cNvPr id="20" name="Freeform 10">
            <a:extLst>
              <a:ext uri="{FF2B5EF4-FFF2-40B4-BE49-F238E27FC236}">
                <a16:creationId xmlns:a16="http://schemas.microsoft.com/office/drawing/2014/main" id="{82914EFA-D117-2898-2957-C11513BC250F}"/>
              </a:ext>
            </a:extLst>
          </p:cNvPr>
          <p:cNvSpPr/>
          <p:nvPr/>
        </p:nvSpPr>
        <p:spPr>
          <a:xfrm>
            <a:off x="348951" y="7297260"/>
            <a:ext cx="1386841" cy="2480155"/>
          </a:xfrm>
          <a:custGeom>
            <a:avLst/>
            <a:gdLst/>
            <a:ahLst/>
            <a:cxnLst/>
            <a:rect l="l" t="t" r="r" b="b"/>
            <a:pathLst>
              <a:path w="5332548" h="9191839">
                <a:moveTo>
                  <a:pt x="0" y="0"/>
                </a:moveTo>
                <a:lnTo>
                  <a:pt x="5332547" y="0"/>
                </a:lnTo>
                <a:lnTo>
                  <a:pt x="5332547" y="9191839"/>
                </a:lnTo>
                <a:lnTo>
                  <a:pt x="0" y="9191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ED37CE-B78D-2AA5-6C3C-840715DFB78B}"/>
              </a:ext>
            </a:extLst>
          </p:cNvPr>
          <p:cNvSpPr txBox="1"/>
          <p:nvPr/>
        </p:nvSpPr>
        <p:spPr>
          <a:xfrm>
            <a:off x="2016337" y="9189995"/>
            <a:ext cx="159911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/>
              <a:t>Highlight the main takeaway and its relevance to understanding or managing floods.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271662" y="-198673"/>
            <a:ext cx="2054437" cy="1734693"/>
          </a:xfrm>
          <a:custGeom>
            <a:avLst/>
            <a:gdLst/>
            <a:ahLst/>
            <a:cxnLst/>
            <a:rect l="l" t="t" r="r" b="b"/>
            <a:pathLst>
              <a:path w="2977000" h="2430315">
                <a:moveTo>
                  <a:pt x="0" y="0"/>
                </a:moveTo>
                <a:lnTo>
                  <a:pt x="2977000" y="0"/>
                </a:lnTo>
                <a:lnTo>
                  <a:pt x="2977000" y="2430315"/>
                </a:lnTo>
                <a:lnTo>
                  <a:pt x="0" y="2430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BC21-C85B-4688-17E7-30F262C59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1BFE6E-8158-BEF9-C69A-37A9978DA1E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A092C80-3F1A-1C8D-C1BD-A7D177F9CFE4}"/>
              </a:ext>
            </a:extLst>
          </p:cNvPr>
          <p:cNvGrpSpPr/>
          <p:nvPr/>
        </p:nvGrpSpPr>
        <p:grpSpPr>
          <a:xfrm>
            <a:off x="76200" y="266700"/>
            <a:ext cx="18135600" cy="9905999"/>
            <a:chOff x="0" y="0"/>
            <a:chExt cx="17226556" cy="10675605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E8674C1-6F0E-E4E8-DCAD-09E61BA398EF}"/>
                </a:ext>
              </a:extLst>
            </p:cNvPr>
            <p:cNvGrpSpPr/>
            <p:nvPr/>
          </p:nvGrpSpPr>
          <p:grpSpPr>
            <a:xfrm>
              <a:off x="194102" y="194102"/>
              <a:ext cx="17032455" cy="10481503"/>
              <a:chOff x="0" y="0"/>
              <a:chExt cx="3522136" cy="2167467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51FD236-8B7B-F584-180D-3A782623D076}"/>
                  </a:ext>
                </a:extLst>
              </p:cNvPr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F98525F-FFE5-6094-9BCF-71BE6217D1A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4916692-8E13-6D58-E7C9-727404BFB479}"/>
                </a:ext>
              </a:extLst>
            </p:cNvPr>
            <p:cNvGrpSpPr/>
            <p:nvPr/>
          </p:nvGrpSpPr>
          <p:grpSpPr>
            <a:xfrm>
              <a:off x="0" y="0"/>
              <a:ext cx="17032455" cy="10481503"/>
              <a:chOff x="0" y="0"/>
              <a:chExt cx="3522136" cy="2167467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0A5E6D5-6313-8FC9-4488-6E610148E96D}"/>
                  </a:ext>
                </a:extLst>
              </p:cNvPr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F8F00D5-31D8-78CE-E0C5-77D9D38DBE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094F0F9-4F51-A4BB-352F-8AA14E9EB3F1}"/>
              </a:ext>
            </a:extLst>
          </p:cNvPr>
          <p:cNvSpPr txBox="1"/>
          <p:nvPr/>
        </p:nvSpPr>
        <p:spPr>
          <a:xfrm>
            <a:off x="-262207" y="264639"/>
            <a:ext cx="7844107" cy="1175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6000" b="1" spc="1009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Results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3723123-22AC-8B43-1468-2395AF09A170}"/>
              </a:ext>
            </a:extLst>
          </p:cNvPr>
          <p:cNvSpPr/>
          <p:nvPr/>
        </p:nvSpPr>
        <p:spPr>
          <a:xfrm>
            <a:off x="-952680" y="-278767"/>
            <a:ext cx="2828746" cy="3268508"/>
          </a:xfrm>
          <a:custGeom>
            <a:avLst/>
            <a:gdLst/>
            <a:ahLst/>
            <a:cxnLst/>
            <a:rect l="l" t="t" r="r" b="b"/>
            <a:pathLst>
              <a:path w="2828746" h="3268508">
                <a:moveTo>
                  <a:pt x="0" y="0"/>
                </a:moveTo>
                <a:lnTo>
                  <a:pt x="2828745" y="0"/>
                </a:lnTo>
                <a:lnTo>
                  <a:pt x="2828745" y="3268509"/>
                </a:lnTo>
                <a:lnTo>
                  <a:pt x="0" y="3268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13B660-8346-123B-8C25-6EE2FC9F6150}"/>
              </a:ext>
            </a:extLst>
          </p:cNvPr>
          <p:cNvGrpSpPr>
            <a:grpSpLocks noChangeAspect="1"/>
          </p:cNvGrpSpPr>
          <p:nvPr/>
        </p:nvGrpSpPr>
        <p:grpSpPr>
          <a:xfrm>
            <a:off x="1940137" y="1669369"/>
            <a:ext cx="15996201" cy="7131731"/>
            <a:chOff x="1876065" y="2677326"/>
            <a:chExt cx="15273615" cy="680957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608886-9B78-9304-9FED-37CA75B30837}"/>
                </a:ext>
              </a:extLst>
            </p:cNvPr>
            <p:cNvSpPr/>
            <p:nvPr/>
          </p:nvSpPr>
          <p:spPr>
            <a:xfrm>
              <a:off x="1876065" y="2677327"/>
              <a:ext cx="7496535" cy="680957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AD7169-917E-B26F-367F-3F6D01A496A5}"/>
                </a:ext>
              </a:extLst>
            </p:cNvPr>
            <p:cNvSpPr/>
            <p:nvPr/>
          </p:nvSpPr>
          <p:spPr>
            <a:xfrm>
              <a:off x="9653145" y="2677326"/>
              <a:ext cx="7496535" cy="680957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07CF242D-F815-A3DE-737B-2B0C0B6711A9}"/>
                </a:ext>
              </a:extLst>
            </p:cNvPr>
            <p:cNvSpPr txBox="1"/>
            <p:nvPr/>
          </p:nvSpPr>
          <p:spPr>
            <a:xfrm>
              <a:off x="1917699" y="2844633"/>
              <a:ext cx="7454901" cy="409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3200" b="1" dirty="0">
                  <a:solidFill>
                    <a:srgbClr val="605F5B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Maps</a:t>
              </a:r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2BE2A30A-7CCA-2A99-F69D-76378E309C8E}"/>
                </a:ext>
              </a:extLst>
            </p:cNvPr>
            <p:cNvSpPr txBox="1"/>
            <p:nvPr/>
          </p:nvSpPr>
          <p:spPr>
            <a:xfrm>
              <a:off x="9653145" y="2842386"/>
              <a:ext cx="7454901" cy="39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3200" b="1" dirty="0">
                  <a:solidFill>
                    <a:srgbClr val="605F5B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Charts &amp; Statistics</a:t>
              </a:r>
            </a:p>
          </p:txBody>
        </p:sp>
      </p:grpSp>
      <p:sp>
        <p:nvSpPr>
          <p:cNvPr id="20" name="Freeform 10">
            <a:extLst>
              <a:ext uri="{FF2B5EF4-FFF2-40B4-BE49-F238E27FC236}">
                <a16:creationId xmlns:a16="http://schemas.microsoft.com/office/drawing/2014/main" id="{CC919CDC-2DC7-D46A-9E91-A814CBF7BB6D}"/>
              </a:ext>
            </a:extLst>
          </p:cNvPr>
          <p:cNvSpPr/>
          <p:nvPr/>
        </p:nvSpPr>
        <p:spPr>
          <a:xfrm>
            <a:off x="348951" y="7297260"/>
            <a:ext cx="1386841" cy="2480155"/>
          </a:xfrm>
          <a:custGeom>
            <a:avLst/>
            <a:gdLst/>
            <a:ahLst/>
            <a:cxnLst/>
            <a:rect l="l" t="t" r="r" b="b"/>
            <a:pathLst>
              <a:path w="5332548" h="9191839">
                <a:moveTo>
                  <a:pt x="0" y="0"/>
                </a:moveTo>
                <a:lnTo>
                  <a:pt x="5332547" y="0"/>
                </a:lnTo>
                <a:lnTo>
                  <a:pt x="5332547" y="9191839"/>
                </a:lnTo>
                <a:lnTo>
                  <a:pt x="0" y="9191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747FF5-DDEF-1802-2ECC-28DE85461E11}"/>
              </a:ext>
            </a:extLst>
          </p:cNvPr>
          <p:cNvSpPr txBox="1"/>
          <p:nvPr/>
        </p:nvSpPr>
        <p:spPr>
          <a:xfrm>
            <a:off x="2016337" y="9189995"/>
            <a:ext cx="159911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/>
              <a:t>Highlight the main takeaway and its relevance to understanding or managing floods.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367CA35-74C0-7D91-D41C-5F7A951D66CD}"/>
              </a:ext>
            </a:extLst>
          </p:cNvPr>
          <p:cNvSpPr/>
          <p:nvPr/>
        </p:nvSpPr>
        <p:spPr>
          <a:xfrm>
            <a:off x="16271662" y="-198673"/>
            <a:ext cx="2054437" cy="1734693"/>
          </a:xfrm>
          <a:custGeom>
            <a:avLst/>
            <a:gdLst/>
            <a:ahLst/>
            <a:cxnLst/>
            <a:rect l="l" t="t" r="r" b="b"/>
            <a:pathLst>
              <a:path w="2977000" h="2430315">
                <a:moveTo>
                  <a:pt x="0" y="0"/>
                </a:moveTo>
                <a:lnTo>
                  <a:pt x="2977000" y="0"/>
                </a:lnTo>
                <a:lnTo>
                  <a:pt x="2977000" y="2430315"/>
                </a:lnTo>
                <a:lnTo>
                  <a:pt x="0" y="2430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270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CE7AE-1741-C079-7873-BE6FEA929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69556B-6B8C-03BD-89A0-AFA38FFEBA6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523615D-4C82-B285-19B3-0B3DCBC82264}"/>
              </a:ext>
            </a:extLst>
          </p:cNvPr>
          <p:cNvGrpSpPr/>
          <p:nvPr/>
        </p:nvGrpSpPr>
        <p:grpSpPr>
          <a:xfrm>
            <a:off x="76200" y="266700"/>
            <a:ext cx="18135600" cy="9905999"/>
            <a:chOff x="0" y="0"/>
            <a:chExt cx="17226556" cy="10675605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44F60CB-2035-2388-F012-03FB26C11C8A}"/>
                </a:ext>
              </a:extLst>
            </p:cNvPr>
            <p:cNvGrpSpPr/>
            <p:nvPr/>
          </p:nvGrpSpPr>
          <p:grpSpPr>
            <a:xfrm>
              <a:off x="194102" y="194102"/>
              <a:ext cx="17032455" cy="10481503"/>
              <a:chOff x="0" y="0"/>
              <a:chExt cx="3522136" cy="2167467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03D35ED-785D-647E-18A5-620D484840DA}"/>
                  </a:ext>
                </a:extLst>
              </p:cNvPr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DE6876C8-420E-5F9F-B549-9DDE4BAF43F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77565627-03BF-9D78-0550-3B9688F2B873}"/>
                </a:ext>
              </a:extLst>
            </p:cNvPr>
            <p:cNvGrpSpPr/>
            <p:nvPr/>
          </p:nvGrpSpPr>
          <p:grpSpPr>
            <a:xfrm>
              <a:off x="0" y="0"/>
              <a:ext cx="17032455" cy="10481503"/>
              <a:chOff x="0" y="0"/>
              <a:chExt cx="3522136" cy="2167467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8093410-520D-32B1-0B2E-D2E318B07D43}"/>
                  </a:ext>
                </a:extLst>
              </p:cNvPr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1876285-543D-67CF-7B95-BEF2C5C551B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A96ABD87-A93B-E901-18F3-D1A2B2EEF52B}"/>
              </a:ext>
            </a:extLst>
          </p:cNvPr>
          <p:cNvSpPr txBox="1"/>
          <p:nvPr/>
        </p:nvSpPr>
        <p:spPr>
          <a:xfrm>
            <a:off x="-262207" y="264639"/>
            <a:ext cx="7844107" cy="1175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6000" b="1" spc="1009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Results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69B37EC-D047-4E45-D87D-26E2A21B4DA5}"/>
              </a:ext>
            </a:extLst>
          </p:cNvPr>
          <p:cNvSpPr/>
          <p:nvPr/>
        </p:nvSpPr>
        <p:spPr>
          <a:xfrm>
            <a:off x="-952680" y="-278767"/>
            <a:ext cx="2828746" cy="3268508"/>
          </a:xfrm>
          <a:custGeom>
            <a:avLst/>
            <a:gdLst/>
            <a:ahLst/>
            <a:cxnLst/>
            <a:rect l="l" t="t" r="r" b="b"/>
            <a:pathLst>
              <a:path w="2828746" h="3268508">
                <a:moveTo>
                  <a:pt x="0" y="0"/>
                </a:moveTo>
                <a:lnTo>
                  <a:pt x="2828745" y="0"/>
                </a:lnTo>
                <a:lnTo>
                  <a:pt x="2828745" y="3268509"/>
                </a:lnTo>
                <a:lnTo>
                  <a:pt x="0" y="3268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336AE24-330A-276F-464F-27D6171CBB8E}"/>
              </a:ext>
            </a:extLst>
          </p:cNvPr>
          <p:cNvGrpSpPr>
            <a:grpSpLocks noChangeAspect="1"/>
          </p:cNvGrpSpPr>
          <p:nvPr/>
        </p:nvGrpSpPr>
        <p:grpSpPr>
          <a:xfrm>
            <a:off x="1940137" y="1669369"/>
            <a:ext cx="15996201" cy="7131731"/>
            <a:chOff x="1876065" y="2677326"/>
            <a:chExt cx="15273615" cy="680957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6DA176-8296-3B45-5596-19007780F8BC}"/>
                </a:ext>
              </a:extLst>
            </p:cNvPr>
            <p:cNvSpPr/>
            <p:nvPr/>
          </p:nvSpPr>
          <p:spPr>
            <a:xfrm>
              <a:off x="1876065" y="2677327"/>
              <a:ext cx="7496535" cy="680957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58B3921-30F5-44C5-380A-F6492C4D489E}"/>
                </a:ext>
              </a:extLst>
            </p:cNvPr>
            <p:cNvSpPr/>
            <p:nvPr/>
          </p:nvSpPr>
          <p:spPr>
            <a:xfrm>
              <a:off x="9653145" y="2677326"/>
              <a:ext cx="7496535" cy="680957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896ECE52-511C-2955-F7EF-7F0B836571B2}"/>
                </a:ext>
              </a:extLst>
            </p:cNvPr>
            <p:cNvSpPr txBox="1"/>
            <p:nvPr/>
          </p:nvSpPr>
          <p:spPr>
            <a:xfrm>
              <a:off x="1917699" y="2844633"/>
              <a:ext cx="7454901" cy="409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3200" b="1" dirty="0">
                  <a:solidFill>
                    <a:srgbClr val="605F5B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Maps</a:t>
              </a:r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28DEA471-C836-D75C-2132-62A98909258B}"/>
                </a:ext>
              </a:extLst>
            </p:cNvPr>
            <p:cNvSpPr txBox="1"/>
            <p:nvPr/>
          </p:nvSpPr>
          <p:spPr>
            <a:xfrm>
              <a:off x="9653145" y="2842386"/>
              <a:ext cx="7454901" cy="39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3200" b="1" dirty="0">
                  <a:solidFill>
                    <a:srgbClr val="605F5B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Charts &amp; Statistics</a:t>
              </a:r>
            </a:p>
          </p:txBody>
        </p:sp>
      </p:grpSp>
      <p:sp>
        <p:nvSpPr>
          <p:cNvPr id="20" name="Freeform 10">
            <a:extLst>
              <a:ext uri="{FF2B5EF4-FFF2-40B4-BE49-F238E27FC236}">
                <a16:creationId xmlns:a16="http://schemas.microsoft.com/office/drawing/2014/main" id="{4EBB9B01-8094-1F26-7B82-D4716AA0F15C}"/>
              </a:ext>
            </a:extLst>
          </p:cNvPr>
          <p:cNvSpPr/>
          <p:nvPr/>
        </p:nvSpPr>
        <p:spPr>
          <a:xfrm>
            <a:off x="348951" y="7297260"/>
            <a:ext cx="1386841" cy="2480155"/>
          </a:xfrm>
          <a:custGeom>
            <a:avLst/>
            <a:gdLst/>
            <a:ahLst/>
            <a:cxnLst/>
            <a:rect l="l" t="t" r="r" b="b"/>
            <a:pathLst>
              <a:path w="5332548" h="9191839">
                <a:moveTo>
                  <a:pt x="0" y="0"/>
                </a:moveTo>
                <a:lnTo>
                  <a:pt x="5332547" y="0"/>
                </a:lnTo>
                <a:lnTo>
                  <a:pt x="5332547" y="9191839"/>
                </a:lnTo>
                <a:lnTo>
                  <a:pt x="0" y="9191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410124-64F0-C300-F949-092BD3514F05}"/>
              </a:ext>
            </a:extLst>
          </p:cNvPr>
          <p:cNvSpPr txBox="1"/>
          <p:nvPr/>
        </p:nvSpPr>
        <p:spPr>
          <a:xfrm>
            <a:off x="2016337" y="9189995"/>
            <a:ext cx="159911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/>
              <a:t>Highlight the main takeaway and its relevance to understanding or managing floods.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D669170-4E22-3CCA-8897-C2404391AD03}"/>
              </a:ext>
            </a:extLst>
          </p:cNvPr>
          <p:cNvSpPr/>
          <p:nvPr/>
        </p:nvSpPr>
        <p:spPr>
          <a:xfrm>
            <a:off x="16271662" y="-198673"/>
            <a:ext cx="2054437" cy="1734693"/>
          </a:xfrm>
          <a:custGeom>
            <a:avLst/>
            <a:gdLst/>
            <a:ahLst/>
            <a:cxnLst/>
            <a:rect l="l" t="t" r="r" b="b"/>
            <a:pathLst>
              <a:path w="2977000" h="2430315">
                <a:moveTo>
                  <a:pt x="0" y="0"/>
                </a:moveTo>
                <a:lnTo>
                  <a:pt x="2977000" y="0"/>
                </a:lnTo>
                <a:lnTo>
                  <a:pt x="2977000" y="2430315"/>
                </a:lnTo>
                <a:lnTo>
                  <a:pt x="0" y="2430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274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557439" y="4195544"/>
            <a:ext cx="4613928" cy="5217601"/>
            <a:chOff x="0" y="0"/>
            <a:chExt cx="6151904" cy="6956802"/>
          </a:xfrm>
        </p:grpSpPr>
        <p:grpSp>
          <p:nvGrpSpPr>
            <p:cNvPr id="4" name="Group 4"/>
            <p:cNvGrpSpPr/>
            <p:nvPr/>
          </p:nvGrpSpPr>
          <p:grpSpPr>
            <a:xfrm>
              <a:off x="203295" y="203295"/>
              <a:ext cx="5948609" cy="6753507"/>
              <a:chOff x="0" y="0"/>
              <a:chExt cx="1174483" cy="133340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174483" cy="1333401"/>
              </a:xfrm>
              <a:custGeom>
                <a:avLst/>
                <a:gdLst/>
                <a:ahLst/>
                <a:cxnLst/>
                <a:rect l="l" t="t" r="r" b="b"/>
                <a:pathLst>
                  <a:path w="1174483" h="1333401">
                    <a:moveTo>
                      <a:pt x="88541" y="0"/>
                    </a:moveTo>
                    <a:lnTo>
                      <a:pt x="1085942" y="0"/>
                    </a:lnTo>
                    <a:cubicBezTo>
                      <a:pt x="1109425" y="0"/>
                      <a:pt x="1131945" y="9328"/>
                      <a:pt x="1148550" y="25933"/>
                    </a:cubicBezTo>
                    <a:cubicBezTo>
                      <a:pt x="1165155" y="42538"/>
                      <a:pt x="1174483" y="65059"/>
                      <a:pt x="1174483" y="88541"/>
                    </a:cubicBezTo>
                    <a:lnTo>
                      <a:pt x="1174483" y="1244860"/>
                    </a:lnTo>
                    <a:cubicBezTo>
                      <a:pt x="1174483" y="1268342"/>
                      <a:pt x="1165155" y="1290863"/>
                      <a:pt x="1148550" y="1307468"/>
                    </a:cubicBezTo>
                    <a:cubicBezTo>
                      <a:pt x="1131945" y="1324072"/>
                      <a:pt x="1109425" y="1333401"/>
                      <a:pt x="1085942" y="1333401"/>
                    </a:cubicBezTo>
                    <a:lnTo>
                      <a:pt x="88541" y="1333401"/>
                    </a:lnTo>
                    <a:cubicBezTo>
                      <a:pt x="65059" y="1333401"/>
                      <a:pt x="42538" y="1324072"/>
                      <a:pt x="25933" y="1307468"/>
                    </a:cubicBezTo>
                    <a:cubicBezTo>
                      <a:pt x="9328" y="1290863"/>
                      <a:pt x="0" y="1268342"/>
                      <a:pt x="0" y="1244860"/>
                    </a:cubicBezTo>
                    <a:lnTo>
                      <a:pt x="0" y="88541"/>
                    </a:lnTo>
                    <a:cubicBezTo>
                      <a:pt x="0" y="65059"/>
                      <a:pt x="9328" y="42538"/>
                      <a:pt x="25933" y="25933"/>
                    </a:cubicBezTo>
                    <a:cubicBezTo>
                      <a:pt x="42538" y="9328"/>
                      <a:pt x="65059" y="0"/>
                      <a:pt x="88541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174483" cy="13715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5948609" cy="6753507"/>
              <a:chOff x="0" y="0"/>
              <a:chExt cx="1174483" cy="133340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74483" cy="1333401"/>
              </a:xfrm>
              <a:custGeom>
                <a:avLst/>
                <a:gdLst/>
                <a:ahLst/>
                <a:cxnLst/>
                <a:rect l="l" t="t" r="r" b="b"/>
                <a:pathLst>
                  <a:path w="1174483" h="1333401">
                    <a:moveTo>
                      <a:pt x="88541" y="0"/>
                    </a:moveTo>
                    <a:lnTo>
                      <a:pt x="1085942" y="0"/>
                    </a:lnTo>
                    <a:cubicBezTo>
                      <a:pt x="1109425" y="0"/>
                      <a:pt x="1131945" y="9328"/>
                      <a:pt x="1148550" y="25933"/>
                    </a:cubicBezTo>
                    <a:cubicBezTo>
                      <a:pt x="1165155" y="42538"/>
                      <a:pt x="1174483" y="65059"/>
                      <a:pt x="1174483" y="88541"/>
                    </a:cubicBezTo>
                    <a:lnTo>
                      <a:pt x="1174483" y="1244860"/>
                    </a:lnTo>
                    <a:cubicBezTo>
                      <a:pt x="1174483" y="1268342"/>
                      <a:pt x="1165155" y="1290863"/>
                      <a:pt x="1148550" y="1307468"/>
                    </a:cubicBezTo>
                    <a:cubicBezTo>
                      <a:pt x="1131945" y="1324072"/>
                      <a:pt x="1109425" y="1333401"/>
                      <a:pt x="1085942" y="1333401"/>
                    </a:cubicBezTo>
                    <a:lnTo>
                      <a:pt x="88541" y="1333401"/>
                    </a:lnTo>
                    <a:cubicBezTo>
                      <a:pt x="65059" y="1333401"/>
                      <a:pt x="42538" y="1324072"/>
                      <a:pt x="25933" y="1307468"/>
                    </a:cubicBezTo>
                    <a:cubicBezTo>
                      <a:pt x="9328" y="1290863"/>
                      <a:pt x="0" y="1268342"/>
                      <a:pt x="0" y="1244860"/>
                    </a:cubicBezTo>
                    <a:lnTo>
                      <a:pt x="0" y="88541"/>
                    </a:lnTo>
                    <a:cubicBezTo>
                      <a:pt x="0" y="65059"/>
                      <a:pt x="9328" y="42538"/>
                      <a:pt x="25933" y="25933"/>
                    </a:cubicBezTo>
                    <a:cubicBezTo>
                      <a:pt x="42538" y="9328"/>
                      <a:pt x="65059" y="0"/>
                      <a:pt x="8854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174483" cy="13715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1633639" y="1402482"/>
            <a:ext cx="15173122" cy="11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 spc="545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References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7439" y="4763770"/>
            <a:ext cx="4459366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300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In Same study area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914317" y="4195544"/>
            <a:ext cx="4611766" cy="5215156"/>
            <a:chOff x="0" y="0"/>
            <a:chExt cx="6149021" cy="6953542"/>
          </a:xfrm>
        </p:grpSpPr>
        <p:grpSp>
          <p:nvGrpSpPr>
            <p:cNvPr id="13" name="Group 13"/>
            <p:cNvGrpSpPr/>
            <p:nvPr/>
          </p:nvGrpSpPr>
          <p:grpSpPr>
            <a:xfrm>
              <a:off x="203200" y="203200"/>
              <a:ext cx="5945821" cy="6750342"/>
              <a:chOff x="0" y="0"/>
              <a:chExt cx="1174483" cy="133340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74483" cy="1333401"/>
              </a:xfrm>
              <a:custGeom>
                <a:avLst/>
                <a:gdLst/>
                <a:ahLst/>
                <a:cxnLst/>
                <a:rect l="l" t="t" r="r" b="b"/>
                <a:pathLst>
                  <a:path w="1174483" h="1333401">
                    <a:moveTo>
                      <a:pt x="88541" y="0"/>
                    </a:moveTo>
                    <a:lnTo>
                      <a:pt x="1085942" y="0"/>
                    </a:lnTo>
                    <a:cubicBezTo>
                      <a:pt x="1109425" y="0"/>
                      <a:pt x="1131945" y="9328"/>
                      <a:pt x="1148550" y="25933"/>
                    </a:cubicBezTo>
                    <a:cubicBezTo>
                      <a:pt x="1165155" y="42538"/>
                      <a:pt x="1174483" y="65059"/>
                      <a:pt x="1174483" y="88541"/>
                    </a:cubicBezTo>
                    <a:lnTo>
                      <a:pt x="1174483" y="1244860"/>
                    </a:lnTo>
                    <a:cubicBezTo>
                      <a:pt x="1174483" y="1268342"/>
                      <a:pt x="1165155" y="1290863"/>
                      <a:pt x="1148550" y="1307468"/>
                    </a:cubicBezTo>
                    <a:cubicBezTo>
                      <a:pt x="1131945" y="1324072"/>
                      <a:pt x="1109425" y="1333401"/>
                      <a:pt x="1085942" y="1333401"/>
                    </a:cubicBezTo>
                    <a:lnTo>
                      <a:pt x="88541" y="1333401"/>
                    </a:lnTo>
                    <a:cubicBezTo>
                      <a:pt x="65059" y="1333401"/>
                      <a:pt x="42538" y="1324072"/>
                      <a:pt x="25933" y="1307468"/>
                    </a:cubicBezTo>
                    <a:cubicBezTo>
                      <a:pt x="9328" y="1290863"/>
                      <a:pt x="0" y="1268342"/>
                      <a:pt x="0" y="1244860"/>
                    </a:cubicBezTo>
                    <a:lnTo>
                      <a:pt x="0" y="88541"/>
                    </a:lnTo>
                    <a:cubicBezTo>
                      <a:pt x="0" y="65059"/>
                      <a:pt x="9328" y="42538"/>
                      <a:pt x="25933" y="25933"/>
                    </a:cubicBezTo>
                    <a:cubicBezTo>
                      <a:pt x="42538" y="9328"/>
                      <a:pt x="65059" y="0"/>
                      <a:pt x="88541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174483" cy="13715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5945821" cy="6750342"/>
              <a:chOff x="0" y="0"/>
              <a:chExt cx="1174483" cy="133340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174483" cy="1333401"/>
              </a:xfrm>
              <a:custGeom>
                <a:avLst/>
                <a:gdLst/>
                <a:ahLst/>
                <a:cxnLst/>
                <a:rect l="l" t="t" r="r" b="b"/>
                <a:pathLst>
                  <a:path w="1174483" h="1333401">
                    <a:moveTo>
                      <a:pt x="88541" y="0"/>
                    </a:moveTo>
                    <a:lnTo>
                      <a:pt x="1085942" y="0"/>
                    </a:lnTo>
                    <a:cubicBezTo>
                      <a:pt x="1109425" y="0"/>
                      <a:pt x="1131945" y="9328"/>
                      <a:pt x="1148550" y="25933"/>
                    </a:cubicBezTo>
                    <a:cubicBezTo>
                      <a:pt x="1165155" y="42538"/>
                      <a:pt x="1174483" y="65059"/>
                      <a:pt x="1174483" y="88541"/>
                    </a:cubicBezTo>
                    <a:lnTo>
                      <a:pt x="1174483" y="1244860"/>
                    </a:lnTo>
                    <a:cubicBezTo>
                      <a:pt x="1174483" y="1268342"/>
                      <a:pt x="1165155" y="1290863"/>
                      <a:pt x="1148550" y="1307468"/>
                    </a:cubicBezTo>
                    <a:cubicBezTo>
                      <a:pt x="1131945" y="1324072"/>
                      <a:pt x="1109425" y="1333401"/>
                      <a:pt x="1085942" y="1333401"/>
                    </a:cubicBezTo>
                    <a:lnTo>
                      <a:pt x="88541" y="1333401"/>
                    </a:lnTo>
                    <a:cubicBezTo>
                      <a:pt x="65059" y="1333401"/>
                      <a:pt x="42538" y="1324072"/>
                      <a:pt x="25933" y="1307468"/>
                    </a:cubicBezTo>
                    <a:cubicBezTo>
                      <a:pt x="9328" y="1290863"/>
                      <a:pt x="0" y="1268342"/>
                      <a:pt x="0" y="1244860"/>
                    </a:cubicBezTo>
                    <a:lnTo>
                      <a:pt x="0" y="88541"/>
                    </a:lnTo>
                    <a:cubicBezTo>
                      <a:pt x="0" y="65059"/>
                      <a:pt x="9328" y="42538"/>
                      <a:pt x="25933" y="25933"/>
                    </a:cubicBezTo>
                    <a:cubicBezTo>
                      <a:pt x="42538" y="9328"/>
                      <a:pt x="65059" y="0"/>
                      <a:pt x="8854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174483" cy="13715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914317" y="4763770"/>
            <a:ext cx="4459366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300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Similar study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271195" y="4195544"/>
            <a:ext cx="4611766" cy="5215156"/>
            <a:chOff x="0" y="0"/>
            <a:chExt cx="6149021" cy="6953542"/>
          </a:xfrm>
        </p:grpSpPr>
        <p:grpSp>
          <p:nvGrpSpPr>
            <p:cNvPr id="21" name="Group 21"/>
            <p:cNvGrpSpPr/>
            <p:nvPr/>
          </p:nvGrpSpPr>
          <p:grpSpPr>
            <a:xfrm>
              <a:off x="203200" y="203200"/>
              <a:ext cx="5945821" cy="6750342"/>
              <a:chOff x="0" y="0"/>
              <a:chExt cx="1174483" cy="133340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74483" cy="1333401"/>
              </a:xfrm>
              <a:custGeom>
                <a:avLst/>
                <a:gdLst/>
                <a:ahLst/>
                <a:cxnLst/>
                <a:rect l="l" t="t" r="r" b="b"/>
                <a:pathLst>
                  <a:path w="1174483" h="1333401">
                    <a:moveTo>
                      <a:pt x="88541" y="0"/>
                    </a:moveTo>
                    <a:lnTo>
                      <a:pt x="1085942" y="0"/>
                    </a:lnTo>
                    <a:cubicBezTo>
                      <a:pt x="1109425" y="0"/>
                      <a:pt x="1131945" y="9328"/>
                      <a:pt x="1148550" y="25933"/>
                    </a:cubicBezTo>
                    <a:cubicBezTo>
                      <a:pt x="1165155" y="42538"/>
                      <a:pt x="1174483" y="65059"/>
                      <a:pt x="1174483" y="88541"/>
                    </a:cubicBezTo>
                    <a:lnTo>
                      <a:pt x="1174483" y="1244860"/>
                    </a:lnTo>
                    <a:cubicBezTo>
                      <a:pt x="1174483" y="1268342"/>
                      <a:pt x="1165155" y="1290863"/>
                      <a:pt x="1148550" y="1307468"/>
                    </a:cubicBezTo>
                    <a:cubicBezTo>
                      <a:pt x="1131945" y="1324072"/>
                      <a:pt x="1109425" y="1333401"/>
                      <a:pt x="1085942" y="1333401"/>
                    </a:cubicBezTo>
                    <a:lnTo>
                      <a:pt x="88541" y="1333401"/>
                    </a:lnTo>
                    <a:cubicBezTo>
                      <a:pt x="65059" y="1333401"/>
                      <a:pt x="42538" y="1324072"/>
                      <a:pt x="25933" y="1307468"/>
                    </a:cubicBezTo>
                    <a:cubicBezTo>
                      <a:pt x="9328" y="1290863"/>
                      <a:pt x="0" y="1268342"/>
                      <a:pt x="0" y="1244860"/>
                    </a:cubicBezTo>
                    <a:lnTo>
                      <a:pt x="0" y="88541"/>
                    </a:lnTo>
                    <a:cubicBezTo>
                      <a:pt x="0" y="65059"/>
                      <a:pt x="9328" y="42538"/>
                      <a:pt x="25933" y="25933"/>
                    </a:cubicBezTo>
                    <a:cubicBezTo>
                      <a:pt x="42538" y="9328"/>
                      <a:pt x="65059" y="0"/>
                      <a:pt x="88541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174483" cy="13715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5945821" cy="6750342"/>
              <a:chOff x="0" y="0"/>
              <a:chExt cx="1174483" cy="133340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174483" cy="1333401"/>
              </a:xfrm>
              <a:custGeom>
                <a:avLst/>
                <a:gdLst/>
                <a:ahLst/>
                <a:cxnLst/>
                <a:rect l="l" t="t" r="r" b="b"/>
                <a:pathLst>
                  <a:path w="1174483" h="1333401">
                    <a:moveTo>
                      <a:pt x="88541" y="0"/>
                    </a:moveTo>
                    <a:lnTo>
                      <a:pt x="1085942" y="0"/>
                    </a:lnTo>
                    <a:cubicBezTo>
                      <a:pt x="1109425" y="0"/>
                      <a:pt x="1131945" y="9328"/>
                      <a:pt x="1148550" y="25933"/>
                    </a:cubicBezTo>
                    <a:cubicBezTo>
                      <a:pt x="1165155" y="42538"/>
                      <a:pt x="1174483" y="65059"/>
                      <a:pt x="1174483" y="88541"/>
                    </a:cubicBezTo>
                    <a:lnTo>
                      <a:pt x="1174483" y="1244860"/>
                    </a:lnTo>
                    <a:cubicBezTo>
                      <a:pt x="1174483" y="1268342"/>
                      <a:pt x="1165155" y="1290863"/>
                      <a:pt x="1148550" y="1307468"/>
                    </a:cubicBezTo>
                    <a:cubicBezTo>
                      <a:pt x="1131945" y="1324072"/>
                      <a:pt x="1109425" y="1333401"/>
                      <a:pt x="1085942" y="1333401"/>
                    </a:cubicBezTo>
                    <a:lnTo>
                      <a:pt x="88541" y="1333401"/>
                    </a:lnTo>
                    <a:cubicBezTo>
                      <a:pt x="65059" y="1333401"/>
                      <a:pt x="42538" y="1324072"/>
                      <a:pt x="25933" y="1307468"/>
                    </a:cubicBezTo>
                    <a:cubicBezTo>
                      <a:pt x="9328" y="1290863"/>
                      <a:pt x="0" y="1268342"/>
                      <a:pt x="0" y="1244860"/>
                    </a:cubicBezTo>
                    <a:lnTo>
                      <a:pt x="0" y="88541"/>
                    </a:lnTo>
                    <a:cubicBezTo>
                      <a:pt x="0" y="65059"/>
                      <a:pt x="9328" y="42538"/>
                      <a:pt x="25933" y="25933"/>
                    </a:cubicBezTo>
                    <a:cubicBezTo>
                      <a:pt x="42538" y="9328"/>
                      <a:pt x="65059" y="0"/>
                      <a:pt x="8854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174483" cy="13715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12271195" y="4763770"/>
            <a:ext cx="4459366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300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Similar solution</a:t>
            </a:r>
          </a:p>
        </p:txBody>
      </p:sp>
      <p:sp>
        <p:nvSpPr>
          <p:cNvPr id="28" name="Freeform 28"/>
          <p:cNvSpPr/>
          <p:nvPr/>
        </p:nvSpPr>
        <p:spPr>
          <a:xfrm>
            <a:off x="2241655" y="820124"/>
            <a:ext cx="3090933" cy="3079693"/>
          </a:xfrm>
          <a:custGeom>
            <a:avLst/>
            <a:gdLst/>
            <a:ahLst/>
            <a:cxnLst/>
            <a:rect l="l" t="t" r="r" b="b"/>
            <a:pathLst>
              <a:path w="3090933" h="3079693">
                <a:moveTo>
                  <a:pt x="0" y="0"/>
                </a:moveTo>
                <a:lnTo>
                  <a:pt x="3090933" y="0"/>
                </a:lnTo>
                <a:lnTo>
                  <a:pt x="3090933" y="3079693"/>
                </a:lnTo>
                <a:lnTo>
                  <a:pt x="0" y="3079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9" name="Freeform 29"/>
          <p:cNvSpPr/>
          <p:nvPr/>
        </p:nvSpPr>
        <p:spPr>
          <a:xfrm>
            <a:off x="13404022" y="820124"/>
            <a:ext cx="2346112" cy="3131946"/>
          </a:xfrm>
          <a:custGeom>
            <a:avLst/>
            <a:gdLst/>
            <a:ahLst/>
            <a:cxnLst/>
            <a:rect l="l" t="t" r="r" b="b"/>
            <a:pathLst>
              <a:path w="2346112" h="3131946">
                <a:moveTo>
                  <a:pt x="0" y="0"/>
                </a:moveTo>
                <a:lnTo>
                  <a:pt x="2346112" y="0"/>
                </a:lnTo>
                <a:lnTo>
                  <a:pt x="2346112" y="3131945"/>
                </a:lnTo>
                <a:lnTo>
                  <a:pt x="0" y="3131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0" name="TextBox 30"/>
          <p:cNvSpPr txBox="1"/>
          <p:nvPr/>
        </p:nvSpPr>
        <p:spPr>
          <a:xfrm>
            <a:off x="1857948" y="5394537"/>
            <a:ext cx="4012910" cy="962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99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List 1–2 published studies or official reports that analyzed a similar hazard in the same geographic region.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14826" y="5394537"/>
            <a:ext cx="4012910" cy="962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99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List 1–2 studies that used similar data, indicators, or methods, even if conducted in a different area.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71704" y="5394537"/>
            <a:ext cx="4012910" cy="1282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99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List 1–2 studies, tools, or projects that proposed similar outputs or solutions (e.g., risk maps, early warning, indices).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/>
          <p:cNvGrpSpPr/>
          <p:nvPr/>
        </p:nvGrpSpPr>
        <p:grpSpPr>
          <a:xfrm>
            <a:off x="1549055" y="3161492"/>
            <a:ext cx="13831397" cy="5389683"/>
            <a:chOff x="0" y="0"/>
            <a:chExt cx="18441863" cy="7186244"/>
          </a:xfrm>
        </p:grpSpPr>
        <p:grpSp>
          <p:nvGrpSpPr>
            <p:cNvPr id="4" name="Group 4"/>
            <p:cNvGrpSpPr/>
            <p:nvPr/>
          </p:nvGrpSpPr>
          <p:grpSpPr>
            <a:xfrm>
              <a:off x="181348" y="181348"/>
              <a:ext cx="18260515" cy="7004896"/>
              <a:chOff x="0" y="0"/>
              <a:chExt cx="4041644" cy="155041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41644" cy="1550411"/>
              </a:xfrm>
              <a:custGeom>
                <a:avLst/>
                <a:gdLst/>
                <a:ahLst/>
                <a:cxnLst/>
                <a:rect l="l" t="t" r="r" b="b"/>
                <a:pathLst>
                  <a:path w="4041644" h="1550411">
                    <a:moveTo>
                      <a:pt x="25730" y="0"/>
                    </a:moveTo>
                    <a:lnTo>
                      <a:pt x="4015915" y="0"/>
                    </a:lnTo>
                    <a:cubicBezTo>
                      <a:pt x="4022739" y="0"/>
                      <a:pt x="4029283" y="2711"/>
                      <a:pt x="4034108" y="7536"/>
                    </a:cubicBezTo>
                    <a:cubicBezTo>
                      <a:pt x="4038934" y="12361"/>
                      <a:pt x="4041644" y="18906"/>
                      <a:pt x="4041644" y="25730"/>
                    </a:cubicBezTo>
                    <a:lnTo>
                      <a:pt x="4041644" y="1524681"/>
                    </a:lnTo>
                    <a:cubicBezTo>
                      <a:pt x="4041644" y="1531505"/>
                      <a:pt x="4038934" y="1538050"/>
                      <a:pt x="4034108" y="1542875"/>
                    </a:cubicBezTo>
                    <a:cubicBezTo>
                      <a:pt x="4029283" y="1547700"/>
                      <a:pt x="4022739" y="1550411"/>
                      <a:pt x="4015915" y="1550411"/>
                    </a:cubicBezTo>
                    <a:lnTo>
                      <a:pt x="25730" y="1550411"/>
                    </a:lnTo>
                    <a:cubicBezTo>
                      <a:pt x="18906" y="1550411"/>
                      <a:pt x="12361" y="1547700"/>
                      <a:pt x="7536" y="1542875"/>
                    </a:cubicBezTo>
                    <a:cubicBezTo>
                      <a:pt x="2711" y="1538050"/>
                      <a:pt x="0" y="1531505"/>
                      <a:pt x="0" y="1524681"/>
                    </a:cubicBezTo>
                    <a:lnTo>
                      <a:pt x="0" y="25730"/>
                    </a:lnTo>
                    <a:cubicBezTo>
                      <a:pt x="0" y="18906"/>
                      <a:pt x="2711" y="12361"/>
                      <a:pt x="7536" y="7536"/>
                    </a:cubicBezTo>
                    <a:cubicBezTo>
                      <a:pt x="12361" y="2711"/>
                      <a:pt x="18906" y="0"/>
                      <a:pt x="25730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4041644" cy="15789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3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8260515" cy="7004896"/>
              <a:chOff x="0" y="0"/>
              <a:chExt cx="4041644" cy="155041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41644" cy="1550411"/>
              </a:xfrm>
              <a:custGeom>
                <a:avLst/>
                <a:gdLst/>
                <a:ahLst/>
                <a:cxnLst/>
                <a:rect l="l" t="t" r="r" b="b"/>
                <a:pathLst>
                  <a:path w="4041644" h="1550411">
                    <a:moveTo>
                      <a:pt x="25730" y="0"/>
                    </a:moveTo>
                    <a:lnTo>
                      <a:pt x="4015915" y="0"/>
                    </a:lnTo>
                    <a:cubicBezTo>
                      <a:pt x="4022739" y="0"/>
                      <a:pt x="4029283" y="2711"/>
                      <a:pt x="4034108" y="7536"/>
                    </a:cubicBezTo>
                    <a:cubicBezTo>
                      <a:pt x="4038934" y="12361"/>
                      <a:pt x="4041644" y="18906"/>
                      <a:pt x="4041644" y="25730"/>
                    </a:cubicBezTo>
                    <a:lnTo>
                      <a:pt x="4041644" y="1524681"/>
                    </a:lnTo>
                    <a:cubicBezTo>
                      <a:pt x="4041644" y="1531505"/>
                      <a:pt x="4038934" y="1538050"/>
                      <a:pt x="4034108" y="1542875"/>
                    </a:cubicBezTo>
                    <a:cubicBezTo>
                      <a:pt x="4029283" y="1547700"/>
                      <a:pt x="4022739" y="1550411"/>
                      <a:pt x="4015915" y="1550411"/>
                    </a:cubicBezTo>
                    <a:lnTo>
                      <a:pt x="25730" y="1550411"/>
                    </a:lnTo>
                    <a:cubicBezTo>
                      <a:pt x="18906" y="1550411"/>
                      <a:pt x="12361" y="1547700"/>
                      <a:pt x="7536" y="1542875"/>
                    </a:cubicBezTo>
                    <a:cubicBezTo>
                      <a:pt x="2711" y="1538050"/>
                      <a:pt x="0" y="1531505"/>
                      <a:pt x="0" y="1524681"/>
                    </a:cubicBezTo>
                    <a:lnTo>
                      <a:pt x="0" y="25730"/>
                    </a:lnTo>
                    <a:cubicBezTo>
                      <a:pt x="0" y="18906"/>
                      <a:pt x="2711" y="12361"/>
                      <a:pt x="7536" y="7536"/>
                    </a:cubicBezTo>
                    <a:cubicBezTo>
                      <a:pt x="12361" y="2711"/>
                      <a:pt x="18906" y="0"/>
                      <a:pt x="2573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4041644" cy="15789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3"/>
                  </a:lnSpc>
                </a:pPr>
                <a:endParaRPr/>
              </a:p>
            </p:txBody>
          </p:sp>
        </p:grpSp>
      </p:grpSp>
      <p:sp>
        <p:nvSpPr>
          <p:cNvPr id="10" name="Freeform 10"/>
          <p:cNvSpPr/>
          <p:nvPr/>
        </p:nvSpPr>
        <p:spPr>
          <a:xfrm>
            <a:off x="12714179" y="4373158"/>
            <a:ext cx="5332548" cy="9191839"/>
          </a:xfrm>
          <a:custGeom>
            <a:avLst/>
            <a:gdLst/>
            <a:ahLst/>
            <a:cxnLst/>
            <a:rect l="l" t="t" r="r" b="b"/>
            <a:pathLst>
              <a:path w="5332548" h="9191839">
                <a:moveTo>
                  <a:pt x="0" y="0"/>
                </a:moveTo>
                <a:lnTo>
                  <a:pt x="5332547" y="0"/>
                </a:lnTo>
                <a:lnTo>
                  <a:pt x="5332547" y="9191839"/>
                </a:lnTo>
                <a:lnTo>
                  <a:pt x="0" y="9191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1343583" y="493552"/>
            <a:ext cx="15600833" cy="268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sz="8799" spc="413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Use / Scope of Knowledge-Driven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3657" y="3781812"/>
            <a:ext cx="9900939" cy="3795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32"/>
              </a:lnSpc>
              <a:buFont typeface="Arial" panose="020B0604020202020204" pitchFamily="34" charset="0"/>
              <a:buChar char="•"/>
            </a:pPr>
            <a:r>
              <a:rPr lang="en-US" sz="3034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If artificial intelligence or machine learning was used in the project, clearly describe what AI/ML technique was applied and for which task.</a:t>
            </a:r>
          </a:p>
          <a:p>
            <a:pPr marL="457200" indent="-457200" algn="l">
              <a:lnSpc>
                <a:spcPts val="3732"/>
              </a:lnSpc>
              <a:buFont typeface="Arial" panose="020B0604020202020204" pitchFamily="34" charset="0"/>
              <a:buChar char="•"/>
            </a:pPr>
            <a:r>
              <a:rPr lang="en-US" sz="3034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If AI/ML was not used, explain where and how AI or knowledge-driven AI could be applied to improve the analysis or decision-making. Participants should briefly mention the type of data, expected benefit of AI, and why AI is suitable or not suitable for this problem.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18" t="-49976" r="-2555" b="-38420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3124201" y="1638300"/>
            <a:ext cx="15128544" cy="8305800"/>
            <a:chOff x="0" y="0"/>
            <a:chExt cx="15287462" cy="8073002"/>
          </a:xfrm>
        </p:grpSpPr>
        <p:grpSp>
          <p:nvGrpSpPr>
            <p:cNvPr id="4" name="Group 4"/>
            <p:cNvGrpSpPr/>
            <p:nvPr/>
          </p:nvGrpSpPr>
          <p:grpSpPr>
            <a:xfrm>
              <a:off x="153244" y="165100"/>
              <a:ext cx="15134218" cy="7907902"/>
              <a:chOff x="0" y="0"/>
              <a:chExt cx="2989475" cy="156205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989475" cy="1562055"/>
              </a:xfrm>
              <a:custGeom>
                <a:avLst/>
                <a:gdLst/>
                <a:ahLst/>
                <a:cxnLst/>
                <a:rect l="l" t="t" r="r" b="b"/>
                <a:pathLst>
                  <a:path w="2989475" h="1562055">
                    <a:moveTo>
                      <a:pt x="34785" y="0"/>
                    </a:moveTo>
                    <a:lnTo>
                      <a:pt x="2954690" y="0"/>
                    </a:lnTo>
                    <a:cubicBezTo>
                      <a:pt x="2973901" y="0"/>
                      <a:pt x="2989475" y="15574"/>
                      <a:pt x="2989475" y="34785"/>
                    </a:cubicBezTo>
                    <a:lnTo>
                      <a:pt x="2989475" y="1527269"/>
                    </a:lnTo>
                    <a:cubicBezTo>
                      <a:pt x="2989475" y="1546481"/>
                      <a:pt x="2973901" y="1562055"/>
                      <a:pt x="2954690" y="1562055"/>
                    </a:cubicBezTo>
                    <a:lnTo>
                      <a:pt x="34785" y="1562055"/>
                    </a:lnTo>
                    <a:cubicBezTo>
                      <a:pt x="25560" y="1562055"/>
                      <a:pt x="16712" y="1558390"/>
                      <a:pt x="10188" y="1551866"/>
                    </a:cubicBezTo>
                    <a:cubicBezTo>
                      <a:pt x="3665" y="1545343"/>
                      <a:pt x="0" y="1536495"/>
                      <a:pt x="0" y="1527269"/>
                    </a:cubicBezTo>
                    <a:lnTo>
                      <a:pt x="0" y="34785"/>
                    </a:lnTo>
                    <a:cubicBezTo>
                      <a:pt x="0" y="15574"/>
                      <a:pt x="15574" y="0"/>
                      <a:pt x="34785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989475" cy="16001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5134218" cy="7907902"/>
              <a:chOff x="0" y="0"/>
              <a:chExt cx="2989475" cy="156205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989475" cy="1562055"/>
              </a:xfrm>
              <a:custGeom>
                <a:avLst/>
                <a:gdLst/>
                <a:ahLst/>
                <a:cxnLst/>
                <a:rect l="l" t="t" r="r" b="b"/>
                <a:pathLst>
                  <a:path w="2989475" h="1562055">
                    <a:moveTo>
                      <a:pt x="34785" y="0"/>
                    </a:moveTo>
                    <a:lnTo>
                      <a:pt x="2954690" y="0"/>
                    </a:lnTo>
                    <a:cubicBezTo>
                      <a:pt x="2973901" y="0"/>
                      <a:pt x="2989475" y="15574"/>
                      <a:pt x="2989475" y="34785"/>
                    </a:cubicBezTo>
                    <a:lnTo>
                      <a:pt x="2989475" y="1527269"/>
                    </a:lnTo>
                    <a:cubicBezTo>
                      <a:pt x="2989475" y="1546481"/>
                      <a:pt x="2973901" y="1562055"/>
                      <a:pt x="2954690" y="1562055"/>
                    </a:cubicBezTo>
                    <a:lnTo>
                      <a:pt x="34785" y="1562055"/>
                    </a:lnTo>
                    <a:cubicBezTo>
                      <a:pt x="25560" y="1562055"/>
                      <a:pt x="16712" y="1558390"/>
                      <a:pt x="10188" y="1551866"/>
                    </a:cubicBezTo>
                    <a:cubicBezTo>
                      <a:pt x="3665" y="1545343"/>
                      <a:pt x="0" y="1536495"/>
                      <a:pt x="0" y="1527269"/>
                    </a:cubicBezTo>
                    <a:lnTo>
                      <a:pt x="0" y="34785"/>
                    </a:lnTo>
                    <a:cubicBezTo>
                      <a:pt x="0" y="15574"/>
                      <a:pt x="15574" y="0"/>
                      <a:pt x="3478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989475" cy="16001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0" name="Freeform 10"/>
          <p:cNvSpPr/>
          <p:nvPr/>
        </p:nvSpPr>
        <p:spPr>
          <a:xfrm>
            <a:off x="221461" y="4680178"/>
            <a:ext cx="4845288" cy="11259901"/>
          </a:xfrm>
          <a:custGeom>
            <a:avLst/>
            <a:gdLst/>
            <a:ahLst/>
            <a:cxnLst/>
            <a:rect l="l" t="t" r="r" b="b"/>
            <a:pathLst>
              <a:path w="4845288" h="11259901">
                <a:moveTo>
                  <a:pt x="0" y="0"/>
                </a:moveTo>
                <a:lnTo>
                  <a:pt x="4845289" y="0"/>
                </a:lnTo>
                <a:lnTo>
                  <a:pt x="4845289" y="11259900"/>
                </a:lnTo>
                <a:lnTo>
                  <a:pt x="0" y="1125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4724400" y="2933701"/>
            <a:ext cx="10768823" cy="2391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752" dirty="0">
                <a:solidFill>
                  <a:srgbClr val="3C223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This section should summarize the key findings of the study in 3–5 sentences.</a:t>
            </a:r>
          </a:p>
          <a:p>
            <a:pPr algn="l">
              <a:lnSpc>
                <a:spcPts val="3137"/>
              </a:lnSpc>
            </a:pPr>
            <a:r>
              <a:rPr lang="en-US" sz="2752" dirty="0">
                <a:solidFill>
                  <a:srgbClr val="3C223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Participants should clearly state whether the study objectives were achieved based on the results.</a:t>
            </a:r>
          </a:p>
          <a:p>
            <a:pPr algn="l">
              <a:lnSpc>
                <a:spcPts val="3137"/>
              </a:lnSpc>
            </a:pPr>
            <a:r>
              <a:rPr lang="en-US" sz="2752" dirty="0">
                <a:solidFill>
                  <a:srgbClr val="3C223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The conclusion should highlight the main takeaway and its relevance to disaster understanding or management.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342900"/>
            <a:ext cx="15128544" cy="11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8799" spc="624" dirty="0">
                <a:solidFill>
                  <a:srgbClr val="484744"/>
                </a:solidFill>
                <a:latin typeface="Jingleberry"/>
                <a:ea typeface="Jingleberry"/>
                <a:cs typeface="Jingleberry"/>
                <a:sym typeface="Jingleberry"/>
              </a:rPr>
              <a:t> CONCLUSIONS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25530" y="11613508"/>
            <a:ext cx="8641009" cy="56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4299" dirty="0">
                <a:solidFill>
                  <a:srgbClr val="3C223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ANALYSIS OF THE INITIAL OBJECTIVES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95933-289C-67ED-C32A-DB061BC3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C2C888-64DB-3B73-775A-FA5A8EE9366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18" t="-49976" r="-2555" b="-38420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A6068C9-92BF-139F-E094-09A5EDCBD2E5}"/>
              </a:ext>
            </a:extLst>
          </p:cNvPr>
          <p:cNvGrpSpPr/>
          <p:nvPr/>
        </p:nvGrpSpPr>
        <p:grpSpPr>
          <a:xfrm>
            <a:off x="3124201" y="1638300"/>
            <a:ext cx="15128544" cy="8305800"/>
            <a:chOff x="0" y="0"/>
            <a:chExt cx="15287462" cy="8073002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2B5678D-BAF8-B760-4810-3161E7EA3D0B}"/>
                </a:ext>
              </a:extLst>
            </p:cNvPr>
            <p:cNvGrpSpPr/>
            <p:nvPr/>
          </p:nvGrpSpPr>
          <p:grpSpPr>
            <a:xfrm>
              <a:off x="153244" y="165100"/>
              <a:ext cx="15134218" cy="7907902"/>
              <a:chOff x="0" y="0"/>
              <a:chExt cx="2989475" cy="1562055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F22165C-7899-678F-7C5C-2D2F98A47448}"/>
                  </a:ext>
                </a:extLst>
              </p:cNvPr>
              <p:cNvSpPr/>
              <p:nvPr/>
            </p:nvSpPr>
            <p:spPr>
              <a:xfrm>
                <a:off x="0" y="0"/>
                <a:ext cx="2989475" cy="1562055"/>
              </a:xfrm>
              <a:custGeom>
                <a:avLst/>
                <a:gdLst/>
                <a:ahLst/>
                <a:cxnLst/>
                <a:rect l="l" t="t" r="r" b="b"/>
                <a:pathLst>
                  <a:path w="2989475" h="1562055">
                    <a:moveTo>
                      <a:pt x="34785" y="0"/>
                    </a:moveTo>
                    <a:lnTo>
                      <a:pt x="2954690" y="0"/>
                    </a:lnTo>
                    <a:cubicBezTo>
                      <a:pt x="2973901" y="0"/>
                      <a:pt x="2989475" y="15574"/>
                      <a:pt x="2989475" y="34785"/>
                    </a:cubicBezTo>
                    <a:lnTo>
                      <a:pt x="2989475" y="1527269"/>
                    </a:lnTo>
                    <a:cubicBezTo>
                      <a:pt x="2989475" y="1546481"/>
                      <a:pt x="2973901" y="1562055"/>
                      <a:pt x="2954690" y="1562055"/>
                    </a:cubicBezTo>
                    <a:lnTo>
                      <a:pt x="34785" y="1562055"/>
                    </a:lnTo>
                    <a:cubicBezTo>
                      <a:pt x="25560" y="1562055"/>
                      <a:pt x="16712" y="1558390"/>
                      <a:pt x="10188" y="1551866"/>
                    </a:cubicBezTo>
                    <a:cubicBezTo>
                      <a:pt x="3665" y="1545343"/>
                      <a:pt x="0" y="1536495"/>
                      <a:pt x="0" y="1527269"/>
                    </a:cubicBezTo>
                    <a:lnTo>
                      <a:pt x="0" y="34785"/>
                    </a:lnTo>
                    <a:cubicBezTo>
                      <a:pt x="0" y="15574"/>
                      <a:pt x="15574" y="0"/>
                      <a:pt x="34785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8BC3A22-621B-60D4-E1FE-DB9661B427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989475" cy="16001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7A7DBFC-D77C-FECC-9493-8DF1312EE68B}"/>
                </a:ext>
              </a:extLst>
            </p:cNvPr>
            <p:cNvGrpSpPr/>
            <p:nvPr/>
          </p:nvGrpSpPr>
          <p:grpSpPr>
            <a:xfrm>
              <a:off x="0" y="0"/>
              <a:ext cx="15134218" cy="7907902"/>
              <a:chOff x="0" y="0"/>
              <a:chExt cx="2989475" cy="1562055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CB51B20-FB17-78A7-75AD-C07BD5DA6BF9}"/>
                  </a:ext>
                </a:extLst>
              </p:cNvPr>
              <p:cNvSpPr/>
              <p:nvPr/>
            </p:nvSpPr>
            <p:spPr>
              <a:xfrm>
                <a:off x="0" y="0"/>
                <a:ext cx="2989475" cy="1562055"/>
              </a:xfrm>
              <a:custGeom>
                <a:avLst/>
                <a:gdLst/>
                <a:ahLst/>
                <a:cxnLst/>
                <a:rect l="l" t="t" r="r" b="b"/>
                <a:pathLst>
                  <a:path w="2989475" h="1562055">
                    <a:moveTo>
                      <a:pt x="34785" y="0"/>
                    </a:moveTo>
                    <a:lnTo>
                      <a:pt x="2954690" y="0"/>
                    </a:lnTo>
                    <a:cubicBezTo>
                      <a:pt x="2973901" y="0"/>
                      <a:pt x="2989475" y="15574"/>
                      <a:pt x="2989475" y="34785"/>
                    </a:cubicBezTo>
                    <a:lnTo>
                      <a:pt x="2989475" y="1527269"/>
                    </a:lnTo>
                    <a:cubicBezTo>
                      <a:pt x="2989475" y="1546481"/>
                      <a:pt x="2973901" y="1562055"/>
                      <a:pt x="2954690" y="1562055"/>
                    </a:cubicBezTo>
                    <a:lnTo>
                      <a:pt x="34785" y="1562055"/>
                    </a:lnTo>
                    <a:cubicBezTo>
                      <a:pt x="25560" y="1562055"/>
                      <a:pt x="16712" y="1558390"/>
                      <a:pt x="10188" y="1551866"/>
                    </a:cubicBezTo>
                    <a:cubicBezTo>
                      <a:pt x="3665" y="1545343"/>
                      <a:pt x="0" y="1536495"/>
                      <a:pt x="0" y="1527269"/>
                    </a:cubicBezTo>
                    <a:lnTo>
                      <a:pt x="0" y="34785"/>
                    </a:lnTo>
                    <a:cubicBezTo>
                      <a:pt x="0" y="15574"/>
                      <a:pt x="15574" y="0"/>
                      <a:pt x="3478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701230F-6FF3-F5D5-116E-7E86FF91BA8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989475" cy="16001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2CDC016B-305F-35E6-0438-A0826EDCA2E0}"/>
              </a:ext>
            </a:extLst>
          </p:cNvPr>
          <p:cNvSpPr/>
          <p:nvPr/>
        </p:nvSpPr>
        <p:spPr>
          <a:xfrm>
            <a:off x="221461" y="4680178"/>
            <a:ext cx="4845288" cy="11259901"/>
          </a:xfrm>
          <a:custGeom>
            <a:avLst/>
            <a:gdLst/>
            <a:ahLst/>
            <a:cxnLst/>
            <a:rect l="l" t="t" r="r" b="b"/>
            <a:pathLst>
              <a:path w="4845288" h="11259901">
                <a:moveTo>
                  <a:pt x="0" y="0"/>
                </a:moveTo>
                <a:lnTo>
                  <a:pt x="4845289" y="0"/>
                </a:lnTo>
                <a:lnTo>
                  <a:pt x="4845289" y="11259900"/>
                </a:lnTo>
                <a:lnTo>
                  <a:pt x="0" y="1125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F945C4B-3008-A403-305B-B0B0F4EF2643}"/>
              </a:ext>
            </a:extLst>
          </p:cNvPr>
          <p:cNvSpPr txBox="1"/>
          <p:nvPr/>
        </p:nvSpPr>
        <p:spPr>
          <a:xfrm>
            <a:off x="4724400" y="2933701"/>
            <a:ext cx="10768823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dirty="0"/>
              <a:t>Summarize your problem statement, approach, and key solution/findings in one clear visual. Use maps, icons, datasets, workflows, or key results instead of lengthy text. Keep it simple, visually engaging, and understandable at a glance.</a:t>
            </a:r>
            <a:endParaRPr lang="en-US" sz="2752" dirty="0">
              <a:solidFill>
                <a:srgbClr val="3C223E"/>
              </a:solidFill>
              <a:latin typeface="One Little Font"/>
              <a:ea typeface="One Little Font"/>
              <a:cs typeface="One Little Font"/>
              <a:sym typeface="One Little Font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E59AB77-47A9-23FF-A880-155A4C17050E}"/>
              </a:ext>
            </a:extLst>
          </p:cNvPr>
          <p:cNvSpPr txBox="1"/>
          <p:nvPr/>
        </p:nvSpPr>
        <p:spPr>
          <a:xfrm>
            <a:off x="0" y="342900"/>
            <a:ext cx="15128544" cy="11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8799" spc="624" dirty="0">
                <a:solidFill>
                  <a:srgbClr val="484744"/>
                </a:solidFill>
                <a:latin typeface="Jingleberry"/>
                <a:ea typeface="Jingleberry"/>
                <a:cs typeface="Jingleberry"/>
                <a:sym typeface="Jingleberry"/>
              </a:rPr>
              <a:t>Graphical Abstract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3CD819F-3392-8F3E-B2D3-3F62FCAE1202}"/>
              </a:ext>
            </a:extLst>
          </p:cNvPr>
          <p:cNvSpPr txBox="1"/>
          <p:nvPr/>
        </p:nvSpPr>
        <p:spPr>
          <a:xfrm>
            <a:off x="9425530" y="11613508"/>
            <a:ext cx="8641009" cy="56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4299" dirty="0">
                <a:solidFill>
                  <a:srgbClr val="3C223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ANALYSIS OF THE INITIAL OBJECTIVES</a:t>
            </a:r>
          </a:p>
        </p:txBody>
      </p:sp>
    </p:spTree>
    <p:extLst>
      <p:ext uri="{BB962C8B-B14F-4D97-AF65-F5344CB8AC3E}">
        <p14:creationId xmlns:p14="http://schemas.microsoft.com/office/powerpoint/2010/main" val="391243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3281629" y="1477166"/>
            <a:ext cx="11832268" cy="7332668"/>
            <a:chOff x="0" y="0"/>
            <a:chExt cx="15776357" cy="9776891"/>
          </a:xfrm>
        </p:grpSpPr>
        <p:grpSp>
          <p:nvGrpSpPr>
            <p:cNvPr id="4" name="Group 4"/>
            <p:cNvGrpSpPr/>
            <p:nvPr/>
          </p:nvGrpSpPr>
          <p:grpSpPr>
            <a:xfrm>
              <a:off x="177762" y="177762"/>
              <a:ext cx="15598595" cy="9599129"/>
              <a:chOff x="0" y="0"/>
              <a:chExt cx="3522136" cy="21674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5598595" cy="9599129"/>
              <a:chOff x="0" y="0"/>
              <a:chExt cx="3522136" cy="216746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2880815" y="3314058"/>
            <a:ext cx="12526370" cy="219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75"/>
              </a:lnSpc>
            </a:pPr>
            <a:r>
              <a:rPr lang="en-US" sz="15475" spc="1145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Thanks</a:t>
            </a:r>
            <a:r>
              <a:rPr lang="en-US" sz="15475" b="1" spc="1145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!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137449" y="5815763"/>
            <a:ext cx="5121851" cy="4003085"/>
          </a:xfrm>
          <a:custGeom>
            <a:avLst/>
            <a:gdLst/>
            <a:ahLst/>
            <a:cxnLst/>
            <a:rect l="l" t="t" r="r" b="b"/>
            <a:pathLst>
              <a:path w="5121851" h="4003085">
                <a:moveTo>
                  <a:pt x="0" y="0"/>
                </a:moveTo>
                <a:lnTo>
                  <a:pt x="5121851" y="0"/>
                </a:lnTo>
                <a:lnTo>
                  <a:pt x="5121851" y="4003085"/>
                </a:lnTo>
                <a:lnTo>
                  <a:pt x="0" y="4003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538</Words>
  <Application>Microsoft Office PowerPoint</Application>
  <PresentationFormat>Custom</PresentationFormat>
  <Paragraphs>60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Bobby Jones Condensed</vt:lpstr>
      <vt:lpstr>Calibri</vt:lpstr>
      <vt:lpstr>Jingleberry</vt:lpstr>
      <vt:lpstr>One Little Font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Sayanna kar</dc:creator>
  <cp:lastModifiedBy>Sneha Kour</cp:lastModifiedBy>
  <cp:revision>9</cp:revision>
  <dcterms:modified xsi:type="dcterms:W3CDTF">2026-09-19T15:50:10Z</dcterms:modified>
</cp:coreProperties>
</file>