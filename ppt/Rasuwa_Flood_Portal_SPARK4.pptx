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59" r:id="rId5"/>
    <p:sldId id="262" r:id="rId6"/>
    <p:sldId id="269" r:id="rId7"/>
    <p:sldId id="261" r:id="rId8"/>
    <p:sldId id="264" r:id="rId9"/>
    <p:sldId id="265" r:id="rId10"/>
    <p:sldId id="270" r:id="rId11"/>
    <p:sldId id="268" r:id="rId12"/>
  </p:sldIdLst>
  <p:sldSz cx="18288000" cy="10287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23" autoAdjust="0"/>
  </p:normalViewPr>
  <p:slideViewPr>
    <p:cSldViewPr snapToGrid="0">
      <p:cViewPr varScale="1">
        <p:scale>
          <a:sx n="84" d="100"/>
          <a:sy n="84" d="100"/>
        </p:scale>
        <p:origin x="144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2E2140"/>
                </a:solidFill>
                <a:latin typeface="Calibri"/>
              </a:rPr>
              <a:t>Assets in the flood corridor (count)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A2F5C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D9692A"/>
              </a:solidFill>
            </c:spPr>
            <c:extLst>
              <c:ext xmlns:c16="http://schemas.microsoft.com/office/drawing/2014/chart" uri="{C3380CC4-5D6E-409C-BE32-E72D297353CC}">
                <c16:uniqueId val="{00000001-E5CB-46EE-A52F-AD45AB4BAE3F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2E214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Telecom towers*</c:v>
                </c:pt>
                <c:pt idx="1">
                  <c:v>Solar power plants</c:v>
                </c:pt>
                <c:pt idx="2">
                  <c:v>Schools*</c:v>
                </c:pt>
                <c:pt idx="3">
                  <c:v>Health facilities*</c:v>
                </c:pt>
                <c:pt idx="4">
                  <c:v>Hydropower projects</c:v>
                </c:pt>
                <c:pt idx="5">
                  <c:v>Banks impacted</c:v>
                </c:pt>
                <c:pt idx="6">
                  <c:v>Exposed settlements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13</c:v>
                </c:pt>
                <c:pt idx="5">
                  <c:v>77</c:v>
                </c:pt>
                <c:pt idx="6">
                  <c:v>190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5CB-46EE-A52F-AD45AB4BAE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9B6D6"/>
            </a:solidFill>
          </a:ln>
        </c:spPr>
        <c:txPr>
          <a:bodyPr/>
          <a:lstStyle/>
          <a:p>
            <a:pPr>
              <a:defRPr sz="1300">
                <a:solidFill>
                  <a:srgbClr val="2E21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25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3A14D-719C-4887-9009-D1E514AADF11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1D797-8FAC-4F3F-9BAE-CDC6806FD2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32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Hi, we are [team]. Our entry for Theme 07 is the Rasuwa Flood Portal: one open 3D map that brings together everything known about the 26 August 2026 Bhotekoshi flood.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problem was not a lack of data, it was that data lived in ten different places. Our innovation is a portal that keeps growing: a new dataset is a few lines of JSON, not new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1D797-8FAC-4F3F-9BAE-CDC6806FD20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7658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facts: a 72 km corridor, 8 districts, data from more than ten open sources, and the output is a live portal anyone can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1D797-8FAC-4F3F-9BAE-CDC6806FD20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725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steps. The key design choice is step 3: the whole map is driven by one JSON file, so adding a dataset needs no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E1D797-8FAC-4F3F-9BAE-CDC6806FD20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725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damage picture from the impact layers. Roads stand out: about 145 km damaged and 163 more at risk. Every number here can be clicked on the live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satellite, same pixels, two dates. Each side has its own dropdown, so you can compare True Color, False Color or NDVI. NDVI makes vegetation loss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Related work: the same area is covered by OSM impact layers and HOT's damage assessment; the Chamoli 2021 study is the closest hazard type; uMap and Copernicus are the closest existing tools. What they lack is everything in one maintained, 3D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are honest about AI: today it helps in the upstream damage mapping and in development. The next step is automatic change detection from Sentinel-2 and rule-based priority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of our four objectives are met; the fourth, community contributions, is ongoing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whole project in one picture: scattered data goes in, one open portal comes out, and responders, researchers and the public all use the same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Thank you. Scan the QR code to open the portal and try the before/after swipe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iamtekson/" TargetMode="External"/><Relationship Id="rId5" Type="http://schemas.openxmlformats.org/officeDocument/2006/relationships/hyperlink" Target="mailto:tek.Kshetri@ucalgary.ca" TargetMode="Externa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7079270" y="-534099"/>
            <a:ext cx="11227780" cy="10865044"/>
            <a:chOff x="0" y="-38100"/>
            <a:chExt cx="2985058" cy="1548094"/>
          </a:xfrm>
        </p:grpSpPr>
        <p:sp>
          <p:nvSpPr>
            <p:cNvPr id="4" name="Freeform 4"/>
            <p:cNvSpPr/>
            <p:nvPr/>
          </p:nvSpPr>
          <p:spPr>
            <a:xfrm>
              <a:off x="54659" y="38392"/>
              <a:ext cx="2930399" cy="1467014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82956" cy="1548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76953" y="2148840"/>
            <a:ext cx="11011047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5400" spc="1085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Rasuwa Flood Portal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86955" y="5794724"/>
            <a:ext cx="11001045" cy="598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59"/>
              </a:lnSpc>
            </a:pPr>
            <a:r>
              <a:rPr lang="en-US" sz="4459" spc="405" dirty="0" err="1">
                <a:solidFill>
                  <a:srgbClr val="543855"/>
                </a:solidFill>
                <a:latin typeface="Bobby Jones Condensed"/>
                <a:ea typeface="Bobby Jones Condensed"/>
                <a:cs typeface="Bobby Jones Condensed"/>
                <a:sym typeface="Bobby Jones Condensed"/>
              </a:rPr>
              <a:t>GeoDev</a:t>
            </a:r>
            <a:endParaRPr lang="en-US" sz="4459" spc="405" dirty="0">
              <a:solidFill>
                <a:srgbClr val="543855"/>
              </a:solidFill>
              <a:latin typeface="Bobby Jones Condensed"/>
              <a:ea typeface="Bobby Jones Condensed"/>
              <a:cs typeface="Bobby Jones Condensed"/>
              <a:sym typeface="Bobby Jones Condensed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4B26983-ED2E-DE6A-B1F2-3DF31A42662F}"/>
              </a:ext>
            </a:extLst>
          </p:cNvPr>
          <p:cNvSpPr txBox="1"/>
          <p:nvPr/>
        </p:nvSpPr>
        <p:spPr>
          <a:xfrm>
            <a:off x="7276953" y="4160520"/>
            <a:ext cx="11001045" cy="548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spc="1085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Theme 07 · Beyond the Known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8208B8C-4891-DDDE-5A7C-C3CBDEBEE223}"/>
              </a:ext>
            </a:extLst>
          </p:cNvPr>
          <p:cNvSpPr txBox="1"/>
          <p:nvPr/>
        </p:nvSpPr>
        <p:spPr>
          <a:xfrm>
            <a:off x="7299599" y="7159549"/>
            <a:ext cx="1100104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spc="1085" dirty="0">
                <a:latin typeface="Jingleberry"/>
                <a:ea typeface="Jingleberry"/>
                <a:cs typeface="Jingleberry"/>
                <a:sym typeface="Jingleberry"/>
              </a:rPr>
              <a:t>Tek Kshetri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FAB141C4-1788-5D80-CA18-AFFA1BE44FC0}"/>
              </a:ext>
            </a:extLst>
          </p:cNvPr>
          <p:cNvSpPr txBox="1"/>
          <p:nvPr/>
        </p:nvSpPr>
        <p:spPr>
          <a:xfrm>
            <a:off x="7294654" y="8186091"/>
            <a:ext cx="11012396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800" spc="1085" dirty="0" err="1">
                <a:latin typeface="Jingleberry"/>
                <a:ea typeface="Jingleberry"/>
                <a:cs typeface="Jingleberry"/>
                <a:sym typeface="Jingleberry"/>
              </a:rPr>
              <a:t>OSGeo</a:t>
            </a:r>
            <a:r>
              <a:rPr lang="en-US" sz="2800" spc="1085" dirty="0">
                <a:latin typeface="Jingleberry"/>
                <a:ea typeface="Jingleberry"/>
                <a:cs typeface="Jingleberry"/>
                <a:sym typeface="Jingleberry"/>
              </a:rPr>
              <a:t> Nepal, Nepal</a:t>
            </a:r>
          </a:p>
        </p:txBody>
      </p:sp>
      <p:pic>
        <p:nvPicPr>
          <p:cNvPr id="7" name="Picture 6" descr="Generated image 1">
            <a:extLst>
              <a:ext uri="{FF2B5EF4-FFF2-40B4-BE49-F238E27FC236}">
                <a16:creationId xmlns:a16="http://schemas.microsoft.com/office/drawing/2014/main" id="{AEA92AA3-D8F6-2D17-6B9D-7E49A798B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853"/>
          <a:stretch>
            <a:fillRect/>
          </a:stretch>
        </p:blipFill>
        <p:spPr>
          <a:xfrm>
            <a:off x="46852" y="17834"/>
            <a:ext cx="8002937" cy="102513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2206C6-4908-CAAF-17C9-172CF524BB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9409"/>
          <a:stretch>
            <a:fillRect/>
          </a:stretch>
        </p:blipFill>
        <p:spPr>
          <a:xfrm>
            <a:off x="8255379" y="17834"/>
            <a:ext cx="9762706" cy="10894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78624" y="3063240"/>
            <a:ext cx="1100937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0" i="1">
                <a:solidFill>
                  <a:srgbClr val="6B5B78"/>
                </a:solidFill>
                <a:latin typeface="Calibri"/>
              </a:rPr>
              <a:t>An open, living 3D map of the 2026 Bhotekoshi flood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4709160"/>
            <a:ext cx="110093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6B5B78"/>
                </a:solidFill>
                <a:latin typeface="Calibri"/>
              </a:rPr>
              <a:t>An open challenge for disaster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0" t="-40382" b="-3888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52400" y="1332182"/>
            <a:ext cx="17907000" cy="8652257"/>
          </a:xfrm>
          <a:custGeom>
            <a:avLst/>
            <a:gdLst/>
            <a:ahLst/>
            <a:cxnLst/>
            <a:rect l="l" t="t" r="r" b="b"/>
            <a:pathLst>
              <a:path w="8621486" h="8229600">
                <a:moveTo>
                  <a:pt x="0" y="0"/>
                </a:moveTo>
                <a:lnTo>
                  <a:pt x="8621486" y="0"/>
                </a:lnTo>
                <a:lnTo>
                  <a:pt x="86214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5" name="TextBox 5"/>
          <p:cNvSpPr txBox="1"/>
          <p:nvPr/>
        </p:nvSpPr>
        <p:spPr>
          <a:xfrm>
            <a:off x="-609600" y="325421"/>
            <a:ext cx="7174351" cy="68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5"/>
              </a:lnSpc>
            </a:pPr>
            <a:r>
              <a:rPr lang="en-US" sz="5165" b="1" spc="506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011680"/>
            <a:ext cx="1481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4A2F5C"/>
                </a:solidFill>
                <a:latin typeface="Calibr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7980" y="6821159"/>
            <a:ext cx="1243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4A2F5C"/>
                </a:solidFill>
                <a:latin typeface="Calibri"/>
              </a:rPr>
              <a:t>Innovation statement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BEAFE8-7593-1275-7FC3-A959D1068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2462" y="1399131"/>
            <a:ext cx="6339148" cy="8315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98648" y="2651761"/>
            <a:ext cx="8586023" cy="2634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 dirty="0">
                <a:solidFill>
                  <a:srgbClr val="2E2140"/>
                </a:solidFill>
                <a:latin typeface="Calibri"/>
              </a:rPr>
              <a:t>On 26 August 2026, a rock and ice collapse near Langtang </a:t>
            </a:r>
            <a:r>
              <a:rPr sz="2200" b="0" i="0" dirty="0" err="1">
                <a:solidFill>
                  <a:srgbClr val="2E2140"/>
                </a:solidFill>
                <a:latin typeface="Calibri"/>
              </a:rPr>
              <a:t>Lirung</a:t>
            </a:r>
            <a:r>
              <a:rPr sz="2200" b="0" i="0" dirty="0">
                <a:solidFill>
                  <a:srgbClr val="2E2140"/>
                </a:solidFill>
                <a:latin typeface="Calibri"/>
              </a:rPr>
              <a:t> sent a debris flood about 72 km down the </a:t>
            </a:r>
            <a:r>
              <a:rPr sz="2200" b="0" i="0" dirty="0" err="1">
                <a:solidFill>
                  <a:srgbClr val="2E2140"/>
                </a:solidFill>
                <a:latin typeface="Calibri"/>
              </a:rPr>
              <a:t>Bhotekoshi</a:t>
            </a:r>
            <a:r>
              <a:rPr sz="2200" b="0" i="0" dirty="0">
                <a:solidFill>
                  <a:srgbClr val="2E2140"/>
                </a:solidFill>
                <a:latin typeface="Calibri"/>
              </a:rPr>
              <a:t>–</a:t>
            </a:r>
            <a:r>
              <a:rPr sz="2200" b="0" i="0" dirty="0" err="1">
                <a:solidFill>
                  <a:srgbClr val="2E2140"/>
                </a:solidFill>
                <a:latin typeface="Calibri"/>
              </a:rPr>
              <a:t>Trishuli</a:t>
            </a:r>
            <a:r>
              <a:rPr sz="2200" b="0" i="0" dirty="0">
                <a:solidFill>
                  <a:srgbClr val="2E2140"/>
                </a:solidFill>
                <a:latin typeface="Calibri"/>
              </a:rPr>
              <a:t> valley in </a:t>
            </a:r>
            <a:r>
              <a:rPr sz="2200" b="0" i="0" dirty="0" err="1">
                <a:solidFill>
                  <a:srgbClr val="2E2140"/>
                </a:solidFill>
                <a:latin typeface="Calibri"/>
              </a:rPr>
              <a:t>Rasuwa</a:t>
            </a:r>
            <a:r>
              <a:rPr sz="2200" b="0" i="0" dirty="0">
                <a:solidFill>
                  <a:srgbClr val="2E2140"/>
                </a:solidFill>
                <a:latin typeface="Calibri"/>
              </a:rPr>
              <a:t>, Nepal. Information about the damage was scattered across agencies, volunteers and satellite platforms. The </a:t>
            </a:r>
            <a:r>
              <a:rPr sz="2200" b="0" i="0" dirty="0" err="1">
                <a:solidFill>
                  <a:srgbClr val="2E2140"/>
                </a:solidFill>
                <a:latin typeface="Calibri"/>
              </a:rPr>
              <a:t>Rasuwa</a:t>
            </a:r>
            <a:r>
              <a:rPr sz="2200" b="0" i="0" dirty="0">
                <a:solidFill>
                  <a:srgbClr val="2E2140"/>
                </a:solidFill>
                <a:latin typeface="Calibri"/>
              </a:rPr>
              <a:t> Flood Portal brings it into one open 3D web map: flood extent, impact layers, landslides and Sentinel-2 before/after imagery. It shows ~145 km of damaged road and 190 exposed settlements along a 45 km² flood extent.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7980" y="7695220"/>
            <a:ext cx="8007040" cy="1496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 dirty="0">
                <a:solidFill>
                  <a:srgbClr val="2E2140"/>
                </a:solidFill>
                <a:latin typeface="Calibri"/>
              </a:rPr>
              <a:t>A living portal, not a one-off map. Anyone can add a dataset by editing one config file, with no code. It puts impact data, a 3D Sentinel-2 before/after swipe (True Color, False Color, NDVI) and a flood-surge elevation profile together in one free, open tool.</a:t>
            </a:r>
          </a:p>
        </p:txBody>
      </p:sp>
      <p:sp>
        <p:nvSpPr>
          <p:cNvPr id="6" name="Freeform 6"/>
          <p:cNvSpPr/>
          <p:nvPr/>
        </p:nvSpPr>
        <p:spPr>
          <a:xfrm>
            <a:off x="15786799" y="6961943"/>
            <a:ext cx="4088001" cy="4073135"/>
          </a:xfrm>
          <a:custGeom>
            <a:avLst/>
            <a:gdLst/>
            <a:ahLst/>
            <a:cxnLst/>
            <a:rect l="l" t="t" r="r" b="b"/>
            <a:pathLst>
              <a:path w="4088001" h="4073135">
                <a:moveTo>
                  <a:pt x="0" y="0"/>
                </a:moveTo>
                <a:lnTo>
                  <a:pt x="4088001" y="0"/>
                </a:lnTo>
                <a:lnTo>
                  <a:pt x="4088001" y="4073136"/>
                </a:lnTo>
                <a:lnTo>
                  <a:pt x="0" y="4073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>
            <a:spLocks noChangeAspect="1"/>
          </p:cNvSpPr>
          <p:nvPr/>
        </p:nvSpPr>
        <p:spPr>
          <a:xfrm>
            <a:off x="-2971885" y="5738630"/>
            <a:ext cx="7093367" cy="11916000"/>
          </a:xfrm>
          <a:custGeom>
            <a:avLst/>
            <a:gdLst/>
            <a:ahLst/>
            <a:cxnLst/>
            <a:rect l="l" t="t" r="r" b="b"/>
            <a:pathLst>
              <a:path w="6192385" h="10402451">
                <a:moveTo>
                  <a:pt x="0" y="0"/>
                </a:moveTo>
                <a:lnTo>
                  <a:pt x="6192385" y="0"/>
                </a:lnTo>
                <a:lnTo>
                  <a:pt x="6192385" y="10402451"/>
                </a:lnTo>
                <a:lnTo>
                  <a:pt x="0" y="1040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0" y="67093"/>
            <a:ext cx="1089660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19"/>
              </a:lnSpc>
            </a:pPr>
            <a:r>
              <a:rPr lang="en-US" sz="8799" spc="879" dirty="0">
                <a:solidFill>
                  <a:srgbClr val="6D4F6D"/>
                </a:solidFill>
                <a:latin typeface="Jingleberry"/>
                <a:ea typeface="Jingleberry"/>
                <a:cs typeface="Jingleberry"/>
                <a:sym typeface="Jingleberry"/>
              </a:rPr>
              <a:t>BASIC Information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045820-F1E5-9E44-7986-E791DCD6893A}"/>
              </a:ext>
            </a:extLst>
          </p:cNvPr>
          <p:cNvGrpSpPr/>
          <p:nvPr/>
        </p:nvGrpSpPr>
        <p:grpSpPr>
          <a:xfrm>
            <a:off x="4106242" y="1733134"/>
            <a:ext cx="4172285" cy="3982636"/>
            <a:chOff x="13118200" y="5285189"/>
            <a:chExt cx="4172285" cy="3982636"/>
          </a:xfrm>
        </p:grpSpPr>
        <p:sp>
          <p:nvSpPr>
            <p:cNvPr id="6" name="Freeform 6"/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94EE854-14FC-113A-A219-E8C1B1F5DF7B}"/>
              </a:ext>
            </a:extLst>
          </p:cNvPr>
          <p:cNvGrpSpPr/>
          <p:nvPr/>
        </p:nvGrpSpPr>
        <p:grpSpPr>
          <a:xfrm>
            <a:off x="8452298" y="1733134"/>
            <a:ext cx="4172285" cy="3982636"/>
            <a:chOff x="13118200" y="5285189"/>
            <a:chExt cx="4172285" cy="3982636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B2886D8-7B68-6B55-B17F-8E10FA3D1B59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C6B737-CDB2-DA94-8EC2-B401491F4CB6}"/>
              </a:ext>
            </a:extLst>
          </p:cNvPr>
          <p:cNvGrpSpPr/>
          <p:nvPr/>
        </p:nvGrpSpPr>
        <p:grpSpPr>
          <a:xfrm>
            <a:off x="12801600" y="1733134"/>
            <a:ext cx="4172285" cy="3982636"/>
            <a:chOff x="13118200" y="5285189"/>
            <a:chExt cx="4172285" cy="3982636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075E93B-A5BF-5EB2-28D9-F30AD0DA795E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6782D05-7766-AD62-D148-D0C1F6BC7293}"/>
              </a:ext>
            </a:extLst>
          </p:cNvPr>
          <p:cNvGrpSpPr/>
          <p:nvPr/>
        </p:nvGrpSpPr>
        <p:grpSpPr>
          <a:xfrm>
            <a:off x="4106241" y="6003217"/>
            <a:ext cx="4172285" cy="3982636"/>
            <a:chOff x="13118200" y="5285189"/>
            <a:chExt cx="4172285" cy="3982636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8BA71829-3114-A612-2003-9E0D39EC6B16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56D40A4-8FD9-C02B-BA32-DE5B620A0E2D}"/>
              </a:ext>
            </a:extLst>
          </p:cNvPr>
          <p:cNvGrpSpPr/>
          <p:nvPr/>
        </p:nvGrpSpPr>
        <p:grpSpPr>
          <a:xfrm>
            <a:off x="8436736" y="6003217"/>
            <a:ext cx="4172285" cy="3982636"/>
            <a:chOff x="13118200" y="5285189"/>
            <a:chExt cx="4172285" cy="3982636"/>
          </a:xfrm>
        </p:grpSpPr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AFDE0B61-4977-A16D-6EE4-1734E43FDF42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22B042-77BD-3376-B6CD-9525299A5BFE}"/>
              </a:ext>
            </a:extLst>
          </p:cNvPr>
          <p:cNvGrpSpPr/>
          <p:nvPr/>
        </p:nvGrpSpPr>
        <p:grpSpPr>
          <a:xfrm>
            <a:off x="12801600" y="6010067"/>
            <a:ext cx="4172285" cy="3982636"/>
            <a:chOff x="13118200" y="5285189"/>
            <a:chExt cx="4172285" cy="3982636"/>
          </a:xfrm>
        </p:grpSpPr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483E51B-117D-2174-35B6-8A5086AE5E92}"/>
                </a:ext>
              </a:extLst>
            </p:cNvPr>
            <p:cNvSpPr/>
            <p:nvPr/>
          </p:nvSpPr>
          <p:spPr>
            <a:xfrm>
              <a:off x="13118200" y="5285189"/>
              <a:ext cx="4172285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4608576" y="2011679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A2F5C"/>
                </a:solidFill>
                <a:latin typeface="Calibri"/>
              </a:rPr>
              <a:t>Study Area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576" y="2560320"/>
            <a:ext cx="34747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Bhotekoshi–Trishuli river corridor, Bagmati &amp; Gandaki provinces, Nepal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From the Langtang Lirung glacier source to the downstream Trishuli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24 affected municipalities in 8 districts, incl. Rasuwa, Nuwakot, Dhading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1976" y="2011679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A2F5C"/>
                </a:solidFill>
                <a:latin typeface="Calibri"/>
              </a:rPr>
              <a:t>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1976" y="2560320"/>
            <a:ext cx="34747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Sentinel-2 L2A, 12 Aug &amp; 21 Sep 2026 (Copernicus)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Vantor post-event imagery (HOT)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OSM-based impact layers: roads, settlements, facilities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BGS landslide inventory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HOT/HDX, Overture, NAXA; AWS terrain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304520" y="2011679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A2F5C"/>
                </a:solidFill>
                <a:latin typeface="Calibri"/>
              </a:rPr>
              <a:t>Method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04520" y="2560320"/>
            <a:ext cx="34747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Collect &amp; check open datasets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Clean and reproject to GeoJSON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Register each layer in one config file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Render in 3D with MapLibre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Sentinel-2 swipe + NDVI for change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6" y="62819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A2F5C"/>
                </a:solidFill>
                <a:latin typeface="Calibri"/>
              </a:rPr>
              <a:t>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8576" y="6830568"/>
            <a:ext cx="34747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Live, open web portal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40 toggleable map layers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Before/after swipe, 3D tour, elevation profile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Layer stats + downloadable GeoJSON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62819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A2F5C"/>
                </a:solidFill>
                <a:latin typeface="Calibri"/>
              </a:rPr>
              <a:t>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42832" y="6830568"/>
            <a:ext cx="34747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Responders: see which roads, bridges and settlements to reach first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Mappers &amp; researchers: one shared base map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0" i="0">
                <a:solidFill>
                  <a:srgbClr val="2E2140"/>
                </a:solidFill>
                <a:latin typeface="Calibri"/>
              </a:rPr>
              <a:t>Media &amp; public: understand the event visually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304520" y="62819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A2F5C"/>
                </a:solidFill>
                <a:latin typeface="Calibri"/>
              </a:rPr>
              <a:t>SDG Connection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04520" y="6830568"/>
            <a:ext cx="347472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1" i="0">
                <a:solidFill>
                  <a:srgbClr val="2E2140"/>
                </a:solidFill>
                <a:latin typeface="Calibri"/>
              </a:rPr>
              <a:t>SDG 11.5 </a:t>
            </a:r>
            <a:r>
              <a:rPr sz="1600" b="0" i="0">
                <a:solidFill>
                  <a:srgbClr val="2E2140"/>
                </a:solidFill>
                <a:latin typeface="Calibri"/>
              </a:rPr>
              <a:t>reduce disaster losses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1" i="0">
                <a:solidFill>
                  <a:srgbClr val="2E2140"/>
                </a:solidFill>
                <a:latin typeface="Calibri"/>
              </a:rPr>
              <a:t>SDG 13.1 </a:t>
            </a:r>
            <a:r>
              <a:rPr sz="1600" b="0" i="0">
                <a:solidFill>
                  <a:srgbClr val="2E2140"/>
                </a:solidFill>
                <a:latin typeface="Calibri"/>
              </a:rPr>
              <a:t>resilience to climate hazards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1" i="0">
                <a:solidFill>
                  <a:srgbClr val="2E2140"/>
                </a:solidFill>
                <a:latin typeface="Calibri"/>
              </a:rPr>
              <a:t>SDG 9.1 </a:t>
            </a:r>
            <a:r>
              <a:rPr sz="1600" b="0" i="0">
                <a:solidFill>
                  <a:srgbClr val="2E2140"/>
                </a:solidFill>
                <a:latin typeface="Calibri"/>
              </a:rPr>
              <a:t>resilient infrastructure</a:t>
            </a:r>
          </a:p>
          <a:p>
            <a:pPr marL="201168" indent="-201168" algn="l">
              <a:spcAft>
                <a:spcPts val="600"/>
              </a:spcAft>
              <a:buClr>
                <a:srgbClr val="4A2F5C"/>
              </a:buClr>
              <a:buFont typeface="Arial"/>
              <a:buChar char="•"/>
            </a:pPr>
            <a:r>
              <a:rPr sz="1600" b="1" i="0">
                <a:solidFill>
                  <a:srgbClr val="2E2140"/>
                </a:solidFill>
                <a:latin typeface="Calibri"/>
              </a:rPr>
              <a:t>SDG 17 </a:t>
            </a:r>
            <a:r>
              <a:rPr sz="1600" b="0" i="0">
                <a:solidFill>
                  <a:srgbClr val="2E2140"/>
                </a:solidFill>
                <a:latin typeface="Calibri"/>
              </a:rPr>
              <a:t>open-data partnerships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0" y="67093"/>
            <a:ext cx="10896600" cy="11819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119"/>
              </a:lnSpc>
            </a:pPr>
            <a:r>
              <a:rPr lang="en-US" sz="6000" b="1" spc="879" dirty="0">
                <a:solidFill>
                  <a:srgbClr val="6D4F6D"/>
                </a:solidFill>
                <a:latin typeface="Jingleberry"/>
                <a:ea typeface="Jingleberry"/>
                <a:cs typeface="Jingleberry"/>
                <a:sym typeface="Jingleberry"/>
              </a:rPr>
              <a:t>	Method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C6B737-CDB2-DA94-8EC2-B401491F4CB6}"/>
              </a:ext>
            </a:extLst>
          </p:cNvPr>
          <p:cNvGrpSpPr>
            <a:grpSpLocks noChangeAspect="1"/>
          </p:cNvGrpSpPr>
          <p:nvPr/>
        </p:nvGrpSpPr>
        <p:grpSpPr>
          <a:xfrm>
            <a:off x="800001" y="1448638"/>
            <a:ext cx="16741241" cy="8638743"/>
            <a:chOff x="13118200" y="5285189"/>
            <a:chExt cx="7718052" cy="3982636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075E93B-A5BF-5EB2-28D9-F30AD0DA795E}"/>
                </a:ext>
              </a:extLst>
            </p:cNvPr>
            <p:cNvSpPr/>
            <p:nvPr/>
          </p:nvSpPr>
          <p:spPr>
            <a:xfrm>
              <a:off x="13118200" y="5285189"/>
              <a:ext cx="7718052" cy="3982636"/>
            </a:xfrm>
            <a:custGeom>
              <a:avLst/>
              <a:gdLst/>
              <a:ahLst/>
              <a:cxnLst/>
              <a:rect l="l" t="t" r="r" b="b"/>
              <a:pathLst>
                <a:path w="4172285" h="3982636">
                  <a:moveTo>
                    <a:pt x="0" y="0"/>
                  </a:moveTo>
                  <a:lnTo>
                    <a:pt x="4172285" y="0"/>
                  </a:lnTo>
                  <a:lnTo>
                    <a:pt x="4172285" y="3982636"/>
                  </a:lnTo>
                  <a:lnTo>
                    <a:pt x="0" y="3982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6" name="Oval 25"/>
          <p:cNvSpPr/>
          <p:nvPr/>
        </p:nvSpPr>
        <p:spPr>
          <a:xfrm>
            <a:off x="3566159" y="1965960"/>
            <a:ext cx="1005840" cy="1005840"/>
          </a:xfrm>
          <a:prstGeom prst="ellipse">
            <a:avLst/>
          </a:prstGeom>
          <a:solidFill>
            <a:srgbClr val="4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19" y="31546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Collect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19" y="361188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5B78"/>
                </a:solidFill>
                <a:latin typeface="Calibri"/>
              </a:rPr>
              <a:t>Gather open data from OSM, HOT/HDX, BGS, Copernicus and partners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937759" y="2304288"/>
            <a:ext cx="1234440" cy="329184"/>
          </a:xfrm>
          <a:prstGeom prst="rightArrow">
            <a:avLst/>
          </a:prstGeom>
          <a:solidFill>
            <a:srgbClr val="C9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46520" y="1965960"/>
            <a:ext cx="1005840" cy="1005840"/>
          </a:xfrm>
          <a:prstGeom prst="ellipse">
            <a:avLst/>
          </a:prstGeom>
          <a:solidFill>
            <a:srgbClr val="1C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31546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Standardise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361188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5B78"/>
                </a:solidFill>
                <a:latin typeface="Calibri"/>
              </a:rPr>
              <a:t>Check, clean and reproject every layer to GeoJSON (EPSG:4326)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18119" y="2304288"/>
            <a:ext cx="1234440" cy="329184"/>
          </a:xfrm>
          <a:prstGeom prst="rightArrow">
            <a:avLst/>
          </a:prstGeom>
          <a:solidFill>
            <a:srgbClr val="C9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9326880" y="1965960"/>
            <a:ext cx="1005840" cy="1005840"/>
          </a:xfrm>
          <a:prstGeom prst="ellipse">
            <a:avLst/>
          </a:prstGeom>
          <a:solidFill>
            <a:srgbClr val="D9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1546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Configure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61188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5B78"/>
                </a:solidFill>
                <a:latin typeface="Calibri"/>
              </a:rPr>
              <a:t>Register each layer in one JSON file: style, popup, legend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698480" y="2304288"/>
            <a:ext cx="1234440" cy="329184"/>
          </a:xfrm>
          <a:prstGeom prst="rightArrow">
            <a:avLst/>
          </a:prstGeom>
          <a:solidFill>
            <a:srgbClr val="C9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12207240" y="1965960"/>
            <a:ext cx="1005840" cy="1005840"/>
          </a:xfrm>
          <a:prstGeom prst="ellipse">
            <a:avLst/>
          </a:prstGeom>
          <a:solidFill>
            <a:srgbClr val="4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31546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Visualise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361188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5B78"/>
                </a:solidFill>
                <a:latin typeface="Calibri"/>
              </a:rPr>
              <a:t>Render in 3D with MapLibre + terrain; Sentinel-2 via WMS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13578840" y="2304288"/>
            <a:ext cx="1234440" cy="329184"/>
          </a:xfrm>
          <a:prstGeom prst="rightArrow">
            <a:avLst/>
          </a:prstGeom>
          <a:solidFill>
            <a:srgbClr val="C9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15087599" y="1965960"/>
            <a:ext cx="1005840" cy="1005840"/>
          </a:xfrm>
          <a:prstGeom prst="ellipse">
            <a:avLst/>
          </a:prstGeom>
          <a:solidFill>
            <a:srgbClr val="1C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10359" y="31546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Share &amp; update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310359" y="361188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6B5B78"/>
                </a:solidFill>
                <a:latin typeface="Calibri"/>
              </a:rPr>
              <a:t>Publish on GitHub Pages; new data goes live via pull 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88920" y="534924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A2F5C"/>
                </a:solidFill>
                <a:latin typeface="Calibri"/>
              </a:rPr>
              <a:t>Adding a layer = a few lines of JSON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88920" y="5897880"/>
            <a:ext cx="6949440" cy="3611880"/>
          </a:xfrm>
          <a:prstGeom prst="roundRect">
            <a:avLst>
              <a:gd name="adj" fmla="val 5000"/>
            </a:avLst>
          </a:prstGeom>
          <a:solidFill>
            <a:srgbClr val="2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{</a:t>
            </a:r>
          </a:p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  "id": "road_damaged",</a:t>
            </a:r>
          </a:p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  "label": "Damaged Road Network",</a:t>
            </a:r>
          </a:p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  "type": "line",</a:t>
            </a:r>
          </a:p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  "data": "data/.../Road_damaged.geojson",</a:t>
            </a:r>
          </a:p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  "paint": { "lineColor": "#d62728" },</a:t>
            </a:r>
          </a:p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  "active": true</a:t>
            </a:r>
          </a:p>
          <a:p>
            <a:pPr algn="l"/>
            <a:r>
              <a:rPr sz="1700" b="0" i="0">
                <a:solidFill>
                  <a:srgbClr val="E9DFF0"/>
                </a:solidFill>
                <a:latin typeface="Courier New"/>
              </a:rPr>
              <a:t>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534924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A2F5C"/>
                </a:solidFill>
                <a:latin typeface="Calibri"/>
              </a:rPr>
              <a:t>Built with open tools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0" y="5897880"/>
            <a:ext cx="6949440" cy="3611880"/>
          </a:xfrm>
          <a:prstGeom prst="roundRect">
            <a:avLst>
              <a:gd name="adj" fmla="val 5000"/>
            </a:avLst>
          </a:prstGeom>
          <a:solidFill>
            <a:srgbClr val="F4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marL="201168" indent="-201168" algn="l">
              <a:spcAft>
                <a:spcPts val="1000"/>
              </a:spcAft>
              <a:buClr>
                <a:srgbClr val="4A2F5C"/>
              </a:buClr>
              <a:buFont typeface="Arial"/>
              <a:buChar char="•"/>
            </a:pPr>
            <a:r>
              <a:rPr sz="1700" b="1" i="0">
                <a:solidFill>
                  <a:srgbClr val="2E2140"/>
                </a:solidFill>
                <a:latin typeface="Calibri"/>
              </a:rPr>
              <a:t>MapLibre GL JS </a:t>
            </a:r>
            <a:r>
              <a:rPr sz="1700" b="0" i="0">
                <a:solidFill>
                  <a:srgbClr val="2E2140"/>
                </a:solidFill>
                <a:latin typeface="Calibri"/>
              </a:rPr>
              <a:t>3D map, terrain, swipe compare</a:t>
            </a:r>
          </a:p>
          <a:p>
            <a:pPr marL="201168" indent="-201168" algn="l">
              <a:spcAft>
                <a:spcPts val="1000"/>
              </a:spcAft>
              <a:buClr>
                <a:srgbClr val="4A2F5C"/>
              </a:buClr>
              <a:buFont typeface="Arial"/>
              <a:buChar char="•"/>
            </a:pPr>
            <a:r>
              <a:rPr sz="1700" b="1" i="0">
                <a:solidFill>
                  <a:srgbClr val="2E2140"/>
                </a:solidFill>
                <a:latin typeface="Calibri"/>
              </a:rPr>
              <a:t>Copernicus Sentinel Hub </a:t>
            </a:r>
            <a:r>
              <a:rPr sz="1700" b="0" i="0">
                <a:solidFill>
                  <a:srgbClr val="2E2140"/>
                </a:solidFill>
                <a:latin typeface="Calibri"/>
              </a:rPr>
              <a:t>Sentinel-2 True/False Color, NDVI</a:t>
            </a:r>
          </a:p>
          <a:p>
            <a:pPr marL="201168" indent="-201168" algn="l">
              <a:spcAft>
                <a:spcPts val="1000"/>
              </a:spcAft>
              <a:buClr>
                <a:srgbClr val="4A2F5C"/>
              </a:buClr>
              <a:buFont typeface="Arial"/>
              <a:buChar char="•"/>
            </a:pPr>
            <a:r>
              <a:rPr sz="1700" b="1" i="0">
                <a:solidFill>
                  <a:srgbClr val="2E2140"/>
                </a:solidFill>
                <a:latin typeface="Calibri"/>
              </a:rPr>
              <a:t>GeoJSON + layers.json </a:t>
            </a:r>
            <a:r>
              <a:rPr sz="1700" b="0" i="0">
                <a:solidFill>
                  <a:srgbClr val="2E2140"/>
                </a:solidFill>
                <a:latin typeface="Calibri"/>
              </a:rPr>
              <a:t>all data and styling in one config</a:t>
            </a:r>
          </a:p>
          <a:p>
            <a:pPr marL="201168" indent="-201168" algn="l">
              <a:spcAft>
                <a:spcPts val="1000"/>
              </a:spcAft>
              <a:buClr>
                <a:srgbClr val="4A2F5C"/>
              </a:buClr>
              <a:buFont typeface="Arial"/>
              <a:buChar char="•"/>
            </a:pPr>
            <a:r>
              <a:rPr sz="1700" b="1" i="0">
                <a:solidFill>
                  <a:srgbClr val="2E2140"/>
                </a:solidFill>
                <a:latin typeface="Calibri"/>
              </a:rPr>
              <a:t>Python </a:t>
            </a:r>
            <a:r>
              <a:rPr sz="1700" b="0" i="0">
                <a:solidFill>
                  <a:srgbClr val="2E2140"/>
                </a:solidFill>
                <a:latin typeface="Calibri"/>
              </a:rPr>
              <a:t>data prep and the elevation profile</a:t>
            </a:r>
          </a:p>
          <a:p>
            <a:pPr marL="201168" indent="-201168" algn="l">
              <a:spcAft>
                <a:spcPts val="1000"/>
              </a:spcAft>
              <a:buClr>
                <a:srgbClr val="4A2F5C"/>
              </a:buClr>
              <a:buFont typeface="Arial"/>
              <a:buChar char="•"/>
            </a:pPr>
            <a:r>
              <a:rPr sz="1700" b="1" i="0">
                <a:solidFill>
                  <a:srgbClr val="2E2140"/>
                </a:solidFill>
                <a:latin typeface="Calibri"/>
              </a:rPr>
              <a:t>GitHub Pages </a:t>
            </a:r>
            <a:r>
              <a:rPr sz="1700" b="0" i="0">
                <a:solidFill>
                  <a:srgbClr val="2E2140"/>
                </a:solidFill>
                <a:latin typeface="Calibri"/>
              </a:rPr>
              <a:t>free hosting, open contributions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76200" y="266700"/>
            <a:ext cx="18135600" cy="9905999"/>
            <a:chOff x="0" y="0"/>
            <a:chExt cx="17226556" cy="10675605"/>
          </a:xfrm>
        </p:grpSpPr>
        <p:grpSp>
          <p:nvGrpSpPr>
            <p:cNvPr id="4" name="Group 4"/>
            <p:cNvGrpSpPr/>
            <p:nvPr/>
          </p:nvGrpSpPr>
          <p:grpSpPr>
            <a:xfrm>
              <a:off x="194102" y="194102"/>
              <a:ext cx="17032455" cy="10481503"/>
              <a:chOff x="0" y="0"/>
              <a:chExt cx="3522136" cy="21674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7032455" cy="10481503"/>
              <a:chOff x="0" y="0"/>
              <a:chExt cx="3522136" cy="216746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2011680" y="264639"/>
            <a:ext cx="13716000" cy="1175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6000" b="1" spc="1009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Results</a:t>
            </a:r>
            <a:r>
              <a:rPr sz="3200" b="0">
                <a:solidFill>
                  <a:srgbClr val="6B5B78"/>
                </a:solidFill>
                <a:latin typeface="Calibri"/>
              </a:rPr>
              <a:t>   Impact at a glance</a:t>
            </a:r>
          </a:p>
        </p:txBody>
      </p:sp>
      <p:sp>
        <p:nvSpPr>
          <p:cNvPr id="13" name="Freeform 13"/>
          <p:cNvSpPr/>
          <p:nvPr/>
        </p:nvSpPr>
        <p:spPr>
          <a:xfrm>
            <a:off x="-952680" y="-278767"/>
            <a:ext cx="2828746" cy="3268508"/>
          </a:xfrm>
          <a:custGeom>
            <a:avLst/>
            <a:gdLst/>
            <a:ahLst/>
            <a:cxnLst/>
            <a:rect l="l" t="t" r="r" b="b"/>
            <a:pathLst>
              <a:path w="2828746" h="3268508">
                <a:moveTo>
                  <a:pt x="0" y="0"/>
                </a:moveTo>
                <a:lnTo>
                  <a:pt x="2828745" y="0"/>
                </a:lnTo>
                <a:lnTo>
                  <a:pt x="2828745" y="3268509"/>
                </a:lnTo>
                <a:lnTo>
                  <a:pt x="0" y="3268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82914EFA-D117-2898-2957-C11513BC250F}"/>
              </a:ext>
            </a:extLst>
          </p:cNvPr>
          <p:cNvSpPr/>
          <p:nvPr/>
        </p:nvSpPr>
        <p:spPr>
          <a:xfrm>
            <a:off x="348951" y="7297260"/>
            <a:ext cx="1386841" cy="2480155"/>
          </a:xfrm>
          <a:custGeom>
            <a:avLst/>
            <a:gdLst/>
            <a:ahLst/>
            <a:cxnLst/>
            <a:rect l="l" t="t" r="r" b="b"/>
            <a:pathLst>
              <a:path w="5332548" h="9191839">
                <a:moveTo>
                  <a:pt x="0" y="0"/>
                </a:moveTo>
                <a:lnTo>
                  <a:pt x="5332547" y="0"/>
                </a:lnTo>
                <a:lnTo>
                  <a:pt x="5332547" y="9191839"/>
                </a:lnTo>
                <a:lnTo>
                  <a:pt x="0" y="919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ED37CE-B78D-2AA5-6C3C-840715DFB78B}"/>
              </a:ext>
            </a:extLst>
          </p:cNvPr>
          <p:cNvSpPr txBox="1"/>
          <p:nvPr/>
        </p:nvSpPr>
        <p:spPr>
          <a:xfrm>
            <a:off x="2016337" y="9189995"/>
            <a:ext cx="15991117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D9692A"/>
                </a:solidFill>
                <a:latin typeface="Calibri"/>
              </a:rPr>
              <a:t>Takeaway: </a:t>
            </a:r>
            <a:r>
              <a:rPr sz="1900" b="0" i="0">
                <a:solidFill>
                  <a:srgbClr val="2E2140"/>
                </a:solidFill>
                <a:latin typeface="Calibri"/>
              </a:rPr>
              <a:t>with ~145 km of road damaged and 163 km more at risk, the map shows responders which settlements and facilities to reach first.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271662" y="-198673"/>
            <a:ext cx="2054437" cy="1734693"/>
          </a:xfrm>
          <a:custGeom>
            <a:avLst/>
            <a:gdLst/>
            <a:ahLst/>
            <a:cxnLst/>
            <a:rect l="l" t="t" r="r" b="b"/>
            <a:pathLst>
              <a:path w="2977000" h="2430315">
                <a:moveTo>
                  <a:pt x="0" y="0"/>
                </a:moveTo>
                <a:lnTo>
                  <a:pt x="2977000" y="0"/>
                </a:lnTo>
                <a:lnTo>
                  <a:pt x="2977000" y="2430315"/>
                </a:lnTo>
                <a:lnTo>
                  <a:pt x="0" y="2430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5" name="Rounded Rectangle 24"/>
          <p:cNvSpPr/>
          <p:nvPr/>
        </p:nvSpPr>
        <p:spPr>
          <a:xfrm>
            <a:off x="10085832" y="1673352"/>
            <a:ext cx="7854696" cy="7132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9B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60152" y="1874519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 i="0">
                <a:solidFill>
                  <a:srgbClr val="D9692A"/>
                </a:solidFill>
                <a:latin typeface="Calibri"/>
              </a:rPr>
              <a:t>~145 km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6B5B78"/>
                </a:solidFill>
                <a:latin typeface="Calibri"/>
              </a:rPr>
              <a:t>damaged road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29032" y="1874519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 i="0">
                <a:solidFill>
                  <a:srgbClr val="D9692A"/>
                </a:solidFill>
                <a:latin typeface="Calibri"/>
              </a:rPr>
              <a:t>~163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29032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6B5B78"/>
                </a:solidFill>
                <a:latin typeface="Calibri"/>
              </a:rPr>
              <a:t>road at 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97912" y="1874519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800" b="1" i="0" dirty="0">
                <a:solidFill>
                  <a:srgbClr val="1C8494"/>
                </a:solidFill>
                <a:latin typeface="Calibri"/>
              </a:rPr>
              <a:t>45 km²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97912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6B5B78"/>
                </a:solidFill>
                <a:latin typeface="Calibri"/>
              </a:rPr>
              <a:t>flood extent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10332720" y="3154680"/>
          <a:ext cx="74066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0378440" y="8321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6B5B78"/>
                </a:solidFill>
                <a:latin typeface="Calibri"/>
              </a:rPr>
              <a:t>* within the mapped flood extent.  Source: OSM-based impact layers on the portal; road lengths summed from segments.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DF5495-1834-BDE2-9C3B-E7F451916E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0112" y="1683743"/>
            <a:ext cx="7781982" cy="7124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5BC21-C85B-4688-17E7-30F262C59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1BFE6E-8158-BEF9-C69A-37A9978DA1E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A092C80-3F1A-1C8D-C1BD-A7D177F9CFE4}"/>
              </a:ext>
            </a:extLst>
          </p:cNvPr>
          <p:cNvGrpSpPr/>
          <p:nvPr/>
        </p:nvGrpSpPr>
        <p:grpSpPr>
          <a:xfrm>
            <a:off x="76200" y="266700"/>
            <a:ext cx="18135600" cy="9905999"/>
            <a:chOff x="0" y="0"/>
            <a:chExt cx="17226556" cy="10675605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6E8674C1-6F0E-E4E8-DCAD-09E61BA398EF}"/>
                </a:ext>
              </a:extLst>
            </p:cNvPr>
            <p:cNvGrpSpPr/>
            <p:nvPr/>
          </p:nvGrpSpPr>
          <p:grpSpPr>
            <a:xfrm>
              <a:off x="194102" y="194102"/>
              <a:ext cx="17032455" cy="10481503"/>
              <a:chOff x="0" y="0"/>
              <a:chExt cx="3522136" cy="2167467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51FD236-8B7B-F584-180D-3A782623D076}"/>
                  </a:ext>
                </a:extLst>
              </p:cNvPr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9F98525F-FFE5-6094-9BCF-71BE6217D1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B4916692-8E13-6D58-E7C9-727404BFB479}"/>
                </a:ext>
              </a:extLst>
            </p:cNvPr>
            <p:cNvGrpSpPr/>
            <p:nvPr/>
          </p:nvGrpSpPr>
          <p:grpSpPr>
            <a:xfrm>
              <a:off x="0" y="0"/>
              <a:ext cx="17032455" cy="10481503"/>
              <a:chOff x="0" y="0"/>
              <a:chExt cx="3522136" cy="2167467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C0A5E6D5-6313-8FC9-4488-6E610148E96D}"/>
                  </a:ext>
                </a:extLst>
              </p:cNvPr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2F8F00D5-31D8-78CE-E0C5-77D9D38DBE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5094F0F9-4F51-A4BB-352F-8AA14E9EB3F1}"/>
              </a:ext>
            </a:extLst>
          </p:cNvPr>
          <p:cNvSpPr txBox="1"/>
          <p:nvPr/>
        </p:nvSpPr>
        <p:spPr>
          <a:xfrm>
            <a:off x="2011680" y="264639"/>
            <a:ext cx="13716000" cy="1175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6000" b="1" spc="1009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Results</a:t>
            </a:r>
            <a:r>
              <a:rPr sz="3200" b="0">
                <a:solidFill>
                  <a:srgbClr val="6B5B78"/>
                </a:solidFill>
                <a:latin typeface="Calibri"/>
              </a:rPr>
              <a:t>   Before vs after, Sentinel-2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3723123-22AC-8B43-1468-2395AF09A170}"/>
              </a:ext>
            </a:extLst>
          </p:cNvPr>
          <p:cNvSpPr/>
          <p:nvPr/>
        </p:nvSpPr>
        <p:spPr>
          <a:xfrm>
            <a:off x="-952680" y="-278767"/>
            <a:ext cx="2828746" cy="3268508"/>
          </a:xfrm>
          <a:custGeom>
            <a:avLst/>
            <a:gdLst/>
            <a:ahLst/>
            <a:cxnLst/>
            <a:rect l="l" t="t" r="r" b="b"/>
            <a:pathLst>
              <a:path w="2828746" h="3268508">
                <a:moveTo>
                  <a:pt x="0" y="0"/>
                </a:moveTo>
                <a:lnTo>
                  <a:pt x="2828745" y="0"/>
                </a:lnTo>
                <a:lnTo>
                  <a:pt x="2828745" y="3268509"/>
                </a:lnTo>
                <a:lnTo>
                  <a:pt x="0" y="3268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Freeform 10">
            <a:extLst>
              <a:ext uri="{FF2B5EF4-FFF2-40B4-BE49-F238E27FC236}">
                <a16:creationId xmlns:a16="http://schemas.microsoft.com/office/drawing/2014/main" id="{CC919CDC-2DC7-D46A-9E91-A814CBF7BB6D}"/>
              </a:ext>
            </a:extLst>
          </p:cNvPr>
          <p:cNvSpPr/>
          <p:nvPr/>
        </p:nvSpPr>
        <p:spPr>
          <a:xfrm>
            <a:off x="348951" y="7297260"/>
            <a:ext cx="1386841" cy="2480155"/>
          </a:xfrm>
          <a:custGeom>
            <a:avLst/>
            <a:gdLst/>
            <a:ahLst/>
            <a:cxnLst/>
            <a:rect l="l" t="t" r="r" b="b"/>
            <a:pathLst>
              <a:path w="5332548" h="9191839">
                <a:moveTo>
                  <a:pt x="0" y="0"/>
                </a:moveTo>
                <a:lnTo>
                  <a:pt x="5332547" y="0"/>
                </a:lnTo>
                <a:lnTo>
                  <a:pt x="5332547" y="9191839"/>
                </a:lnTo>
                <a:lnTo>
                  <a:pt x="0" y="919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747FF5-DDEF-1802-2ECC-28DE85461E11}"/>
              </a:ext>
            </a:extLst>
          </p:cNvPr>
          <p:cNvSpPr txBox="1"/>
          <p:nvPr/>
        </p:nvSpPr>
        <p:spPr>
          <a:xfrm>
            <a:off x="2016337" y="9189995"/>
            <a:ext cx="15991117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dirty="0">
                <a:solidFill>
                  <a:srgbClr val="D9692A"/>
                </a:solidFill>
                <a:latin typeface="Calibri"/>
              </a:rPr>
              <a:t>Takeaway: </a:t>
            </a:r>
            <a:r>
              <a:rPr sz="1900" b="0" i="0" dirty="0">
                <a:solidFill>
                  <a:srgbClr val="2E2140"/>
                </a:solidFill>
                <a:latin typeface="Calibri"/>
              </a:rPr>
              <a:t>one swipe over 3D terrain shows how the river channel and vegetation changed between 12 Aug and 21 Sep, with no GIS skills needed.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367CA35-74C0-7D91-D41C-5F7A951D66CD}"/>
              </a:ext>
            </a:extLst>
          </p:cNvPr>
          <p:cNvSpPr/>
          <p:nvPr/>
        </p:nvSpPr>
        <p:spPr>
          <a:xfrm>
            <a:off x="16271662" y="-198673"/>
            <a:ext cx="2054437" cy="1734693"/>
          </a:xfrm>
          <a:custGeom>
            <a:avLst/>
            <a:gdLst/>
            <a:ahLst/>
            <a:cxnLst/>
            <a:rect l="l" t="t" r="r" b="b"/>
            <a:pathLst>
              <a:path w="2977000" h="2430315">
                <a:moveTo>
                  <a:pt x="0" y="0"/>
                </a:moveTo>
                <a:lnTo>
                  <a:pt x="2977000" y="0"/>
                </a:lnTo>
                <a:lnTo>
                  <a:pt x="2977000" y="2430315"/>
                </a:lnTo>
                <a:lnTo>
                  <a:pt x="0" y="2430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0" name="2026-09-26 23-09-53">
            <a:hlinkClick r:id="" action="ppaction://media"/>
            <a:extLst>
              <a:ext uri="{FF2B5EF4-FFF2-40B4-BE49-F238E27FC236}">
                <a16:creationId xmlns:a16="http://schemas.microsoft.com/office/drawing/2014/main" id="{9F393332-B0F0-276A-8CA0-36FE3E925BD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080411" y="1599745"/>
            <a:ext cx="13493778" cy="759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7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53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557439" y="4195544"/>
            <a:ext cx="4613928" cy="5217601"/>
            <a:chOff x="0" y="0"/>
            <a:chExt cx="6151904" cy="6956802"/>
          </a:xfrm>
        </p:grpSpPr>
        <p:grpSp>
          <p:nvGrpSpPr>
            <p:cNvPr id="4" name="Group 4"/>
            <p:cNvGrpSpPr/>
            <p:nvPr/>
          </p:nvGrpSpPr>
          <p:grpSpPr>
            <a:xfrm>
              <a:off x="203295" y="203295"/>
              <a:ext cx="5948609" cy="6753507"/>
              <a:chOff x="0" y="0"/>
              <a:chExt cx="1174483" cy="133340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5948609" cy="6753507"/>
              <a:chOff x="0" y="0"/>
              <a:chExt cx="1174483" cy="13334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1633639" y="1402482"/>
            <a:ext cx="15173122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 spc="545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References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7439" y="4763770"/>
            <a:ext cx="445936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In Same study area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914317" y="4195544"/>
            <a:ext cx="4611766" cy="5215156"/>
            <a:chOff x="0" y="0"/>
            <a:chExt cx="6149021" cy="6953542"/>
          </a:xfrm>
        </p:grpSpPr>
        <p:grpSp>
          <p:nvGrpSpPr>
            <p:cNvPr id="13" name="Group 13"/>
            <p:cNvGrpSpPr/>
            <p:nvPr/>
          </p:nvGrpSpPr>
          <p:grpSpPr>
            <a:xfrm>
              <a:off x="203200" y="203200"/>
              <a:ext cx="5945821" cy="6750342"/>
              <a:chOff x="0" y="0"/>
              <a:chExt cx="1174483" cy="13334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0"/>
              <a:ext cx="5945821" cy="6750342"/>
              <a:chOff x="0" y="0"/>
              <a:chExt cx="1174483" cy="133340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914317" y="4763770"/>
            <a:ext cx="445936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Similar study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271195" y="4195544"/>
            <a:ext cx="4611766" cy="5215156"/>
            <a:chOff x="0" y="0"/>
            <a:chExt cx="6149021" cy="6953542"/>
          </a:xfrm>
        </p:grpSpPr>
        <p:grpSp>
          <p:nvGrpSpPr>
            <p:cNvPr id="21" name="Group 21"/>
            <p:cNvGrpSpPr/>
            <p:nvPr/>
          </p:nvGrpSpPr>
          <p:grpSpPr>
            <a:xfrm>
              <a:off x="203200" y="203200"/>
              <a:ext cx="5945821" cy="6750342"/>
              <a:chOff x="0" y="0"/>
              <a:chExt cx="1174483" cy="13334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0"/>
              <a:ext cx="5945821" cy="6750342"/>
              <a:chOff x="0" y="0"/>
              <a:chExt cx="1174483" cy="13334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174483" cy="1333401"/>
              </a:xfrm>
              <a:custGeom>
                <a:avLst/>
                <a:gdLst/>
                <a:ahLst/>
                <a:cxnLst/>
                <a:rect l="l" t="t" r="r" b="b"/>
                <a:pathLst>
                  <a:path w="1174483" h="1333401">
                    <a:moveTo>
                      <a:pt x="88541" y="0"/>
                    </a:moveTo>
                    <a:lnTo>
                      <a:pt x="1085942" y="0"/>
                    </a:lnTo>
                    <a:cubicBezTo>
                      <a:pt x="1109425" y="0"/>
                      <a:pt x="1131945" y="9328"/>
                      <a:pt x="1148550" y="25933"/>
                    </a:cubicBezTo>
                    <a:cubicBezTo>
                      <a:pt x="1165155" y="42538"/>
                      <a:pt x="1174483" y="65059"/>
                      <a:pt x="1174483" y="88541"/>
                    </a:cubicBezTo>
                    <a:lnTo>
                      <a:pt x="1174483" y="1244860"/>
                    </a:lnTo>
                    <a:cubicBezTo>
                      <a:pt x="1174483" y="1268342"/>
                      <a:pt x="1165155" y="1290863"/>
                      <a:pt x="1148550" y="1307468"/>
                    </a:cubicBezTo>
                    <a:cubicBezTo>
                      <a:pt x="1131945" y="1324072"/>
                      <a:pt x="1109425" y="1333401"/>
                      <a:pt x="1085942" y="1333401"/>
                    </a:cubicBezTo>
                    <a:lnTo>
                      <a:pt x="88541" y="1333401"/>
                    </a:lnTo>
                    <a:cubicBezTo>
                      <a:pt x="65059" y="1333401"/>
                      <a:pt x="42538" y="1324072"/>
                      <a:pt x="25933" y="1307468"/>
                    </a:cubicBezTo>
                    <a:cubicBezTo>
                      <a:pt x="9328" y="1290863"/>
                      <a:pt x="0" y="1268342"/>
                      <a:pt x="0" y="1244860"/>
                    </a:cubicBezTo>
                    <a:lnTo>
                      <a:pt x="0" y="88541"/>
                    </a:lnTo>
                    <a:cubicBezTo>
                      <a:pt x="0" y="65059"/>
                      <a:pt x="9328" y="42538"/>
                      <a:pt x="25933" y="25933"/>
                    </a:cubicBezTo>
                    <a:cubicBezTo>
                      <a:pt x="42538" y="9328"/>
                      <a:pt x="65059" y="0"/>
                      <a:pt x="8854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1174483" cy="13715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12271195" y="4763770"/>
            <a:ext cx="4459366" cy="44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300" dirty="0">
                <a:solidFill>
                  <a:srgbClr val="484744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Similar solution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2241655" y="820124"/>
            <a:ext cx="3090933" cy="3079693"/>
          </a:xfrm>
          <a:custGeom>
            <a:avLst/>
            <a:gdLst/>
            <a:ahLst/>
            <a:cxnLst/>
            <a:rect l="l" t="t" r="r" b="b"/>
            <a:pathLst>
              <a:path w="3090933" h="3079693">
                <a:moveTo>
                  <a:pt x="0" y="0"/>
                </a:moveTo>
                <a:lnTo>
                  <a:pt x="3090933" y="0"/>
                </a:lnTo>
                <a:lnTo>
                  <a:pt x="3090933" y="3079693"/>
                </a:lnTo>
                <a:lnTo>
                  <a:pt x="0" y="3079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>
            <a:off x="13404022" y="820124"/>
            <a:ext cx="2346112" cy="3131946"/>
          </a:xfrm>
          <a:custGeom>
            <a:avLst/>
            <a:gdLst/>
            <a:ahLst/>
            <a:cxnLst/>
            <a:rect l="l" t="t" r="r" b="b"/>
            <a:pathLst>
              <a:path w="2346112" h="3131946">
                <a:moveTo>
                  <a:pt x="0" y="0"/>
                </a:moveTo>
                <a:lnTo>
                  <a:pt x="2346112" y="0"/>
                </a:lnTo>
                <a:lnTo>
                  <a:pt x="2346112" y="3131945"/>
                </a:lnTo>
                <a:lnTo>
                  <a:pt x="0" y="3131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1828800" y="534924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1400"/>
              </a:spcAft>
              <a:buClr>
                <a:srgbClr val="4A2F5C"/>
              </a:buClr>
              <a:buFont typeface="Arial"/>
              <a:buChar char="•"/>
            </a:pPr>
            <a:r>
              <a:rPr sz="1800" b="1" i="0">
                <a:solidFill>
                  <a:srgbClr val="2E2140"/>
                </a:solidFill>
                <a:latin typeface="Calibri"/>
              </a:rPr>
              <a:t>NDRRMA / OSM (2026). </a:t>
            </a:r>
            <a:r>
              <a:rPr sz="1800" b="0" i="0">
                <a:solidFill>
                  <a:srgbClr val="2E2140"/>
                </a:solidFill>
                <a:latin typeface="Calibri"/>
              </a:rPr>
              <a:t>Flood impact layers for the Bhotekoshi–Trishuli corridor: roads, settlements, facilities.</a:t>
            </a:r>
          </a:p>
          <a:p>
            <a:pPr marL="201168" indent="-201168" algn="l">
              <a:spcAft>
                <a:spcPts val="1400"/>
              </a:spcAft>
              <a:buClr>
                <a:srgbClr val="4A2F5C"/>
              </a:buClr>
              <a:buFont typeface="Arial"/>
              <a:buChar char="•"/>
            </a:pPr>
            <a:r>
              <a:rPr sz="1800" b="1" i="0">
                <a:solidFill>
                  <a:srgbClr val="2E2140"/>
                </a:solidFill>
                <a:latin typeface="Calibri"/>
              </a:rPr>
              <a:t>HOT OSM (2026). </a:t>
            </a:r>
            <a:r>
              <a:rPr sz="1800" b="0" i="0">
                <a:solidFill>
                  <a:srgbClr val="2E2140"/>
                </a:solidFill>
                <a:latin typeface="Calibri"/>
              </a:rPr>
              <a:t>Nepal Floods 2026 damage assessment. HDX dataset “hot_flood_npl” (data.humdata.org)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3" y="534924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1400"/>
              </a:spcAft>
              <a:buClr>
                <a:srgbClr val="4A2F5C"/>
              </a:buClr>
              <a:buFont typeface="Arial"/>
              <a:buChar char="•"/>
            </a:pPr>
            <a:r>
              <a:rPr sz="1800" b="1" i="0">
                <a:solidFill>
                  <a:srgbClr val="2E2140"/>
                </a:solidFill>
                <a:latin typeface="Calibri"/>
              </a:rPr>
              <a:t>Shugar, D.H. et al. (2021). </a:t>
            </a:r>
            <a:r>
              <a:rPr sz="1800" b="0" i="0">
                <a:solidFill>
                  <a:srgbClr val="2E2140"/>
                </a:solidFill>
                <a:latin typeface="Calibri"/>
              </a:rPr>
              <a:t>A massive rock and ice avalanche caused the 2021 disaster at Chamoli, Indian Himalaya. Science 373, 300–306.</a:t>
            </a:r>
          </a:p>
          <a:p>
            <a:pPr marL="201168" indent="-201168" algn="l">
              <a:spcAft>
                <a:spcPts val="1400"/>
              </a:spcAft>
              <a:buClr>
                <a:srgbClr val="4A2F5C"/>
              </a:buClr>
              <a:buFont typeface="Arial"/>
              <a:buChar char="•"/>
            </a:pPr>
            <a:r>
              <a:rPr sz="1800" b="1" i="0">
                <a:solidFill>
                  <a:srgbClr val="2E2140"/>
                </a:solidFill>
                <a:latin typeface="Calibri"/>
              </a:rPr>
              <a:t>ICIMOD (2021). </a:t>
            </a:r>
            <a:r>
              <a:rPr sz="1800" b="0" i="0">
                <a:solidFill>
                  <a:srgbClr val="2E2140"/>
                </a:solidFill>
                <a:latin typeface="Calibri"/>
              </a:rPr>
              <a:t>The Melamchi flood disaster: cascading hazard and the need for multihazard risk management.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545568" y="5349240"/>
            <a:ext cx="393192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1400"/>
              </a:spcAft>
              <a:buClr>
                <a:srgbClr val="4A2F5C"/>
              </a:buClr>
              <a:buFont typeface="Arial"/>
              <a:buChar char="•"/>
            </a:pPr>
            <a:r>
              <a:rPr sz="1800" b="1" i="0">
                <a:solidFill>
                  <a:srgbClr val="2E2140"/>
                </a:solidFill>
                <a:latin typeface="Calibri"/>
              </a:rPr>
              <a:t>HOT OSM uMap (2026). </a:t>
            </a:r>
            <a:r>
              <a:rPr sz="1800" b="0" i="0">
                <a:solidFill>
                  <a:srgbClr val="2E2140"/>
                </a:solidFill>
                <a:latin typeface="Calibri"/>
              </a:rPr>
              <a:t>Nepal Floods 2026 focus area &amp; tasking map: umap.hotosm.org</a:t>
            </a:r>
          </a:p>
          <a:p>
            <a:pPr marL="201168" indent="-201168" algn="l">
              <a:spcAft>
                <a:spcPts val="1400"/>
              </a:spcAft>
              <a:buClr>
                <a:srgbClr val="4A2F5C"/>
              </a:buClr>
              <a:buFont typeface="Arial"/>
              <a:buChar char="•"/>
            </a:pPr>
            <a:r>
              <a:rPr sz="1800" b="1" i="0">
                <a:solidFill>
                  <a:srgbClr val="2E2140"/>
                </a:solidFill>
                <a:latin typeface="Calibri"/>
              </a:rPr>
              <a:t>Copernicus Browser / EMS Rapid Mapping. </a:t>
            </a:r>
            <a:r>
              <a:rPr sz="1800" b="0" i="0">
                <a:solidFill>
                  <a:srgbClr val="2E2140"/>
                </a:solidFill>
                <a:latin typeface="Calibri"/>
              </a:rPr>
              <a:t>Satellite before/after viewing and emergency maps.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1549055" y="3161492"/>
            <a:ext cx="13831397" cy="5389683"/>
            <a:chOff x="0" y="0"/>
            <a:chExt cx="18441863" cy="7186244"/>
          </a:xfrm>
        </p:grpSpPr>
        <p:grpSp>
          <p:nvGrpSpPr>
            <p:cNvPr id="4" name="Group 4"/>
            <p:cNvGrpSpPr/>
            <p:nvPr/>
          </p:nvGrpSpPr>
          <p:grpSpPr>
            <a:xfrm>
              <a:off x="181348" y="181348"/>
              <a:ext cx="18260515" cy="7004896"/>
              <a:chOff x="0" y="0"/>
              <a:chExt cx="4041644" cy="155041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041644" cy="1550411"/>
              </a:xfrm>
              <a:custGeom>
                <a:avLst/>
                <a:gdLst/>
                <a:ahLst/>
                <a:cxnLst/>
                <a:rect l="l" t="t" r="r" b="b"/>
                <a:pathLst>
                  <a:path w="4041644" h="1550411">
                    <a:moveTo>
                      <a:pt x="25730" y="0"/>
                    </a:moveTo>
                    <a:lnTo>
                      <a:pt x="4015915" y="0"/>
                    </a:lnTo>
                    <a:cubicBezTo>
                      <a:pt x="4022739" y="0"/>
                      <a:pt x="4029283" y="2711"/>
                      <a:pt x="4034108" y="7536"/>
                    </a:cubicBezTo>
                    <a:cubicBezTo>
                      <a:pt x="4038934" y="12361"/>
                      <a:pt x="4041644" y="18906"/>
                      <a:pt x="4041644" y="25730"/>
                    </a:cubicBezTo>
                    <a:lnTo>
                      <a:pt x="4041644" y="1524681"/>
                    </a:lnTo>
                    <a:cubicBezTo>
                      <a:pt x="4041644" y="1531505"/>
                      <a:pt x="4038934" y="1538050"/>
                      <a:pt x="4034108" y="1542875"/>
                    </a:cubicBezTo>
                    <a:cubicBezTo>
                      <a:pt x="4029283" y="1547700"/>
                      <a:pt x="4022739" y="1550411"/>
                      <a:pt x="4015915" y="1550411"/>
                    </a:cubicBezTo>
                    <a:lnTo>
                      <a:pt x="25730" y="1550411"/>
                    </a:lnTo>
                    <a:cubicBezTo>
                      <a:pt x="18906" y="1550411"/>
                      <a:pt x="12361" y="1547700"/>
                      <a:pt x="7536" y="1542875"/>
                    </a:cubicBezTo>
                    <a:cubicBezTo>
                      <a:pt x="2711" y="1538050"/>
                      <a:pt x="0" y="1531505"/>
                      <a:pt x="0" y="1524681"/>
                    </a:cubicBezTo>
                    <a:lnTo>
                      <a:pt x="0" y="25730"/>
                    </a:lnTo>
                    <a:cubicBezTo>
                      <a:pt x="0" y="18906"/>
                      <a:pt x="2711" y="12361"/>
                      <a:pt x="7536" y="7536"/>
                    </a:cubicBezTo>
                    <a:cubicBezTo>
                      <a:pt x="12361" y="2711"/>
                      <a:pt x="18906" y="0"/>
                      <a:pt x="25730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4041644" cy="15789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3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8260515" cy="7004896"/>
              <a:chOff x="0" y="0"/>
              <a:chExt cx="4041644" cy="155041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041644" cy="1550411"/>
              </a:xfrm>
              <a:custGeom>
                <a:avLst/>
                <a:gdLst/>
                <a:ahLst/>
                <a:cxnLst/>
                <a:rect l="l" t="t" r="r" b="b"/>
                <a:pathLst>
                  <a:path w="4041644" h="1550411">
                    <a:moveTo>
                      <a:pt x="25730" y="0"/>
                    </a:moveTo>
                    <a:lnTo>
                      <a:pt x="4015915" y="0"/>
                    </a:lnTo>
                    <a:cubicBezTo>
                      <a:pt x="4022739" y="0"/>
                      <a:pt x="4029283" y="2711"/>
                      <a:pt x="4034108" y="7536"/>
                    </a:cubicBezTo>
                    <a:cubicBezTo>
                      <a:pt x="4038934" y="12361"/>
                      <a:pt x="4041644" y="18906"/>
                      <a:pt x="4041644" y="25730"/>
                    </a:cubicBezTo>
                    <a:lnTo>
                      <a:pt x="4041644" y="1524681"/>
                    </a:lnTo>
                    <a:cubicBezTo>
                      <a:pt x="4041644" y="1531505"/>
                      <a:pt x="4038934" y="1538050"/>
                      <a:pt x="4034108" y="1542875"/>
                    </a:cubicBezTo>
                    <a:cubicBezTo>
                      <a:pt x="4029283" y="1547700"/>
                      <a:pt x="4022739" y="1550411"/>
                      <a:pt x="4015915" y="1550411"/>
                    </a:cubicBezTo>
                    <a:lnTo>
                      <a:pt x="25730" y="1550411"/>
                    </a:lnTo>
                    <a:cubicBezTo>
                      <a:pt x="18906" y="1550411"/>
                      <a:pt x="12361" y="1547700"/>
                      <a:pt x="7536" y="1542875"/>
                    </a:cubicBezTo>
                    <a:cubicBezTo>
                      <a:pt x="2711" y="1538050"/>
                      <a:pt x="0" y="1531505"/>
                      <a:pt x="0" y="1524681"/>
                    </a:cubicBezTo>
                    <a:lnTo>
                      <a:pt x="0" y="25730"/>
                    </a:lnTo>
                    <a:cubicBezTo>
                      <a:pt x="0" y="18906"/>
                      <a:pt x="2711" y="12361"/>
                      <a:pt x="7536" y="7536"/>
                    </a:cubicBezTo>
                    <a:cubicBezTo>
                      <a:pt x="12361" y="2711"/>
                      <a:pt x="18906" y="0"/>
                      <a:pt x="2573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4041644" cy="157898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73"/>
                  </a:lnSpc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12714179" y="4373158"/>
            <a:ext cx="5332548" cy="9191839"/>
          </a:xfrm>
          <a:custGeom>
            <a:avLst/>
            <a:gdLst/>
            <a:ahLst/>
            <a:cxnLst/>
            <a:rect l="l" t="t" r="r" b="b"/>
            <a:pathLst>
              <a:path w="5332548" h="9191839">
                <a:moveTo>
                  <a:pt x="0" y="0"/>
                </a:moveTo>
                <a:lnTo>
                  <a:pt x="5332547" y="0"/>
                </a:lnTo>
                <a:lnTo>
                  <a:pt x="5332547" y="9191839"/>
                </a:lnTo>
                <a:lnTo>
                  <a:pt x="0" y="91918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1343583" y="493552"/>
            <a:ext cx="15600833" cy="268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sz="8799" spc="413" dirty="0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Use / Scope of Knowledge-Driven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383280"/>
            <a:ext cx="10515600" cy="493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4A2F5C"/>
                </a:solidFill>
                <a:latin typeface="Calibri"/>
              </a:rPr>
              <a:t>Where AI is used today</a:t>
            </a:r>
          </a:p>
          <a:p>
            <a:pPr marL="201168" indent="-201168" algn="l">
              <a:spcAft>
                <a:spcPts val="700"/>
              </a:spcAft>
              <a:buClr>
                <a:srgbClr val="4A2F5C"/>
              </a:buClr>
              <a:buFont typeface="Arial"/>
              <a:buChar char="•"/>
            </a:pPr>
            <a:r>
              <a:rPr sz="1900" b="0" i="0">
                <a:solidFill>
                  <a:srgbClr val="2E2140"/>
                </a:solidFill>
                <a:latin typeface="Calibri"/>
              </a:rPr>
              <a:t>AI-assisted building-damage mapping in the HOT datasets, validated by human mappers before it reaches the portal</a:t>
            </a:r>
          </a:p>
          <a:p>
            <a:pPr marL="201168" indent="-201168" algn="l">
              <a:spcAft>
                <a:spcPts val="700"/>
              </a:spcAft>
              <a:buClr>
                <a:srgbClr val="4A2F5C"/>
              </a:buClr>
              <a:buFont typeface="Arial"/>
              <a:buChar char="•"/>
            </a:pPr>
            <a:r>
              <a:rPr sz="1900" b="0" i="0">
                <a:solidFill>
                  <a:srgbClr val="2E2140"/>
                </a:solidFill>
                <a:latin typeface="Calibri"/>
              </a:rPr>
              <a:t>AI coding assistant used to speed up portal development</a:t>
            </a:r>
          </a:p>
          <a:p>
            <a:pPr algn="l">
              <a:spcBef>
                <a:spcPts val="1400"/>
              </a:spcBef>
              <a:spcAft>
                <a:spcPts val="600"/>
              </a:spcAft>
            </a:pPr>
            <a:r>
              <a:rPr sz="2600" b="1" i="0">
                <a:solidFill>
                  <a:srgbClr val="4A2F5C"/>
                </a:solidFill>
                <a:latin typeface="Calibri"/>
              </a:rPr>
              <a:t>Where knowledge-driven AI adds value next</a:t>
            </a:r>
          </a:p>
          <a:p>
            <a:pPr marL="201168" indent="-201168" algn="l">
              <a:spcAft>
                <a:spcPts val="700"/>
              </a:spcAft>
              <a:buClr>
                <a:srgbClr val="4A2F5C"/>
              </a:buClr>
              <a:buFont typeface="Arial"/>
              <a:buChar char="•"/>
            </a:pPr>
            <a:r>
              <a:rPr sz="1900" b="0" i="0">
                <a:solidFill>
                  <a:srgbClr val="2E2140"/>
                </a:solidFill>
                <a:latin typeface="Calibri"/>
              </a:rPr>
              <a:t>Sentinel-2 change detection: NDVI/NDWI differencing + an ML classifier to flag new debris and scoured banks</a:t>
            </a:r>
          </a:p>
          <a:p>
            <a:pPr marL="201168" indent="-201168" algn="l">
              <a:spcAft>
                <a:spcPts val="700"/>
              </a:spcAft>
              <a:buClr>
                <a:srgbClr val="4A2F5C"/>
              </a:buClr>
              <a:buFont typeface="Arial"/>
              <a:buChar char="•"/>
            </a:pPr>
            <a:r>
              <a:rPr sz="1900" b="0" i="0">
                <a:solidFill>
                  <a:srgbClr val="2E2140"/>
                </a:solidFill>
                <a:latin typeface="Calibri"/>
              </a:rPr>
              <a:t>Priority ranking from expert rules, e.g. hazard × exposure (a school within 500 m of a damaged road)</a:t>
            </a:r>
          </a:p>
          <a:p>
            <a:pPr marL="201168" indent="-201168" algn="l">
              <a:spcAft>
                <a:spcPts val="700"/>
              </a:spcAft>
              <a:buClr>
                <a:srgbClr val="4A2F5C"/>
              </a:buClr>
              <a:buFont typeface="Arial"/>
              <a:buChar char="•"/>
            </a:pPr>
            <a:r>
              <a:rPr sz="1900" b="0" i="0">
                <a:solidFill>
                  <a:srgbClr val="2E2140"/>
                </a:solidFill>
                <a:latin typeface="Calibri"/>
              </a:rPr>
              <a:t>Plain-language Q&amp;A over the layers: “Which health posts lost road access?”</a:t>
            </a:r>
          </a:p>
          <a:p>
            <a:pPr algn="l">
              <a:spcBef>
                <a:spcPts val="1400"/>
              </a:spcBef>
            </a:pPr>
            <a:r>
              <a:rPr sz="1900" b="1" i="0">
                <a:solidFill>
                  <a:srgbClr val="D9692A"/>
                </a:solidFill>
                <a:latin typeface="Calibri"/>
              </a:rPr>
              <a:t>Why it fits: </a:t>
            </a:r>
            <a:r>
              <a:rPr sz="1900" b="0" i="0">
                <a:solidFill>
                  <a:srgbClr val="2E2140"/>
                </a:solidFill>
                <a:latin typeface="Calibri"/>
              </a:rPr>
              <a:t>data is large and time-critical. Limits: monsoon cloud and scarce ground truth, so people stay in the loop.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3124201" y="1638300"/>
            <a:ext cx="15128544" cy="8305800"/>
            <a:chOff x="0" y="0"/>
            <a:chExt cx="15287462" cy="8073002"/>
          </a:xfrm>
        </p:grpSpPr>
        <p:grpSp>
          <p:nvGrpSpPr>
            <p:cNvPr id="4" name="Group 4"/>
            <p:cNvGrpSpPr/>
            <p:nvPr/>
          </p:nvGrpSpPr>
          <p:grpSpPr>
            <a:xfrm>
              <a:off x="153244" y="165100"/>
              <a:ext cx="15134218" cy="7907902"/>
              <a:chOff x="0" y="0"/>
              <a:chExt cx="2989475" cy="156205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5134218" cy="7907902"/>
              <a:chOff x="0" y="0"/>
              <a:chExt cx="2989475" cy="156205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221461" y="4680178"/>
            <a:ext cx="4845288" cy="11259901"/>
          </a:xfrm>
          <a:custGeom>
            <a:avLst/>
            <a:gdLst/>
            <a:ahLst/>
            <a:cxnLst/>
            <a:rect l="l" t="t" r="r" b="b"/>
            <a:pathLst>
              <a:path w="4845288" h="11259901">
                <a:moveTo>
                  <a:pt x="0" y="0"/>
                </a:moveTo>
                <a:lnTo>
                  <a:pt x="4845289" y="0"/>
                </a:lnTo>
                <a:lnTo>
                  <a:pt x="4845289" y="11259900"/>
                </a:lnTo>
                <a:lnTo>
                  <a:pt x="0" y="1125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0" y="342900"/>
            <a:ext cx="15128544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8799" spc="624" dirty="0">
                <a:solidFill>
                  <a:srgbClr val="484744"/>
                </a:solidFill>
                <a:latin typeface="Jingleberry"/>
                <a:ea typeface="Jingleberry"/>
                <a:cs typeface="Jingleberry"/>
                <a:sym typeface="Jingleberry"/>
              </a:rPr>
              <a:t> CONCLUSIONS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103120"/>
            <a:ext cx="126187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2E2140"/>
                </a:solidFill>
                <a:latin typeface="Calibri"/>
              </a:rPr>
              <a:t>The Rasuwa Flood Portal turns scattered, multi-source flood data into one open 3D map that anyone can explore. The impact layers show ~145 km of damaged road and 190 exposed settlements along a 45 km² flood extent, and the Sentinel-2 swipe makes landscape change visible without GIS skills. Because layers are added through one config file, the portal keeps improving as new data arrives.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160520"/>
            <a:ext cx="12618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A2F5C"/>
                </a:solidFill>
                <a:latin typeface="Calibri"/>
              </a:rPr>
              <a:t>Initial objectives</a:t>
            </a:r>
          </a:p>
        </p:txBody>
      </p:sp>
      <p:sp>
        <p:nvSpPr>
          <p:cNvPr id="15" name="Oval 14"/>
          <p:cNvSpPr/>
          <p:nvPr/>
        </p:nvSpPr>
        <p:spPr>
          <a:xfrm>
            <a:off x="5202936" y="4864608"/>
            <a:ext cx="566928" cy="566928"/>
          </a:xfrm>
          <a:prstGeom prst="ellipse">
            <a:avLst/>
          </a:prstGeom>
          <a:solidFill>
            <a:srgbClr val="1C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846320"/>
            <a:ext cx="11704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E2140"/>
                </a:solidFill>
                <a:latin typeface="Calibri"/>
              </a:rPr>
              <a:t>Bring all event data into one place</a:t>
            </a:r>
            <a:r>
              <a:rPr sz="1800" b="0" i="0">
                <a:solidFill>
                  <a:srgbClr val="6B5B78"/>
                </a:solidFill>
                <a:latin typeface="Calibri"/>
              </a:rPr>
              <a:t>  —  achieved: 40 layers from 10+ sources</a:t>
            </a:r>
          </a:p>
        </p:txBody>
      </p:sp>
      <p:sp>
        <p:nvSpPr>
          <p:cNvPr id="17" name="Oval 16"/>
          <p:cNvSpPr/>
          <p:nvPr/>
        </p:nvSpPr>
        <p:spPr>
          <a:xfrm>
            <a:off x="5202936" y="5888736"/>
            <a:ext cx="566928" cy="566928"/>
          </a:xfrm>
          <a:prstGeom prst="ellipse">
            <a:avLst/>
          </a:prstGeom>
          <a:solidFill>
            <a:srgbClr val="1C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5870448"/>
            <a:ext cx="11704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E2140"/>
                </a:solidFill>
                <a:latin typeface="Calibri"/>
              </a:rPr>
              <a:t>Make the impact visible</a:t>
            </a:r>
            <a:r>
              <a:rPr sz="1800" b="0" i="0">
                <a:solidFill>
                  <a:srgbClr val="6B5B78"/>
                </a:solidFill>
                <a:latin typeface="Calibri"/>
              </a:rPr>
              <a:t>  —  achieved: roads, settlements, facilities, landslides</a:t>
            </a:r>
          </a:p>
        </p:txBody>
      </p:sp>
      <p:sp>
        <p:nvSpPr>
          <p:cNvPr id="19" name="Oval 18"/>
          <p:cNvSpPr/>
          <p:nvPr/>
        </p:nvSpPr>
        <p:spPr>
          <a:xfrm>
            <a:off x="5202936" y="6912864"/>
            <a:ext cx="566928" cy="566928"/>
          </a:xfrm>
          <a:prstGeom prst="ellipse">
            <a:avLst/>
          </a:prstGeom>
          <a:solidFill>
            <a:srgbClr val="1C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6894576"/>
            <a:ext cx="11704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E2140"/>
                </a:solidFill>
                <a:latin typeface="Calibri"/>
              </a:rPr>
              <a:t>Show before/after change clearly</a:t>
            </a:r>
            <a:r>
              <a:rPr sz="1800" b="0" i="0">
                <a:solidFill>
                  <a:srgbClr val="6B5B78"/>
                </a:solidFill>
                <a:latin typeface="Calibri"/>
              </a:rPr>
              <a:t>  —  achieved: 3D Sentinel-2 swipe with NDVI</a:t>
            </a:r>
          </a:p>
        </p:txBody>
      </p:sp>
      <p:sp>
        <p:nvSpPr>
          <p:cNvPr id="21" name="Oval 20"/>
          <p:cNvSpPr/>
          <p:nvPr/>
        </p:nvSpPr>
        <p:spPr>
          <a:xfrm>
            <a:off x="5202936" y="7936992"/>
            <a:ext cx="566928" cy="566928"/>
          </a:xfrm>
          <a:prstGeom prst="ellipse">
            <a:avLst/>
          </a:prstGeom>
          <a:solidFill>
            <a:srgbClr val="D9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7918704"/>
            <a:ext cx="117043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E2140"/>
                </a:solidFill>
                <a:latin typeface="Calibri"/>
              </a:rPr>
              <a:t>Keep it open and community-driven</a:t>
            </a:r>
            <a:r>
              <a:rPr sz="1800" b="0" i="0">
                <a:solidFill>
                  <a:srgbClr val="6B5B78"/>
                </a:solidFill>
                <a:latin typeface="Calibri"/>
              </a:rPr>
              <a:t>  —  ongoing: contributions via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5933-289C-67ED-C32A-DB061BC3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C2C888-64DB-3B73-775A-FA5A8EE9366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8" t="-49976" r="-2555" b="-3842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A6068C9-92BF-139F-E094-09A5EDCBD2E5}"/>
              </a:ext>
            </a:extLst>
          </p:cNvPr>
          <p:cNvGrpSpPr/>
          <p:nvPr/>
        </p:nvGrpSpPr>
        <p:grpSpPr>
          <a:xfrm>
            <a:off x="3124201" y="1638300"/>
            <a:ext cx="15128544" cy="8305800"/>
            <a:chOff x="0" y="0"/>
            <a:chExt cx="15287462" cy="8073002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E2B5678D-BAF8-B760-4810-3161E7EA3D0B}"/>
                </a:ext>
              </a:extLst>
            </p:cNvPr>
            <p:cNvGrpSpPr/>
            <p:nvPr/>
          </p:nvGrpSpPr>
          <p:grpSpPr>
            <a:xfrm>
              <a:off x="153244" y="165100"/>
              <a:ext cx="15134218" cy="7907902"/>
              <a:chOff x="0" y="0"/>
              <a:chExt cx="2989475" cy="1562055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1F22165C-7899-678F-7C5C-2D2F98A47448}"/>
                  </a:ext>
                </a:extLst>
              </p:cNvPr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18BC3A22-621B-60D4-E1FE-DB9661B427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7A7DBFC-D77C-FECC-9493-8DF1312EE68B}"/>
                </a:ext>
              </a:extLst>
            </p:cNvPr>
            <p:cNvGrpSpPr/>
            <p:nvPr/>
          </p:nvGrpSpPr>
          <p:grpSpPr>
            <a:xfrm>
              <a:off x="0" y="0"/>
              <a:ext cx="15134218" cy="7907902"/>
              <a:chOff x="0" y="0"/>
              <a:chExt cx="2989475" cy="1562055"/>
            </a:xfrm>
          </p:grpSpPr>
          <p:sp>
            <p:nvSpPr>
              <p:cNvPr id="8" name="Freeform 8">
                <a:extLst>
                  <a:ext uri="{FF2B5EF4-FFF2-40B4-BE49-F238E27FC236}">
                    <a16:creationId xmlns:a16="http://schemas.microsoft.com/office/drawing/2014/main" id="{2CB51B20-FB17-78A7-75AD-C07BD5DA6BF9}"/>
                  </a:ext>
                </a:extLst>
              </p:cNvPr>
              <p:cNvSpPr/>
              <p:nvPr/>
            </p:nvSpPr>
            <p:spPr>
              <a:xfrm>
                <a:off x="0" y="0"/>
                <a:ext cx="2989475" cy="1562055"/>
              </a:xfrm>
              <a:custGeom>
                <a:avLst/>
                <a:gdLst/>
                <a:ahLst/>
                <a:cxnLst/>
                <a:rect l="l" t="t" r="r" b="b"/>
                <a:pathLst>
                  <a:path w="2989475" h="1562055">
                    <a:moveTo>
                      <a:pt x="34785" y="0"/>
                    </a:moveTo>
                    <a:lnTo>
                      <a:pt x="2954690" y="0"/>
                    </a:lnTo>
                    <a:cubicBezTo>
                      <a:pt x="2973901" y="0"/>
                      <a:pt x="2989475" y="15574"/>
                      <a:pt x="2989475" y="34785"/>
                    </a:cubicBezTo>
                    <a:lnTo>
                      <a:pt x="2989475" y="1527269"/>
                    </a:lnTo>
                    <a:cubicBezTo>
                      <a:pt x="2989475" y="1546481"/>
                      <a:pt x="2973901" y="1562055"/>
                      <a:pt x="2954690" y="1562055"/>
                    </a:cubicBezTo>
                    <a:lnTo>
                      <a:pt x="34785" y="1562055"/>
                    </a:lnTo>
                    <a:cubicBezTo>
                      <a:pt x="25560" y="1562055"/>
                      <a:pt x="16712" y="1558390"/>
                      <a:pt x="10188" y="1551866"/>
                    </a:cubicBezTo>
                    <a:cubicBezTo>
                      <a:pt x="3665" y="1545343"/>
                      <a:pt x="0" y="1536495"/>
                      <a:pt x="0" y="1527269"/>
                    </a:cubicBezTo>
                    <a:lnTo>
                      <a:pt x="0" y="34785"/>
                    </a:lnTo>
                    <a:cubicBezTo>
                      <a:pt x="0" y="15574"/>
                      <a:pt x="15574" y="0"/>
                      <a:pt x="3478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0701230F-6FF3-F5D5-116E-7E86FF91BA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2989475" cy="16001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2CDC016B-305F-35E6-0438-A0826EDCA2E0}"/>
              </a:ext>
            </a:extLst>
          </p:cNvPr>
          <p:cNvSpPr/>
          <p:nvPr/>
        </p:nvSpPr>
        <p:spPr>
          <a:xfrm>
            <a:off x="221461" y="4680178"/>
            <a:ext cx="4845288" cy="11259901"/>
          </a:xfrm>
          <a:custGeom>
            <a:avLst/>
            <a:gdLst/>
            <a:ahLst/>
            <a:cxnLst/>
            <a:rect l="l" t="t" r="r" b="b"/>
            <a:pathLst>
              <a:path w="4845288" h="11259901">
                <a:moveTo>
                  <a:pt x="0" y="0"/>
                </a:moveTo>
                <a:lnTo>
                  <a:pt x="4845289" y="0"/>
                </a:lnTo>
                <a:lnTo>
                  <a:pt x="4845289" y="11259900"/>
                </a:lnTo>
                <a:lnTo>
                  <a:pt x="0" y="11259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E59AB77-47A9-23FF-A880-155A4C17050E}"/>
              </a:ext>
            </a:extLst>
          </p:cNvPr>
          <p:cNvSpPr txBox="1"/>
          <p:nvPr/>
        </p:nvSpPr>
        <p:spPr>
          <a:xfrm>
            <a:off x="0" y="342900"/>
            <a:ext cx="15128544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799"/>
              </a:lnSpc>
            </a:pPr>
            <a:r>
              <a:rPr lang="en-US" sz="8799" spc="624" dirty="0">
                <a:solidFill>
                  <a:srgbClr val="484744"/>
                </a:solidFill>
                <a:latin typeface="Jingleberry"/>
                <a:ea typeface="Jingleberry"/>
                <a:cs typeface="Jingleberry"/>
                <a:sym typeface="Jingleberry"/>
              </a:rPr>
              <a:t>Graphical Abstract</a:t>
            </a:r>
          </a:p>
        </p:txBody>
      </p:sp>
      <p:sp>
        <p:nvSpPr>
          <p:cNvPr id="13" name="Oval 12"/>
          <p:cNvSpPr/>
          <p:nvPr/>
        </p:nvSpPr>
        <p:spPr>
          <a:xfrm>
            <a:off x="6080760" y="2057400"/>
            <a:ext cx="914400" cy="914400"/>
          </a:xfrm>
          <a:prstGeom prst="ellipse">
            <a:avLst/>
          </a:prstGeom>
          <a:solidFill>
            <a:srgbClr val="D96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0632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566160"/>
            <a:ext cx="26517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6B5B78"/>
                </a:solidFill>
                <a:latin typeface="Calibri"/>
              </a:rPr>
              <a:t>Flood data scattered across agencies, volunteers and satellites</a:t>
            </a:r>
          </a:p>
        </p:txBody>
      </p:sp>
      <p:sp>
        <p:nvSpPr>
          <p:cNvPr id="16" name="Oval 15"/>
          <p:cNvSpPr/>
          <p:nvPr/>
        </p:nvSpPr>
        <p:spPr>
          <a:xfrm>
            <a:off x="9281159" y="2057400"/>
            <a:ext cx="914400" cy="914400"/>
          </a:xfrm>
          <a:prstGeom prst="ellipse">
            <a:avLst/>
          </a:prstGeom>
          <a:solidFill>
            <a:srgbClr val="4A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6324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66160"/>
            <a:ext cx="26517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Sentinel-2</a:t>
            </a:r>
          </a:p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Vantor imagery</a:t>
            </a:r>
          </a:p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OSM impact layers</a:t>
            </a:r>
          </a:p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BGS landslides</a:t>
            </a:r>
          </a:p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Terrain DEM</a:t>
            </a:r>
          </a:p>
        </p:txBody>
      </p:sp>
      <p:sp>
        <p:nvSpPr>
          <p:cNvPr id="19" name="Oval 18"/>
          <p:cNvSpPr/>
          <p:nvPr/>
        </p:nvSpPr>
        <p:spPr>
          <a:xfrm>
            <a:off x="16002000" y="2057400"/>
            <a:ext cx="914400" cy="914400"/>
          </a:xfrm>
          <a:prstGeom prst="ellipse">
            <a:avLst/>
          </a:prstGeom>
          <a:solidFill>
            <a:srgbClr val="1C84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0" y="30632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2E2140"/>
                </a:solidFill>
                <a:latin typeface="Calibri"/>
              </a:rPr>
              <a:t>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0" y="3566160"/>
            <a:ext cx="256032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Responders</a:t>
            </a:r>
          </a:p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Mappers &amp; researchers</a:t>
            </a:r>
          </a:p>
          <a:p>
            <a:pPr algn="ctr">
              <a:spcAft>
                <a:spcPts val="300"/>
              </a:spcAft>
            </a:pPr>
            <a:r>
              <a:rPr sz="1500" b="0" i="0">
                <a:solidFill>
                  <a:srgbClr val="6B5B78"/>
                </a:solidFill>
                <a:latin typeface="Calibri"/>
              </a:rPr>
              <a:t>Media &amp; public</a:t>
            </a:r>
          </a:p>
        </p:txBody>
      </p:sp>
      <p:sp>
        <p:nvSpPr>
          <p:cNvPr id="22" name="Placeholder IMG 4"/>
          <p:cNvSpPr/>
          <p:nvPr/>
        </p:nvSpPr>
        <p:spPr>
          <a:xfrm>
            <a:off x="11521440" y="2011680"/>
            <a:ext cx="3200400" cy="5120640"/>
          </a:xfrm>
          <a:prstGeom prst="roundRect">
            <a:avLst>
              <a:gd name="adj" fmla="val 4000"/>
            </a:avLst>
          </a:prstGeom>
          <a:solidFill>
            <a:srgbClr val="F4EFF7"/>
          </a:solidFill>
          <a:ln w="25400">
            <a:solidFill>
              <a:srgbClr val="8C6D9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bIns="320040" rtlCol="0" anchor="ctr"/>
          <a:lstStyle/>
          <a:p>
            <a:pPr algn="ctr">
              <a:spcAft>
                <a:spcPts val="1000"/>
              </a:spcAft>
            </a:pPr>
            <a:r>
              <a:rPr sz="1600" b="1" i="0">
                <a:solidFill>
                  <a:srgbClr val="4A2F5C"/>
                </a:solidFill>
                <a:latin typeface="Calibri"/>
              </a:rPr>
              <a:t>SCREENSHOT PLACEHOLDER  ·  IMG 4</a:t>
            </a:r>
          </a:p>
          <a:p>
            <a:pPr algn="ctr">
              <a:spcAft>
                <a:spcPts val="800"/>
              </a:spcAft>
            </a:pPr>
            <a:r>
              <a:rPr sz="1400" b="0" i="0">
                <a:solidFill>
                  <a:srgbClr val="2E2140"/>
                </a:solidFill>
                <a:latin typeface="Calibri"/>
              </a:rPr>
              <a:t>Full portal UI: 3D map with sidebar open and a few layers on (or the elevation-profile panel).</a:t>
            </a:r>
          </a:p>
          <a:p>
            <a:pPr algn="ctr"/>
            <a:r>
              <a:rPr sz="1200" b="0" i="1">
                <a:solidFill>
                  <a:srgbClr val="6B5B78"/>
                </a:solidFill>
                <a:latin typeface="Calibri"/>
              </a:rPr>
              <a:t>Portrait crop ≈ 0.62 : 1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73568" y="2350008"/>
            <a:ext cx="411480" cy="329184"/>
          </a:xfrm>
          <a:prstGeom prst="rightArrow">
            <a:avLst/>
          </a:prstGeom>
          <a:solidFill>
            <a:srgbClr val="C9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ight Arrow 23"/>
          <p:cNvSpPr/>
          <p:nvPr/>
        </p:nvSpPr>
        <p:spPr>
          <a:xfrm>
            <a:off x="11082528" y="2350008"/>
            <a:ext cx="411480" cy="329184"/>
          </a:xfrm>
          <a:prstGeom prst="rightArrow">
            <a:avLst/>
          </a:prstGeom>
          <a:solidFill>
            <a:srgbClr val="C9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ight Arrow 24"/>
          <p:cNvSpPr/>
          <p:nvPr/>
        </p:nvSpPr>
        <p:spPr>
          <a:xfrm>
            <a:off x="14767559" y="2350008"/>
            <a:ext cx="384048" cy="329184"/>
          </a:xfrm>
          <a:prstGeom prst="rightArrow">
            <a:avLst/>
          </a:prstGeom>
          <a:solidFill>
            <a:srgbClr val="C9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212080" y="7543800"/>
            <a:ext cx="12527280" cy="1417320"/>
          </a:xfrm>
          <a:prstGeom prst="roundRect">
            <a:avLst>
              <a:gd name="adj" fmla="val 12000"/>
            </a:avLst>
          </a:prstGeom>
          <a:solidFill>
            <a:srgbClr val="F4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900" b="1" i="0">
                <a:solidFill>
                  <a:srgbClr val="1C8494"/>
                </a:solidFill>
                <a:latin typeface="Calibri"/>
              </a:rPr>
              <a:t>45 km² </a:t>
            </a:r>
            <a:r>
              <a:rPr sz="1900" b="0" i="0">
                <a:solidFill>
                  <a:srgbClr val="2E2140"/>
                </a:solidFill>
                <a:latin typeface="Calibri"/>
              </a:rPr>
              <a:t>flood extent    </a:t>
            </a:r>
            <a:r>
              <a:rPr sz="1900" b="1" i="0">
                <a:solidFill>
                  <a:srgbClr val="D9692A"/>
                </a:solidFill>
                <a:latin typeface="Calibri"/>
              </a:rPr>
              <a:t>145 km </a:t>
            </a:r>
            <a:r>
              <a:rPr sz="1900" b="0" i="0">
                <a:solidFill>
                  <a:srgbClr val="2E2140"/>
                </a:solidFill>
                <a:latin typeface="Calibri"/>
              </a:rPr>
              <a:t>damaged road    </a:t>
            </a:r>
            <a:r>
              <a:rPr sz="1900" b="1" i="0">
                <a:solidFill>
                  <a:srgbClr val="D9692A"/>
                </a:solidFill>
                <a:latin typeface="Calibri"/>
              </a:rPr>
              <a:t>190 </a:t>
            </a:r>
            <a:r>
              <a:rPr sz="1900" b="0" i="0">
                <a:solidFill>
                  <a:srgbClr val="2E2140"/>
                </a:solidFill>
                <a:latin typeface="Calibri"/>
              </a:rPr>
              <a:t>exposed settlements    </a:t>
            </a:r>
            <a:r>
              <a:rPr sz="1900" b="1" i="0">
                <a:solidFill>
                  <a:srgbClr val="4A2F5C"/>
                </a:solidFill>
                <a:latin typeface="Calibri"/>
              </a:rPr>
              <a:t>915 </a:t>
            </a:r>
            <a:r>
              <a:rPr sz="1900" b="0" i="0">
                <a:solidFill>
                  <a:srgbClr val="2E2140"/>
                </a:solidFill>
                <a:latin typeface="Calibri"/>
              </a:rPr>
              <a:t>landslides    </a:t>
            </a:r>
            <a:r>
              <a:rPr sz="1900" b="1" i="0">
                <a:solidFill>
                  <a:srgbClr val="4A2F5C"/>
                </a:solidFill>
                <a:latin typeface="Calibri"/>
              </a:rPr>
              <a:t>40 </a:t>
            </a:r>
            <a:r>
              <a:rPr sz="1900" b="0" i="0">
                <a:solidFill>
                  <a:srgbClr val="2E2140"/>
                </a:solidFill>
                <a:latin typeface="Calibri"/>
              </a:rPr>
              <a:t>open layers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C9C4ED0-47F4-F76B-0C13-C65256E36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8023" y="2085975"/>
            <a:ext cx="3086666" cy="4973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3281629" y="1477166"/>
            <a:ext cx="11832268" cy="7332668"/>
            <a:chOff x="0" y="0"/>
            <a:chExt cx="15776357" cy="9776891"/>
          </a:xfrm>
        </p:grpSpPr>
        <p:grpSp>
          <p:nvGrpSpPr>
            <p:cNvPr id="4" name="Group 4"/>
            <p:cNvGrpSpPr/>
            <p:nvPr/>
          </p:nvGrpSpPr>
          <p:grpSpPr>
            <a:xfrm>
              <a:off x="177762" y="177762"/>
              <a:ext cx="15598595" cy="9599129"/>
              <a:chOff x="0" y="0"/>
              <a:chExt cx="3522136" cy="216746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54385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15598595" cy="9599129"/>
              <a:chOff x="0" y="0"/>
              <a:chExt cx="3522136" cy="216746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522136" cy="2167467"/>
              </a:xfrm>
              <a:custGeom>
                <a:avLst/>
                <a:gdLst/>
                <a:ahLst/>
                <a:cxnLst/>
                <a:rect l="l" t="t" r="r" b="b"/>
                <a:pathLst>
                  <a:path w="3522136" h="2167467">
                    <a:moveTo>
                      <a:pt x="29525" y="0"/>
                    </a:moveTo>
                    <a:lnTo>
                      <a:pt x="3492611" y="0"/>
                    </a:lnTo>
                    <a:cubicBezTo>
                      <a:pt x="3508917" y="0"/>
                      <a:pt x="3522136" y="13219"/>
                      <a:pt x="3522136" y="29525"/>
                    </a:cubicBezTo>
                    <a:lnTo>
                      <a:pt x="3522136" y="2137942"/>
                    </a:lnTo>
                    <a:cubicBezTo>
                      <a:pt x="3522136" y="2154248"/>
                      <a:pt x="3508917" y="2167467"/>
                      <a:pt x="3492611" y="2167467"/>
                    </a:cubicBezTo>
                    <a:lnTo>
                      <a:pt x="29525" y="2167467"/>
                    </a:lnTo>
                    <a:cubicBezTo>
                      <a:pt x="21694" y="2167467"/>
                      <a:pt x="14185" y="2164356"/>
                      <a:pt x="8648" y="2158819"/>
                    </a:cubicBezTo>
                    <a:cubicBezTo>
                      <a:pt x="3111" y="2153282"/>
                      <a:pt x="0" y="2145773"/>
                      <a:pt x="0" y="2137942"/>
                    </a:cubicBezTo>
                    <a:lnTo>
                      <a:pt x="0" y="29525"/>
                    </a:lnTo>
                    <a:cubicBezTo>
                      <a:pt x="0" y="13219"/>
                      <a:pt x="13219" y="0"/>
                      <a:pt x="2952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3522136" cy="22055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40"/>
                  </a:lnSpc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2880815" y="2148840"/>
            <a:ext cx="12526370" cy="2198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75"/>
              </a:lnSpc>
            </a:pPr>
            <a:r>
              <a:rPr lang="en-US" sz="15475" spc="1145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Thanks</a:t>
            </a:r>
            <a:r>
              <a:rPr lang="en-US" sz="15475" b="1" spc="1145">
                <a:solidFill>
                  <a:srgbClr val="543855"/>
                </a:solidFill>
                <a:latin typeface="Jingleberry"/>
                <a:ea typeface="Jingleberry"/>
                <a:cs typeface="Jingleberry"/>
                <a:sym typeface="Jingleberry"/>
              </a:rPr>
              <a:t>!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137449" y="5815763"/>
            <a:ext cx="5121851" cy="4003085"/>
          </a:xfrm>
          <a:custGeom>
            <a:avLst/>
            <a:gdLst/>
            <a:ahLst/>
            <a:cxnLst/>
            <a:rect l="l" t="t" r="r" b="b"/>
            <a:pathLst>
              <a:path w="5121851" h="4003085">
                <a:moveTo>
                  <a:pt x="0" y="0"/>
                </a:moveTo>
                <a:lnTo>
                  <a:pt x="5121851" y="0"/>
                </a:lnTo>
                <a:lnTo>
                  <a:pt x="5121851" y="4003085"/>
                </a:lnTo>
                <a:lnTo>
                  <a:pt x="0" y="40030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3840480" y="4572000"/>
            <a:ext cx="5852160" cy="244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4A2F5C"/>
                </a:solidFill>
                <a:latin typeface="Calibri"/>
              </a:rPr>
              <a:t>Live portal</a:t>
            </a:r>
          </a:p>
          <a:p>
            <a:pPr algn="l">
              <a:spcAft>
                <a:spcPts val="1200"/>
              </a:spcAft>
            </a:pPr>
            <a:r>
              <a:rPr sz="2000" b="0" i="0" dirty="0">
                <a:solidFill>
                  <a:srgbClr val="2E2140"/>
                </a:solidFill>
                <a:latin typeface="Calibri"/>
              </a:rPr>
              <a:t>iamtekson.github.io/</a:t>
            </a:r>
            <a:r>
              <a:rPr sz="2000" b="0" i="0" dirty="0" err="1">
                <a:solidFill>
                  <a:srgbClr val="2E2140"/>
                </a:solidFill>
                <a:latin typeface="Calibri"/>
              </a:rPr>
              <a:t>rasuwa</a:t>
            </a:r>
            <a:r>
              <a:rPr sz="2000" b="0" i="0" dirty="0">
                <a:solidFill>
                  <a:srgbClr val="2E2140"/>
                </a:solidFill>
                <a:latin typeface="Calibri"/>
              </a:rPr>
              <a:t>-flood</a:t>
            </a:r>
          </a:p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4A2F5C"/>
                </a:solidFill>
                <a:latin typeface="Calibri"/>
              </a:rPr>
              <a:t>Code &amp; data</a:t>
            </a:r>
          </a:p>
          <a:p>
            <a:pPr algn="l">
              <a:spcAft>
                <a:spcPts val="1200"/>
              </a:spcAft>
            </a:pPr>
            <a:r>
              <a:rPr sz="2000" b="0" i="0" dirty="0">
                <a:solidFill>
                  <a:srgbClr val="2E2140"/>
                </a:solidFill>
                <a:latin typeface="Calibri"/>
              </a:rPr>
              <a:t>github.com/</a:t>
            </a:r>
            <a:r>
              <a:rPr sz="2000" b="0" i="0" dirty="0" err="1">
                <a:solidFill>
                  <a:srgbClr val="2E2140"/>
                </a:solidFill>
                <a:latin typeface="Calibri"/>
              </a:rPr>
              <a:t>iamtekson</a:t>
            </a:r>
            <a:r>
              <a:rPr sz="2000" b="0" i="0" dirty="0">
                <a:solidFill>
                  <a:srgbClr val="2E2140"/>
                </a:solidFill>
                <a:latin typeface="Calibri"/>
              </a:rPr>
              <a:t>/</a:t>
            </a:r>
            <a:r>
              <a:rPr sz="2000" b="0" i="0" dirty="0" err="1">
                <a:solidFill>
                  <a:srgbClr val="2E2140"/>
                </a:solidFill>
                <a:latin typeface="Calibri"/>
              </a:rPr>
              <a:t>rasuwa</a:t>
            </a:r>
            <a:r>
              <a:rPr sz="2000" b="0" i="0" dirty="0">
                <a:solidFill>
                  <a:srgbClr val="2E2140"/>
                </a:solidFill>
                <a:latin typeface="Calibri"/>
              </a:rPr>
              <a:t>-flood</a:t>
            </a:r>
          </a:p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4A2F5C"/>
                </a:solidFill>
                <a:latin typeface="Calibri"/>
              </a:rPr>
              <a:t>Contact</a:t>
            </a:r>
          </a:p>
          <a:p>
            <a:pPr algn="l"/>
            <a:r>
              <a:rPr lang="en-CA" sz="2000" b="0" i="0" dirty="0">
                <a:solidFill>
                  <a:srgbClr val="2E2140"/>
                </a:solidFill>
                <a:latin typeface="Calibri"/>
              </a:rPr>
              <a:t>Email: </a:t>
            </a:r>
            <a:r>
              <a:rPr lang="en-CA" sz="2000" dirty="0">
                <a:solidFill>
                  <a:srgbClr val="2E2140"/>
                </a:solidFill>
                <a:latin typeface="Calibri"/>
                <a:hlinkClick r:id="rId5"/>
              </a:rPr>
              <a:t>tek.Kshetri@ucalgary.ca</a:t>
            </a:r>
            <a:endParaRPr lang="en-CA" sz="2000" dirty="0">
              <a:solidFill>
                <a:srgbClr val="2E2140"/>
              </a:solidFill>
              <a:latin typeface="Calibri"/>
            </a:endParaRPr>
          </a:p>
          <a:p>
            <a:r>
              <a:rPr lang="en-CA" sz="2000" b="0" i="0" dirty="0" err="1">
                <a:solidFill>
                  <a:srgbClr val="2E2140"/>
                </a:solidFill>
                <a:latin typeface="Calibri"/>
              </a:rPr>
              <a:t>Linkedin</a:t>
            </a:r>
            <a:r>
              <a:rPr lang="en-CA" sz="2000" dirty="0">
                <a:solidFill>
                  <a:srgbClr val="2E2140"/>
                </a:solidFill>
              </a:rPr>
              <a:t>: </a:t>
            </a:r>
            <a:r>
              <a:rPr lang="en-CA" sz="2000" dirty="0">
                <a:solidFill>
                  <a:srgbClr val="2E2140"/>
                </a:solidFill>
                <a:hlinkClick r:id="rId6"/>
              </a:rPr>
              <a:t>https://www.linkedin.com/in/iamtekson/</a:t>
            </a:r>
            <a:r>
              <a:rPr lang="en-CA" sz="2000" dirty="0">
                <a:solidFill>
                  <a:srgbClr val="2E2140"/>
                </a:solidFill>
              </a:rPr>
              <a:t> </a:t>
            </a:r>
            <a:endParaRPr sz="2000" b="0" i="0" dirty="0">
              <a:solidFill>
                <a:srgbClr val="2E2140"/>
              </a:solidFill>
              <a:latin typeface="Calibri"/>
            </a:endParaRPr>
          </a:p>
        </p:txBody>
      </p:sp>
      <p:pic>
        <p:nvPicPr>
          <p:cNvPr id="14" name="Picture 13" descr="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4709160"/>
            <a:ext cx="2240280" cy="2240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18320" y="699516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6B5B78"/>
                </a:solidFill>
                <a:latin typeface="Calibri"/>
              </a:rPr>
              <a:t>Scan to open the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1577</Words>
  <Application>Microsoft Office PowerPoint</Application>
  <PresentationFormat>Custom</PresentationFormat>
  <Paragraphs>159</Paragraphs>
  <Slides>11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Bobby Jones Condensed</vt:lpstr>
      <vt:lpstr>Calibri</vt:lpstr>
      <vt:lpstr>Courier New</vt:lpstr>
      <vt:lpstr>Jingleberry</vt:lpstr>
      <vt:lpstr>One Little Font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Sayanna kar</dc:creator>
  <cp:lastModifiedBy>Tek Kshetri</cp:lastModifiedBy>
  <cp:revision>12</cp:revision>
  <dcterms:modified xsi:type="dcterms:W3CDTF">2026-09-27T06:33:46Z</dcterms:modified>
</cp:coreProperties>
</file>