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3"/>
  </p:notesMasterIdLst>
  <p:sldIdLst>
    <p:sldId id="256" r:id="rId2"/>
    <p:sldId id="257" r:id="rId3"/>
    <p:sldId id="263" r:id="rId4"/>
    <p:sldId id="259" r:id="rId5"/>
    <p:sldId id="262" r:id="rId6"/>
    <p:sldId id="269" r:id="rId7"/>
    <p:sldId id="261" r:id="rId8"/>
    <p:sldId id="264" r:id="rId9"/>
    <p:sldId id="265" r:id="rId10"/>
    <p:sldId id="270" r:id="rId11"/>
    <p:sldId id="268" r:id="rId12"/>
  </p:sldIdLst>
  <p:sldSz cx="18288000" cy="10287000"/>
  <p:notesSz cx="6858000" cy="9144000"/>
  <p:defaultTextStyle>
    <a:defPPr lvl="0">
      <a:defRPr lang="en-US"/>
    </a:defPPr>
    <a:lvl1pPr marL="0" lvl="0" algn="l" defTabSz="914400" rtl="0" eaLnBrk="1" latinLnBrk="0" hangingPunct="1">
      <a:defRPr sz="1800" kern="1200">
        <a:solidFill>
          <a:schemeClr val="tx1"/>
        </a:solidFill>
        <a:latin typeface="+mn-lt"/>
        <a:ea typeface="+mn-ea"/>
        <a:cs typeface="+mn-cs"/>
      </a:defRPr>
    </a:lvl1pPr>
    <a:lvl2pPr marL="457200" lvl="1" algn="l" defTabSz="914400" rtl="0" eaLnBrk="1" latinLnBrk="0" hangingPunct="1">
      <a:defRPr sz="1800" kern="1200">
        <a:solidFill>
          <a:schemeClr val="tx1"/>
        </a:solidFill>
        <a:latin typeface="+mn-lt"/>
        <a:ea typeface="+mn-ea"/>
        <a:cs typeface="+mn-cs"/>
      </a:defRPr>
    </a:lvl2pPr>
    <a:lvl3pPr marL="914400" lvl="2" algn="l" defTabSz="914400" rtl="0" eaLnBrk="1" latinLnBrk="0" hangingPunct="1">
      <a:defRPr sz="1800" kern="1200">
        <a:solidFill>
          <a:schemeClr val="tx1"/>
        </a:solidFill>
        <a:latin typeface="+mn-lt"/>
        <a:ea typeface="+mn-ea"/>
        <a:cs typeface="+mn-cs"/>
      </a:defRPr>
    </a:lvl3pPr>
    <a:lvl4pPr marL="1371600" lvl="3" algn="l" defTabSz="914400" rtl="0" eaLnBrk="1" latinLnBrk="0" hangingPunct="1">
      <a:defRPr sz="1800" kern="1200">
        <a:solidFill>
          <a:schemeClr val="tx1"/>
        </a:solidFill>
        <a:latin typeface="+mn-lt"/>
        <a:ea typeface="+mn-ea"/>
        <a:cs typeface="+mn-cs"/>
      </a:defRPr>
    </a:lvl4pPr>
    <a:lvl5pPr marL="1828800" lvl="4" algn="l" defTabSz="914400" rtl="0" eaLnBrk="1" latinLnBrk="0" hangingPunct="1">
      <a:defRPr sz="1800" kern="1200">
        <a:solidFill>
          <a:schemeClr val="tx1"/>
        </a:solidFill>
        <a:latin typeface="+mn-lt"/>
        <a:ea typeface="+mn-ea"/>
        <a:cs typeface="+mn-cs"/>
      </a:defRPr>
    </a:lvl5pPr>
    <a:lvl6pPr marL="2286000" lvl="5" algn="l" defTabSz="914400" rtl="0" eaLnBrk="1" latinLnBrk="0" hangingPunct="1">
      <a:defRPr sz="1800" kern="1200">
        <a:solidFill>
          <a:schemeClr val="tx1"/>
        </a:solidFill>
        <a:latin typeface="+mn-lt"/>
        <a:ea typeface="+mn-ea"/>
        <a:cs typeface="+mn-cs"/>
      </a:defRPr>
    </a:lvl6pPr>
    <a:lvl7pPr marL="2743200" lvl="6" algn="l" defTabSz="914400" rtl="0" eaLnBrk="1" latinLnBrk="0" hangingPunct="1">
      <a:defRPr sz="1800" kern="1200">
        <a:solidFill>
          <a:schemeClr val="tx1"/>
        </a:solidFill>
        <a:latin typeface="+mn-lt"/>
        <a:ea typeface="+mn-ea"/>
        <a:cs typeface="+mn-cs"/>
      </a:defRPr>
    </a:lvl7pPr>
    <a:lvl8pPr marL="3200400" lvl="7" algn="l" defTabSz="914400" rtl="0" eaLnBrk="1" latinLnBrk="0" hangingPunct="1">
      <a:defRPr sz="1800" kern="1200">
        <a:solidFill>
          <a:schemeClr val="tx1"/>
        </a:solidFill>
        <a:latin typeface="+mn-lt"/>
        <a:ea typeface="+mn-ea"/>
        <a:cs typeface="+mn-cs"/>
      </a:defRPr>
    </a:lvl8pPr>
    <a:lvl9pPr marL="3657600" lvl="8"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1" d="100"/>
          <a:sy n="101" d="100"/>
        </p:scale>
        <p:origin x="2886" y="7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600" b="1">
                <a:solidFill>
                  <a:srgbClr val="2E2140"/>
                </a:solidFill>
                <a:latin typeface="Calibri"/>
              </a:rPr>
              <a:t>Assets in the flood corridor (count)</a:t>
            </a:r>
          </a:p>
        </c:rich>
      </c:tx>
      <c:overlay val="0"/>
    </c:title>
    <c:autoTitleDeleted val="0"/>
    <c:plotArea>
      <c:layout/>
      <c:barChart>
        <c:barDir val="bar"/>
        <c:grouping val="clustered"/>
        <c:varyColors val="1"/>
        <c:ser>
          <c:idx val="0"/>
          <c:order val="0"/>
          <c:tx>
            <c:strRef>
              <c:f>Sheet1!$B$1</c:f>
              <c:strCache>
                <c:ptCount val="1"/>
                <c:pt idx="0">
                  <c:v>Count</c:v>
                </c:pt>
              </c:strCache>
            </c:strRef>
          </c:tx>
          <c:spPr>
            <a:solidFill>
              <a:srgbClr val="4A2F5C"/>
            </a:solidFill>
          </c:spPr>
          <c:invertIfNegative val="1"/>
          <c:dPt>
            <c:idx val="6"/>
            <c:invertIfNegative val="1"/>
            <c:bubble3D val="0"/>
            <c:spPr>
              <a:solidFill>
                <a:srgbClr val="D9692A"/>
              </a:solidFill>
            </c:spPr>
            <c:extLst>
              <c:ext xmlns:c16="http://schemas.microsoft.com/office/drawing/2014/chart" uri="{C3380CC4-5D6E-409C-BE32-E72D297353CC}">
                <c16:uniqueId val="{00000001-E5CB-46EE-A52F-AD45AB4BAE3F}"/>
              </c:ext>
            </c:extLst>
          </c:dPt>
          <c:dLbls>
            <c:numFmt formatCode="0" sourceLinked="0"/>
            <c:spPr>
              <a:noFill/>
              <a:ln>
                <a:noFill/>
              </a:ln>
              <a:effectLst/>
            </c:spPr>
            <c:txPr>
              <a:bodyPr/>
              <a:lstStyle/>
              <a:p>
                <a:pPr>
                  <a:defRPr sz="1300" b="1">
                    <a:solidFill>
                      <a:srgbClr val="2E2140"/>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Telecom towers*</c:v>
                </c:pt>
                <c:pt idx="1">
                  <c:v>Solar power plants</c:v>
                </c:pt>
                <c:pt idx="2">
                  <c:v>Schools*</c:v>
                </c:pt>
                <c:pt idx="3">
                  <c:v>Health facilities*</c:v>
                </c:pt>
                <c:pt idx="4">
                  <c:v>Hydropower projects</c:v>
                </c:pt>
                <c:pt idx="5">
                  <c:v>Banks impacted</c:v>
                </c:pt>
                <c:pt idx="6">
                  <c:v>Exposed settlements</c:v>
                </c:pt>
              </c:strCache>
            </c:strRef>
          </c:cat>
          <c:val>
            <c:numRef>
              <c:f>Sheet1!$B$2:$B$8</c:f>
              <c:numCache>
                <c:formatCode>General</c:formatCode>
                <c:ptCount val="7"/>
                <c:pt idx="0">
                  <c:v>2</c:v>
                </c:pt>
                <c:pt idx="1">
                  <c:v>5</c:v>
                </c:pt>
                <c:pt idx="2">
                  <c:v>8</c:v>
                </c:pt>
                <c:pt idx="3">
                  <c:v>10</c:v>
                </c:pt>
                <c:pt idx="4">
                  <c:v>13</c:v>
                </c:pt>
                <c:pt idx="5">
                  <c:v>77</c:v>
                </c:pt>
                <c:pt idx="6">
                  <c:v>190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E5CB-46EE-A52F-AD45AB4BAE3F}"/>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C9B6D6"/>
            </a:solidFill>
          </a:ln>
        </c:spPr>
        <c:txPr>
          <a:bodyPr/>
          <a:lstStyle/>
          <a:p>
            <a:pPr>
              <a:defRPr sz="1300">
                <a:solidFill>
                  <a:srgbClr val="2E2140"/>
                </a:solidFill>
                <a:latin typeface="Calibri"/>
              </a:defRPr>
            </a:pPr>
            <a:endParaRPr lang="en-US"/>
          </a:p>
        </c:txPr>
        <c:crossAx val="-2113994440"/>
        <c:crosses val="autoZero"/>
        <c:auto val="1"/>
        <c:lblAlgn val="ctr"/>
        <c:lblOffset val="100"/>
        <c:noMultiLvlLbl val="0"/>
      </c:catAx>
      <c:valAx>
        <c:axId val="-2113994440"/>
        <c:scaling>
          <c:orientation val="minMax"/>
          <c:max val="225"/>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F3A14D-719C-4887-9009-D1E514AADF11}" type="datetimeFigureOut">
              <a:rPr lang="en-GB" smtClean="0"/>
              <a:t>25/09/2026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E1D797-8FAC-4F3F-9BAE-CDC6806FD206}" type="slidenum">
              <a:rPr lang="en-GB" smtClean="0"/>
              <a:t>‹#›</a:t>
            </a:fld>
            <a:endParaRPr lang="en-GB"/>
          </a:p>
        </p:txBody>
      </p:sp>
    </p:spTree>
    <p:extLst>
      <p:ext uri="{BB962C8B-B14F-4D97-AF65-F5344CB8AC3E}">
        <p14:creationId xmlns:p14="http://schemas.microsoft.com/office/powerpoint/2010/main" val="3354326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we are [team]. Our entry for Theme 07 is the Rasuwa Flood Portal: one open 3D map that brings together everything known about the 26 August 2026 Bhotekoshi flood.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problem was not a lack of data, it was that data lived in ten different places. Our innovation is a portal that keeps growing: a new dataset is a few lines of JSON, not new code.</a:t>
            </a:r>
          </a:p>
        </p:txBody>
      </p:sp>
      <p:sp>
        <p:nvSpPr>
          <p:cNvPr id="4" name="Slide Number Placeholder 3"/>
          <p:cNvSpPr>
            <a:spLocks noGrp="1"/>
          </p:cNvSpPr>
          <p:nvPr>
            <p:ph type="sldNum" sz="quarter" idx="5"/>
          </p:nvPr>
        </p:nvSpPr>
        <p:spPr/>
        <p:txBody>
          <a:bodyPr/>
          <a:lstStyle/>
          <a:p>
            <a:fld id="{A8E1D797-8FAC-4F3F-9BAE-CDC6806FD206}" type="slidenum">
              <a:rPr lang="en-GB" smtClean="0"/>
              <a:t>2</a:t>
            </a:fld>
            <a:endParaRPr lang="en-GB"/>
          </a:p>
        </p:txBody>
      </p:sp>
    </p:spTree>
    <p:extLst>
      <p:ext uri="{BB962C8B-B14F-4D97-AF65-F5344CB8AC3E}">
        <p14:creationId xmlns:p14="http://schemas.microsoft.com/office/powerpoint/2010/main" val="31276582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facts: a 72 km corridor, 8 districts, data from more than ten open sources, and the output is a live portal anyone can open.</a:t>
            </a:r>
          </a:p>
        </p:txBody>
      </p:sp>
      <p:sp>
        <p:nvSpPr>
          <p:cNvPr id="4" name="Slide Number Placeholder 3"/>
          <p:cNvSpPr>
            <a:spLocks noGrp="1"/>
          </p:cNvSpPr>
          <p:nvPr>
            <p:ph type="sldNum" sz="quarter" idx="5"/>
          </p:nvPr>
        </p:nvSpPr>
        <p:spPr/>
        <p:txBody>
          <a:bodyPr/>
          <a:lstStyle/>
          <a:p>
            <a:fld id="{A8E1D797-8FAC-4F3F-9BAE-CDC6806FD206}" type="slidenum">
              <a:rPr lang="en-GB" smtClean="0"/>
              <a:t>3</a:t>
            </a:fld>
            <a:endParaRPr lang="en-GB"/>
          </a:p>
        </p:txBody>
      </p:sp>
    </p:spTree>
    <p:extLst>
      <p:ext uri="{BB962C8B-B14F-4D97-AF65-F5344CB8AC3E}">
        <p14:creationId xmlns:p14="http://schemas.microsoft.com/office/powerpoint/2010/main" val="4827254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steps. The key design choice is step 3: the whole map is driven by one JSON file, so adding a dataset needs no programming.</a:t>
            </a:r>
          </a:p>
        </p:txBody>
      </p:sp>
      <p:sp>
        <p:nvSpPr>
          <p:cNvPr id="4" name="Slide Number Placeholder 3"/>
          <p:cNvSpPr>
            <a:spLocks noGrp="1"/>
          </p:cNvSpPr>
          <p:nvPr>
            <p:ph type="sldNum" sz="quarter" idx="5"/>
          </p:nvPr>
        </p:nvSpPr>
        <p:spPr/>
        <p:txBody>
          <a:bodyPr/>
          <a:lstStyle/>
          <a:p>
            <a:fld id="{A8E1D797-8FAC-4F3F-9BAE-CDC6806FD206}" type="slidenum">
              <a:rPr lang="en-GB" smtClean="0"/>
              <a:t>4</a:t>
            </a:fld>
            <a:endParaRPr lang="en-GB"/>
          </a:p>
        </p:txBody>
      </p:sp>
    </p:spTree>
    <p:extLst>
      <p:ext uri="{BB962C8B-B14F-4D97-AF65-F5344CB8AC3E}">
        <p14:creationId xmlns:p14="http://schemas.microsoft.com/office/powerpoint/2010/main" val="4827254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damage picture from the impact layers. Roads stand out: about 145 km damaged and 163 more at risk. Every number here can be clicked on the live map.</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satellite, same pixels, two dates. Each side has its own dropdown, so you can compare True Color, False Color or NDVI. NDVI makes vegetation loss obvious.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Related work: the same area is covered by OSM impact layers and HOT's damage assessment; the Chamoli 2021 study is the closest hazard type; uMap and Copernicus are the closest existing tools. What they lack is everything in one maintained, 3D place.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are honest about AI: today it helps in the upstream damage mapping and in development. The next step is automatic change detection from Sentinel-2 and rule-based priority ranking.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of our four objectives are met; the fourth, community contributions, is ongoing by design.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whole project in one picture: scattered data goes in, one open portal comes out, and responders, researchers and the public all use the same map.</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Scan the QR code to open the portal and try the before/after swipe yourself.</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5.sv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7.sv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png"/><Relationship Id="rId7"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9.sv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9.sv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5.svg"/><Relationship Id="rId4" Type="http://schemas.openxmlformats.org/officeDocument/2006/relationships/image" Target="../media/image14.sv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0.sv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17.jpg"/><Relationship Id="rId4" Type="http://schemas.openxmlformats.org/officeDocument/2006/relationships/image" Target="../media/image16.sv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p:spPr>
        <p:style>
          <a:lnRef idx="1">
            <a:schemeClr val="accent3"/>
          </a:lnRef>
          <a:fillRef idx="2">
            <a:schemeClr val="accent3"/>
          </a:fillRef>
          <a:effectRef idx="1">
            <a:schemeClr val="accent3"/>
          </a:effectRef>
          <a:fontRef idx="minor">
            <a:schemeClr val="dk1"/>
          </a:fontRef>
        </p:style>
        <p:txBody>
          <a:bodyPr/>
          <a:lstStyle/>
          <a:p>
            <a:endParaRPr lang="en-GB"/>
          </a:p>
        </p:txBody>
      </p:sp>
      <p:grpSp>
        <p:nvGrpSpPr>
          <p:cNvPr id="3" name="Group 3"/>
          <p:cNvGrpSpPr/>
          <p:nvPr/>
        </p:nvGrpSpPr>
        <p:grpSpPr>
          <a:xfrm>
            <a:off x="7079270" y="-534099"/>
            <a:ext cx="11227780" cy="10865044"/>
            <a:chOff x="0" y="-38100"/>
            <a:chExt cx="2985058" cy="1548094"/>
          </a:xfrm>
        </p:grpSpPr>
        <p:sp>
          <p:nvSpPr>
            <p:cNvPr id="4" name="Freeform 4"/>
            <p:cNvSpPr/>
            <p:nvPr/>
          </p:nvSpPr>
          <p:spPr>
            <a:xfrm>
              <a:off x="54659" y="38392"/>
              <a:ext cx="2930399" cy="1467014"/>
            </a:xfrm>
            <a:prstGeom prst="rect">
              <a:avLst/>
            </a:prstGeom>
            <a:solidFill>
              <a:srgbClr val="FFFFFF"/>
            </a:solidFill>
          </p:spPr>
          <p:txBody>
            <a:bodyPr/>
            <a:lstStyle/>
            <a:p>
              <a:endParaRPr lang="en-GB" dirty="0"/>
            </a:p>
          </p:txBody>
        </p:sp>
        <p:sp>
          <p:nvSpPr>
            <p:cNvPr id="5" name="TextBox 5"/>
            <p:cNvSpPr txBox="1"/>
            <p:nvPr/>
          </p:nvSpPr>
          <p:spPr>
            <a:xfrm>
              <a:off x="0" y="-38100"/>
              <a:ext cx="2982956" cy="1548094"/>
            </a:xfrm>
            <a:prstGeom prst="rect">
              <a:avLst/>
            </a:prstGeom>
          </p:spPr>
          <p:txBody>
            <a:bodyPr lIns="50800" tIns="50800" rIns="50800" bIns="50800" rtlCol="0" anchor="ctr"/>
            <a:lstStyle/>
            <a:p>
              <a:pPr algn="ctr">
                <a:lnSpc>
                  <a:spcPts val="2659"/>
                </a:lnSpc>
              </a:pPr>
              <a:endParaRPr/>
            </a:p>
          </p:txBody>
        </p:sp>
      </p:grpSp>
      <p:sp>
        <p:nvSpPr>
          <p:cNvPr id="6" name="TextBox 6"/>
          <p:cNvSpPr txBox="1"/>
          <p:nvPr/>
        </p:nvSpPr>
        <p:spPr>
          <a:xfrm>
            <a:off x="7276953" y="2148840"/>
            <a:ext cx="11011047" cy="830997"/>
          </a:xfrm>
          <a:prstGeom prst="rect">
            <a:avLst/>
          </a:prstGeom>
        </p:spPr>
        <p:txBody>
          <a:bodyPr wrap="square" lIns="0" tIns="0" rIns="0" bIns="0" rtlCol="0" anchor="t">
            <a:spAutoFit/>
          </a:bodyPr>
          <a:lstStyle/>
          <a:p>
            <a:pPr algn="ctr"/>
            <a:r>
              <a:rPr lang="en-US" sz="5400" spc="1085" dirty="0">
                <a:solidFill>
                  <a:srgbClr val="543855"/>
                </a:solidFill>
                <a:latin typeface="Jingleberry"/>
                <a:ea typeface="Jingleberry"/>
                <a:cs typeface="Jingleberry"/>
                <a:sym typeface="Jingleberry"/>
              </a:rPr>
              <a:t>Rasuwa Flood Portal</a:t>
            </a:r>
          </a:p>
        </p:txBody>
      </p:sp>
      <p:sp>
        <p:nvSpPr>
          <p:cNvPr id="9" name="TextBox 9"/>
          <p:cNvSpPr txBox="1"/>
          <p:nvPr/>
        </p:nvSpPr>
        <p:spPr>
          <a:xfrm>
            <a:off x="7286955" y="5794724"/>
            <a:ext cx="11001045" cy="598623"/>
          </a:xfrm>
          <a:prstGeom prst="rect">
            <a:avLst/>
          </a:prstGeom>
        </p:spPr>
        <p:txBody>
          <a:bodyPr wrap="square" lIns="0" tIns="0" rIns="0" bIns="0" rtlCol="0" anchor="t">
            <a:spAutoFit/>
          </a:bodyPr>
          <a:lstStyle/>
          <a:p>
            <a:pPr algn="ctr">
              <a:lnSpc>
                <a:spcPts val="4459"/>
              </a:lnSpc>
            </a:pPr>
            <a:r>
              <a:rPr lang="en-US" sz="4459" spc="405" dirty="0" err="1">
                <a:solidFill>
                  <a:srgbClr val="543855"/>
                </a:solidFill>
                <a:latin typeface="Bobby Jones Condensed"/>
                <a:ea typeface="Bobby Jones Condensed"/>
                <a:cs typeface="Bobby Jones Condensed"/>
                <a:sym typeface="Bobby Jones Condensed"/>
              </a:rPr>
              <a:t>GeoDev</a:t>
            </a:r>
            <a:endParaRPr lang="en-US" sz="4459" spc="405" dirty="0">
              <a:solidFill>
                <a:srgbClr val="543855"/>
              </a:solidFill>
              <a:latin typeface="Bobby Jones Condensed"/>
              <a:ea typeface="Bobby Jones Condensed"/>
              <a:cs typeface="Bobby Jones Condensed"/>
              <a:sym typeface="Bobby Jones Condensed"/>
            </a:endParaRPr>
          </a:p>
        </p:txBody>
      </p:sp>
      <p:sp>
        <p:nvSpPr>
          <p:cNvPr id="12" name="TextBox 6">
            <a:extLst>
              <a:ext uri="{FF2B5EF4-FFF2-40B4-BE49-F238E27FC236}">
                <a16:creationId xmlns:a16="http://schemas.microsoft.com/office/drawing/2014/main" id="{B4B26983-ED2E-DE6A-B1F2-3DF31A42662F}"/>
              </a:ext>
            </a:extLst>
          </p:cNvPr>
          <p:cNvSpPr txBox="1"/>
          <p:nvPr/>
        </p:nvSpPr>
        <p:spPr>
          <a:xfrm>
            <a:off x="7276953" y="4160520"/>
            <a:ext cx="11001045" cy="548640"/>
          </a:xfrm>
          <a:prstGeom prst="rect">
            <a:avLst/>
          </a:prstGeom>
        </p:spPr>
        <p:txBody>
          <a:bodyPr wrap="square" lIns="0" tIns="0" rIns="0" bIns="0" rtlCol="0" anchor="t">
            <a:spAutoFit/>
          </a:bodyPr>
          <a:lstStyle/>
          <a:p>
            <a:pPr algn="ctr"/>
            <a:r>
              <a:rPr lang="en-US" sz="3200" spc="1085" dirty="0">
                <a:solidFill>
                  <a:srgbClr val="543855"/>
                </a:solidFill>
                <a:latin typeface="Jingleberry"/>
                <a:ea typeface="Jingleberry"/>
                <a:cs typeface="Jingleberry"/>
                <a:sym typeface="Jingleberry"/>
              </a:rPr>
              <a:t>Theme 07 · Beyond the Known</a:t>
            </a:r>
          </a:p>
        </p:txBody>
      </p:sp>
      <p:sp>
        <p:nvSpPr>
          <p:cNvPr id="8" name="TextBox 6">
            <a:extLst>
              <a:ext uri="{FF2B5EF4-FFF2-40B4-BE49-F238E27FC236}">
                <a16:creationId xmlns:a16="http://schemas.microsoft.com/office/drawing/2014/main" id="{88208B8C-4891-DDDE-5A7C-C3CBDEBEE223}"/>
              </a:ext>
            </a:extLst>
          </p:cNvPr>
          <p:cNvSpPr txBox="1"/>
          <p:nvPr/>
        </p:nvSpPr>
        <p:spPr>
          <a:xfrm>
            <a:off x="7299599" y="7159549"/>
            <a:ext cx="11001045" cy="369332"/>
          </a:xfrm>
          <a:prstGeom prst="rect">
            <a:avLst/>
          </a:prstGeom>
        </p:spPr>
        <p:txBody>
          <a:bodyPr wrap="square" lIns="0" tIns="0" rIns="0" bIns="0" rtlCol="0" anchor="t">
            <a:spAutoFit/>
          </a:bodyPr>
          <a:lstStyle/>
          <a:p>
            <a:pPr algn="ctr"/>
            <a:r>
              <a:rPr lang="en-US" sz="2400" spc="1085" dirty="0">
                <a:latin typeface="Jingleberry"/>
                <a:ea typeface="Jingleberry"/>
                <a:cs typeface="Jingleberry"/>
                <a:sym typeface="Jingleberry"/>
              </a:rPr>
              <a:t>Tek Kshetri</a:t>
            </a:r>
          </a:p>
        </p:txBody>
      </p:sp>
      <p:sp>
        <p:nvSpPr>
          <p:cNvPr id="13" name="TextBox 6">
            <a:extLst>
              <a:ext uri="{FF2B5EF4-FFF2-40B4-BE49-F238E27FC236}">
                <a16:creationId xmlns:a16="http://schemas.microsoft.com/office/drawing/2014/main" id="{FAB141C4-1788-5D80-CA18-AFFA1BE44FC0}"/>
              </a:ext>
            </a:extLst>
          </p:cNvPr>
          <p:cNvSpPr txBox="1"/>
          <p:nvPr/>
        </p:nvSpPr>
        <p:spPr>
          <a:xfrm>
            <a:off x="7294654" y="8186091"/>
            <a:ext cx="11012396" cy="430887"/>
          </a:xfrm>
          <a:prstGeom prst="rect">
            <a:avLst/>
          </a:prstGeom>
        </p:spPr>
        <p:txBody>
          <a:bodyPr wrap="square" lIns="0" tIns="0" rIns="0" bIns="0" rtlCol="0" anchor="t">
            <a:spAutoFit/>
          </a:bodyPr>
          <a:lstStyle/>
          <a:p>
            <a:pPr algn="ctr"/>
            <a:r>
              <a:rPr lang="en-US" sz="2800" spc="1085" dirty="0" err="1">
                <a:latin typeface="Jingleberry"/>
                <a:ea typeface="Jingleberry"/>
                <a:cs typeface="Jingleberry"/>
                <a:sym typeface="Jingleberry"/>
              </a:rPr>
              <a:t>OSGeo</a:t>
            </a:r>
            <a:r>
              <a:rPr lang="en-US" sz="2800" spc="1085" dirty="0">
                <a:latin typeface="Jingleberry"/>
                <a:ea typeface="Jingleberry"/>
                <a:cs typeface="Jingleberry"/>
                <a:sym typeface="Jingleberry"/>
              </a:rPr>
              <a:t> Nepal, Nepal</a:t>
            </a:r>
          </a:p>
        </p:txBody>
      </p:sp>
      <p:pic>
        <p:nvPicPr>
          <p:cNvPr id="7" name="Picture 6" descr="Generated image 1">
            <a:extLst>
              <a:ext uri="{FF2B5EF4-FFF2-40B4-BE49-F238E27FC236}">
                <a16:creationId xmlns:a16="http://schemas.microsoft.com/office/drawing/2014/main" id="{AEA92AA3-D8F6-2D17-6B9D-7E49A798B532}"/>
              </a:ext>
            </a:extLst>
          </p:cNvPr>
          <p:cNvPicPr>
            <a:picLocks noChangeAspect="1"/>
          </p:cNvPicPr>
          <p:nvPr/>
        </p:nvPicPr>
        <p:blipFill>
          <a:blip r:embed="rId3"/>
          <a:srcRect b="10853"/>
          <a:stretch>
            <a:fillRect/>
          </a:stretch>
        </p:blipFill>
        <p:spPr>
          <a:xfrm>
            <a:off x="46852" y="17834"/>
            <a:ext cx="8002937" cy="10251332"/>
          </a:xfrm>
          <a:prstGeom prst="rect">
            <a:avLst/>
          </a:prstGeom>
        </p:spPr>
      </p:pic>
      <p:pic>
        <p:nvPicPr>
          <p:cNvPr id="14" name="Picture 13">
            <a:extLst>
              <a:ext uri="{FF2B5EF4-FFF2-40B4-BE49-F238E27FC236}">
                <a16:creationId xmlns:a16="http://schemas.microsoft.com/office/drawing/2014/main" id="{C22206C6-4908-CAAF-17C9-172CF524BB13}"/>
              </a:ext>
            </a:extLst>
          </p:cNvPr>
          <p:cNvPicPr>
            <a:picLocks noChangeAspect="1"/>
          </p:cNvPicPr>
          <p:nvPr/>
        </p:nvPicPr>
        <p:blipFill>
          <a:blip r:embed="rId4"/>
          <a:srcRect b="89409"/>
          <a:stretch>
            <a:fillRect/>
          </a:stretch>
        </p:blipFill>
        <p:spPr>
          <a:xfrm>
            <a:off x="8255379" y="17834"/>
            <a:ext cx="9762706" cy="1089498"/>
          </a:xfrm>
          <a:prstGeom prst="rect">
            <a:avLst/>
          </a:prstGeom>
        </p:spPr>
      </p:pic>
      <p:sp>
        <p:nvSpPr>
          <p:cNvPr id="15" name="TextBox 14"/>
          <p:cNvSpPr txBox="1"/>
          <p:nvPr/>
        </p:nvSpPr>
        <p:spPr>
          <a:xfrm>
            <a:off x="7278624" y="3063240"/>
            <a:ext cx="11009376" cy="548640"/>
          </a:xfrm>
          <a:prstGeom prst="rect">
            <a:avLst/>
          </a:prstGeom>
          <a:noFill/>
        </p:spPr>
        <p:txBody>
          <a:bodyPr wrap="square" lIns="0" tIns="0" rIns="0" bIns="0" anchor="t">
            <a:spAutoFit/>
          </a:bodyPr>
          <a:lstStyle/>
          <a:p>
            <a:pPr algn="ctr"/>
            <a:r>
              <a:rPr sz="2600" b="0" i="1">
                <a:solidFill>
                  <a:srgbClr val="6B5B78"/>
                </a:solidFill>
                <a:latin typeface="Calibri"/>
              </a:rPr>
              <a:t>An open, living 3D map of the 2026 Bhotekoshi flood</a:t>
            </a:r>
          </a:p>
        </p:txBody>
      </p:sp>
      <p:sp>
        <p:nvSpPr>
          <p:cNvPr id="16" name="TextBox 15"/>
          <p:cNvSpPr txBox="1"/>
          <p:nvPr/>
        </p:nvSpPr>
        <p:spPr>
          <a:xfrm>
            <a:off x="7278624" y="4709160"/>
            <a:ext cx="11009376" cy="411480"/>
          </a:xfrm>
          <a:prstGeom prst="rect">
            <a:avLst/>
          </a:prstGeom>
          <a:noFill/>
        </p:spPr>
        <p:txBody>
          <a:bodyPr wrap="square" lIns="0" tIns="0" rIns="0" bIns="0" anchor="t">
            <a:spAutoFit/>
          </a:bodyPr>
          <a:lstStyle/>
          <a:p>
            <a:pPr algn="ctr"/>
            <a:r>
              <a:rPr sz="1800" b="0" i="0">
                <a:solidFill>
                  <a:srgbClr val="6B5B78"/>
                </a:solidFill>
                <a:latin typeface="Calibri"/>
              </a:rPr>
              <a:t>An open challenge for disaster innovation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840" t="-40382" b="-38888"/>
            </a:stretch>
          </a:blipFill>
        </p:spPr>
        <p:txBody>
          <a:bodyPr/>
          <a:lstStyle/>
          <a:p>
            <a:endParaRPr lang="en-GB"/>
          </a:p>
        </p:txBody>
      </p:sp>
      <p:sp>
        <p:nvSpPr>
          <p:cNvPr id="3" name="Freeform 3"/>
          <p:cNvSpPr/>
          <p:nvPr/>
        </p:nvSpPr>
        <p:spPr>
          <a:xfrm>
            <a:off x="152400" y="1332182"/>
            <a:ext cx="17907000" cy="8652257"/>
          </a:xfrm>
          <a:custGeom>
            <a:avLst/>
            <a:gdLst/>
            <a:ahLst/>
            <a:cxnLst/>
            <a:rect l="l" t="t" r="r" b="b"/>
            <a:pathLst>
              <a:path w="8621486" h="8229600">
                <a:moveTo>
                  <a:pt x="0" y="0"/>
                </a:moveTo>
                <a:lnTo>
                  <a:pt x="8621486" y="0"/>
                </a:lnTo>
                <a:lnTo>
                  <a:pt x="8621486" y="8229600"/>
                </a:lnTo>
                <a:lnTo>
                  <a:pt x="0" y="82296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dirty="0"/>
          </a:p>
        </p:txBody>
      </p:sp>
      <p:sp>
        <p:nvSpPr>
          <p:cNvPr id="5" name="TextBox 5"/>
          <p:cNvSpPr txBox="1"/>
          <p:nvPr/>
        </p:nvSpPr>
        <p:spPr>
          <a:xfrm>
            <a:off x="-609600" y="325421"/>
            <a:ext cx="7174351" cy="681340"/>
          </a:xfrm>
          <a:prstGeom prst="rect">
            <a:avLst/>
          </a:prstGeom>
        </p:spPr>
        <p:txBody>
          <a:bodyPr lIns="0" tIns="0" rIns="0" bIns="0" rtlCol="0" anchor="t">
            <a:spAutoFit/>
          </a:bodyPr>
          <a:lstStyle/>
          <a:p>
            <a:pPr algn="ctr">
              <a:lnSpc>
                <a:spcPts val="5165"/>
              </a:lnSpc>
            </a:pPr>
            <a:r>
              <a:rPr lang="en-US" sz="5165" b="1" spc="506" dirty="0">
                <a:solidFill>
                  <a:srgbClr val="543855"/>
                </a:solidFill>
                <a:latin typeface="Jingleberry"/>
                <a:ea typeface="Jingleberry"/>
                <a:cs typeface="Jingleberry"/>
                <a:sym typeface="Jingleberry"/>
              </a:rPr>
              <a:t>Project Overview</a:t>
            </a:r>
          </a:p>
        </p:txBody>
      </p:sp>
      <p:sp>
        <p:nvSpPr>
          <p:cNvPr id="6" name="Freeform 6"/>
          <p:cNvSpPr/>
          <p:nvPr/>
        </p:nvSpPr>
        <p:spPr>
          <a:xfrm>
            <a:off x="15786799" y="6961943"/>
            <a:ext cx="4088001" cy="4073135"/>
          </a:xfrm>
          <a:custGeom>
            <a:avLst/>
            <a:gdLst/>
            <a:ahLst/>
            <a:cxnLst/>
            <a:rect l="l" t="t" r="r" b="b"/>
            <a:pathLst>
              <a:path w="4088001" h="4073135">
                <a:moveTo>
                  <a:pt x="0" y="0"/>
                </a:moveTo>
                <a:lnTo>
                  <a:pt x="4088001" y="0"/>
                </a:lnTo>
                <a:lnTo>
                  <a:pt x="4088001" y="4073136"/>
                </a:lnTo>
                <a:lnTo>
                  <a:pt x="0" y="40731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7" name="TextBox 6"/>
          <p:cNvSpPr txBox="1"/>
          <p:nvPr/>
        </p:nvSpPr>
        <p:spPr>
          <a:xfrm>
            <a:off x="2898648" y="2011680"/>
            <a:ext cx="14813280" cy="548640"/>
          </a:xfrm>
          <a:prstGeom prst="rect">
            <a:avLst/>
          </a:prstGeom>
          <a:noFill/>
        </p:spPr>
        <p:txBody>
          <a:bodyPr wrap="square" lIns="0" tIns="0" rIns="0" bIns="0" anchor="t">
            <a:spAutoFit/>
          </a:bodyPr>
          <a:lstStyle/>
          <a:p>
            <a:pPr algn="l"/>
            <a:r>
              <a:rPr sz="3000" b="1" i="0">
                <a:solidFill>
                  <a:srgbClr val="4A2F5C"/>
                </a:solidFill>
                <a:latin typeface="Calibri"/>
              </a:rPr>
              <a:t>Summary</a:t>
            </a:r>
          </a:p>
        </p:txBody>
      </p:sp>
      <p:sp>
        <p:nvSpPr>
          <p:cNvPr id="8" name="TextBox 7"/>
          <p:cNvSpPr txBox="1"/>
          <p:nvPr/>
        </p:nvSpPr>
        <p:spPr>
          <a:xfrm>
            <a:off x="2898648" y="2651760"/>
            <a:ext cx="14813280" cy="2743200"/>
          </a:xfrm>
          <a:prstGeom prst="rect">
            <a:avLst/>
          </a:prstGeom>
          <a:noFill/>
        </p:spPr>
        <p:txBody>
          <a:bodyPr wrap="square" lIns="0" tIns="0" rIns="0" bIns="0" anchor="t">
            <a:spAutoFit/>
          </a:bodyPr>
          <a:lstStyle/>
          <a:p>
            <a:pPr algn="l">
              <a:lnSpc>
                <a:spcPct val="112000"/>
              </a:lnSpc>
            </a:pPr>
            <a:r>
              <a:rPr sz="2200" b="0" i="0">
                <a:solidFill>
                  <a:srgbClr val="2E2140"/>
                </a:solidFill>
                <a:latin typeface="Calibri"/>
              </a:rPr>
              <a:t>On 26 August 2026, a rock and ice collapse near Langtang Lirung sent a debris flood about 72 km down the Bhotekoshi–Trishuli valley in Rasuwa, Nepal. Information about the damage was scattered across agencies, volunteers and satellite platforms. The Rasuwa Flood Portal brings it into one open 3D web map: flood extent, impact layers, landslides and Sentinel-2 before/after imagery. It shows ~145 km of damaged road and 190 exposed settlements along a 45 km² flood extent.</a:t>
            </a:r>
          </a:p>
        </p:txBody>
      </p:sp>
      <p:sp>
        <p:nvSpPr>
          <p:cNvPr id="9" name="TextBox 8"/>
          <p:cNvSpPr txBox="1"/>
          <p:nvPr/>
        </p:nvSpPr>
        <p:spPr>
          <a:xfrm>
            <a:off x="2898648" y="5486400"/>
            <a:ext cx="12435840" cy="548640"/>
          </a:xfrm>
          <a:prstGeom prst="rect">
            <a:avLst/>
          </a:prstGeom>
          <a:noFill/>
        </p:spPr>
        <p:txBody>
          <a:bodyPr wrap="square" lIns="0" tIns="0" rIns="0" bIns="0" anchor="t">
            <a:spAutoFit/>
          </a:bodyPr>
          <a:lstStyle/>
          <a:p>
            <a:pPr algn="l"/>
            <a:r>
              <a:rPr sz="3000" b="1" i="0">
                <a:solidFill>
                  <a:srgbClr val="4A2F5C"/>
                </a:solidFill>
                <a:latin typeface="Calibri"/>
              </a:rPr>
              <a:t>Innovation statement</a:t>
            </a:r>
          </a:p>
        </p:txBody>
      </p:sp>
      <p:sp>
        <p:nvSpPr>
          <p:cNvPr id="10" name="TextBox 9"/>
          <p:cNvSpPr txBox="1"/>
          <p:nvPr/>
        </p:nvSpPr>
        <p:spPr>
          <a:xfrm>
            <a:off x="2898648" y="6126480"/>
            <a:ext cx="12435840" cy="2560320"/>
          </a:xfrm>
          <a:prstGeom prst="rect">
            <a:avLst/>
          </a:prstGeom>
          <a:noFill/>
        </p:spPr>
        <p:txBody>
          <a:bodyPr wrap="square" lIns="0" tIns="0" rIns="0" bIns="0" anchor="t">
            <a:spAutoFit/>
          </a:bodyPr>
          <a:lstStyle/>
          <a:p>
            <a:pPr algn="l">
              <a:lnSpc>
                <a:spcPct val="112000"/>
              </a:lnSpc>
            </a:pPr>
            <a:r>
              <a:rPr sz="2200" b="0" i="0">
                <a:solidFill>
                  <a:srgbClr val="2E2140"/>
                </a:solidFill>
                <a:latin typeface="Calibri"/>
              </a:rPr>
              <a:t>A living portal, not a one-off map. Anyone can add a dataset by editing one config file, with no code. It puts impact data, a 3D Sentinel-2 before/after swipe (True Color, False Color, NDVI) and a flood-surge elevation profile together in one free, open tool.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3418" t="-49976" r="-2555" b="-38420"/>
            </a:stretch>
          </a:blipFill>
        </p:spPr>
        <p:txBody>
          <a:bodyPr/>
          <a:lstStyle/>
          <a:p>
            <a:endParaRPr lang="en-GB"/>
          </a:p>
        </p:txBody>
      </p:sp>
      <p:sp>
        <p:nvSpPr>
          <p:cNvPr id="7" name="Freeform 7"/>
          <p:cNvSpPr>
            <a:spLocks noChangeAspect="1"/>
          </p:cNvSpPr>
          <p:nvPr/>
        </p:nvSpPr>
        <p:spPr>
          <a:xfrm>
            <a:off x="-2971885" y="5738630"/>
            <a:ext cx="7093367" cy="11916000"/>
          </a:xfrm>
          <a:custGeom>
            <a:avLst/>
            <a:gdLst/>
            <a:ahLst/>
            <a:cxnLst/>
            <a:rect l="l" t="t" r="r" b="b"/>
            <a:pathLst>
              <a:path w="6192385" h="10402451">
                <a:moveTo>
                  <a:pt x="0" y="0"/>
                </a:moveTo>
                <a:lnTo>
                  <a:pt x="6192385" y="0"/>
                </a:lnTo>
                <a:lnTo>
                  <a:pt x="6192385" y="10402451"/>
                </a:lnTo>
                <a:lnTo>
                  <a:pt x="0" y="1040245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8" name="TextBox 8"/>
          <p:cNvSpPr txBox="1"/>
          <p:nvPr/>
        </p:nvSpPr>
        <p:spPr>
          <a:xfrm>
            <a:off x="0" y="67093"/>
            <a:ext cx="10896600" cy="1295226"/>
          </a:xfrm>
          <a:prstGeom prst="rect">
            <a:avLst/>
          </a:prstGeom>
        </p:spPr>
        <p:txBody>
          <a:bodyPr wrap="square" lIns="0" tIns="0" rIns="0" bIns="0" rtlCol="0" anchor="t">
            <a:spAutoFit/>
          </a:bodyPr>
          <a:lstStyle/>
          <a:p>
            <a:pPr algn="ctr">
              <a:lnSpc>
                <a:spcPts val="10119"/>
              </a:lnSpc>
            </a:pPr>
            <a:r>
              <a:rPr lang="en-US" sz="8799" spc="879" dirty="0">
                <a:solidFill>
                  <a:srgbClr val="6D4F6D"/>
                </a:solidFill>
                <a:latin typeface="Jingleberry"/>
                <a:ea typeface="Jingleberry"/>
                <a:cs typeface="Jingleberry"/>
                <a:sym typeface="Jingleberry"/>
              </a:rPr>
              <a:t>BASIC Information</a:t>
            </a:r>
          </a:p>
        </p:txBody>
      </p:sp>
      <p:grpSp>
        <p:nvGrpSpPr>
          <p:cNvPr id="19" name="Group 18">
            <a:extLst>
              <a:ext uri="{FF2B5EF4-FFF2-40B4-BE49-F238E27FC236}">
                <a16:creationId xmlns:a16="http://schemas.microsoft.com/office/drawing/2014/main" id="{AE045820-F1E5-9E44-7986-E791DCD6893A}"/>
              </a:ext>
            </a:extLst>
          </p:cNvPr>
          <p:cNvGrpSpPr/>
          <p:nvPr/>
        </p:nvGrpSpPr>
        <p:grpSpPr>
          <a:xfrm>
            <a:off x="4106242" y="1733134"/>
            <a:ext cx="4172285" cy="3982636"/>
            <a:chOff x="13118200" y="5285189"/>
            <a:chExt cx="4172285" cy="3982636"/>
          </a:xfrm>
        </p:grpSpPr>
        <p:sp>
          <p:nvSpPr>
            <p:cNvPr id="6" name="Freeform 6"/>
            <p:cNvSpPr/>
            <p:nvPr/>
          </p:nvSpPr>
          <p:spPr>
            <a:xfrm>
              <a:off x="13118200" y="5285189"/>
              <a:ext cx="4172285"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grpSp>
        <p:nvGrpSpPr>
          <p:cNvPr id="20" name="Group 19">
            <a:extLst>
              <a:ext uri="{FF2B5EF4-FFF2-40B4-BE49-F238E27FC236}">
                <a16:creationId xmlns:a16="http://schemas.microsoft.com/office/drawing/2014/main" id="{594EE854-14FC-113A-A219-E8C1B1F5DF7B}"/>
              </a:ext>
            </a:extLst>
          </p:cNvPr>
          <p:cNvGrpSpPr/>
          <p:nvPr/>
        </p:nvGrpSpPr>
        <p:grpSpPr>
          <a:xfrm>
            <a:off x="8452298" y="1733134"/>
            <a:ext cx="4172285" cy="3982636"/>
            <a:chOff x="13118200" y="5285189"/>
            <a:chExt cx="4172285" cy="3982636"/>
          </a:xfrm>
        </p:grpSpPr>
        <p:sp>
          <p:nvSpPr>
            <p:cNvPr id="21" name="Freeform 6">
              <a:extLst>
                <a:ext uri="{FF2B5EF4-FFF2-40B4-BE49-F238E27FC236}">
                  <a16:creationId xmlns:a16="http://schemas.microsoft.com/office/drawing/2014/main" id="{5B2886D8-7B68-6B55-B17F-8E10FA3D1B59}"/>
                </a:ext>
              </a:extLst>
            </p:cNvPr>
            <p:cNvSpPr/>
            <p:nvPr/>
          </p:nvSpPr>
          <p:spPr>
            <a:xfrm>
              <a:off x="13118200" y="5285189"/>
              <a:ext cx="4172285"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grpSp>
        <p:nvGrpSpPr>
          <p:cNvPr id="24" name="Group 23">
            <a:extLst>
              <a:ext uri="{FF2B5EF4-FFF2-40B4-BE49-F238E27FC236}">
                <a16:creationId xmlns:a16="http://schemas.microsoft.com/office/drawing/2014/main" id="{C3C6B737-CDB2-DA94-8EC2-B401491F4CB6}"/>
              </a:ext>
            </a:extLst>
          </p:cNvPr>
          <p:cNvGrpSpPr/>
          <p:nvPr/>
        </p:nvGrpSpPr>
        <p:grpSpPr>
          <a:xfrm>
            <a:off x="12801600" y="1733134"/>
            <a:ext cx="4172285" cy="3982636"/>
            <a:chOff x="13118200" y="5285189"/>
            <a:chExt cx="4172285" cy="3982636"/>
          </a:xfrm>
        </p:grpSpPr>
        <p:sp>
          <p:nvSpPr>
            <p:cNvPr id="25" name="Freeform 6">
              <a:extLst>
                <a:ext uri="{FF2B5EF4-FFF2-40B4-BE49-F238E27FC236}">
                  <a16:creationId xmlns:a16="http://schemas.microsoft.com/office/drawing/2014/main" id="{7075E93B-A5BF-5EB2-28D9-F30AD0DA795E}"/>
                </a:ext>
              </a:extLst>
            </p:cNvPr>
            <p:cNvSpPr/>
            <p:nvPr/>
          </p:nvSpPr>
          <p:spPr>
            <a:xfrm>
              <a:off x="13118200" y="5285189"/>
              <a:ext cx="4172285"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grpSp>
        <p:nvGrpSpPr>
          <p:cNvPr id="28" name="Group 27">
            <a:extLst>
              <a:ext uri="{FF2B5EF4-FFF2-40B4-BE49-F238E27FC236}">
                <a16:creationId xmlns:a16="http://schemas.microsoft.com/office/drawing/2014/main" id="{C6782D05-7766-AD62-D148-D0C1F6BC7293}"/>
              </a:ext>
            </a:extLst>
          </p:cNvPr>
          <p:cNvGrpSpPr/>
          <p:nvPr/>
        </p:nvGrpSpPr>
        <p:grpSpPr>
          <a:xfrm>
            <a:off x="4106241" y="6003217"/>
            <a:ext cx="4172285" cy="3982636"/>
            <a:chOff x="13118200" y="5285189"/>
            <a:chExt cx="4172285" cy="3982636"/>
          </a:xfrm>
        </p:grpSpPr>
        <p:sp>
          <p:nvSpPr>
            <p:cNvPr id="29" name="Freeform 6">
              <a:extLst>
                <a:ext uri="{FF2B5EF4-FFF2-40B4-BE49-F238E27FC236}">
                  <a16:creationId xmlns:a16="http://schemas.microsoft.com/office/drawing/2014/main" id="{8BA71829-3114-A612-2003-9E0D39EC6B16}"/>
                </a:ext>
              </a:extLst>
            </p:cNvPr>
            <p:cNvSpPr/>
            <p:nvPr/>
          </p:nvSpPr>
          <p:spPr>
            <a:xfrm>
              <a:off x="13118200" y="5285189"/>
              <a:ext cx="4172285"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grpSp>
        <p:nvGrpSpPr>
          <p:cNvPr id="32" name="Group 31">
            <a:extLst>
              <a:ext uri="{FF2B5EF4-FFF2-40B4-BE49-F238E27FC236}">
                <a16:creationId xmlns:a16="http://schemas.microsoft.com/office/drawing/2014/main" id="{A56D40A4-8FD9-C02B-BA32-DE5B620A0E2D}"/>
              </a:ext>
            </a:extLst>
          </p:cNvPr>
          <p:cNvGrpSpPr/>
          <p:nvPr/>
        </p:nvGrpSpPr>
        <p:grpSpPr>
          <a:xfrm>
            <a:off x="8436736" y="6003217"/>
            <a:ext cx="4172285" cy="3982636"/>
            <a:chOff x="13118200" y="5285189"/>
            <a:chExt cx="4172285" cy="3982636"/>
          </a:xfrm>
        </p:grpSpPr>
        <p:sp>
          <p:nvSpPr>
            <p:cNvPr id="33" name="Freeform 6">
              <a:extLst>
                <a:ext uri="{FF2B5EF4-FFF2-40B4-BE49-F238E27FC236}">
                  <a16:creationId xmlns:a16="http://schemas.microsoft.com/office/drawing/2014/main" id="{AFDE0B61-4977-A16D-6EE4-1734E43FDF42}"/>
                </a:ext>
              </a:extLst>
            </p:cNvPr>
            <p:cNvSpPr/>
            <p:nvPr/>
          </p:nvSpPr>
          <p:spPr>
            <a:xfrm>
              <a:off x="13118200" y="5285189"/>
              <a:ext cx="4172285"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grpSp>
        <p:nvGrpSpPr>
          <p:cNvPr id="36" name="Group 35">
            <a:extLst>
              <a:ext uri="{FF2B5EF4-FFF2-40B4-BE49-F238E27FC236}">
                <a16:creationId xmlns:a16="http://schemas.microsoft.com/office/drawing/2014/main" id="{8222B042-77BD-3376-B6CD-9525299A5BFE}"/>
              </a:ext>
            </a:extLst>
          </p:cNvPr>
          <p:cNvGrpSpPr/>
          <p:nvPr/>
        </p:nvGrpSpPr>
        <p:grpSpPr>
          <a:xfrm>
            <a:off x="12801600" y="6010067"/>
            <a:ext cx="4172285" cy="3982636"/>
            <a:chOff x="13118200" y="5285189"/>
            <a:chExt cx="4172285" cy="3982636"/>
          </a:xfrm>
        </p:grpSpPr>
        <p:sp>
          <p:nvSpPr>
            <p:cNvPr id="37" name="Freeform 6">
              <a:extLst>
                <a:ext uri="{FF2B5EF4-FFF2-40B4-BE49-F238E27FC236}">
                  <a16:creationId xmlns:a16="http://schemas.microsoft.com/office/drawing/2014/main" id="{1483E51B-117D-2174-35B6-8A5086AE5E92}"/>
                </a:ext>
              </a:extLst>
            </p:cNvPr>
            <p:cNvSpPr/>
            <p:nvPr/>
          </p:nvSpPr>
          <p:spPr>
            <a:xfrm>
              <a:off x="13118200" y="5285189"/>
              <a:ext cx="4172285"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sp>
        <p:nvSpPr>
          <p:cNvPr id="40" name="TextBox 39"/>
          <p:cNvSpPr txBox="1"/>
          <p:nvPr/>
        </p:nvSpPr>
        <p:spPr>
          <a:xfrm>
            <a:off x="4608576" y="2011679"/>
            <a:ext cx="3474720" cy="457200"/>
          </a:xfrm>
          <a:prstGeom prst="rect">
            <a:avLst/>
          </a:prstGeom>
          <a:noFill/>
        </p:spPr>
        <p:txBody>
          <a:bodyPr wrap="square" lIns="0" tIns="0" rIns="0" bIns="0" anchor="t">
            <a:spAutoFit/>
          </a:bodyPr>
          <a:lstStyle/>
          <a:p>
            <a:pPr algn="l"/>
            <a:r>
              <a:rPr sz="2200" b="1" i="0">
                <a:solidFill>
                  <a:srgbClr val="4A2F5C"/>
                </a:solidFill>
                <a:latin typeface="Calibri"/>
              </a:rPr>
              <a:t>Study Area</a:t>
            </a:r>
          </a:p>
        </p:txBody>
      </p:sp>
      <p:sp>
        <p:nvSpPr>
          <p:cNvPr id="41" name="TextBox 40"/>
          <p:cNvSpPr txBox="1"/>
          <p:nvPr/>
        </p:nvSpPr>
        <p:spPr>
          <a:xfrm>
            <a:off x="4608576" y="2560320"/>
            <a:ext cx="3474720" cy="3017520"/>
          </a:xfrm>
          <a:prstGeom prst="rect">
            <a:avLst/>
          </a:prstGeom>
          <a:noFill/>
        </p:spPr>
        <p:txBody>
          <a:bodyPr wrap="square" lIns="0" tIns="0" rIns="0" bIns="0" anchor="t">
            <a:spAutoFit/>
          </a:bodyPr>
          <a:lstStyle/>
          <a:p>
            <a:pPr marL="201168" indent="-201168" algn="l">
              <a:spcAft>
                <a:spcPts val="600"/>
              </a:spcAft>
              <a:buClr>
                <a:srgbClr val="4A2F5C"/>
              </a:buClr>
              <a:buFont typeface="Arial"/>
              <a:buChar char="•"/>
            </a:pPr>
            <a:r>
              <a:rPr sz="1600" b="0" i="0">
                <a:solidFill>
                  <a:srgbClr val="2E2140"/>
                </a:solidFill>
                <a:latin typeface="Calibri"/>
              </a:rPr>
              <a:t>Bhotekoshi–Trishuli river corridor, Bagmati &amp; Gandaki provinces, Nepal</a:t>
            </a:r>
          </a:p>
          <a:p>
            <a:pPr marL="201168" indent="-201168" algn="l">
              <a:spcAft>
                <a:spcPts val="600"/>
              </a:spcAft>
              <a:buClr>
                <a:srgbClr val="4A2F5C"/>
              </a:buClr>
              <a:buFont typeface="Arial"/>
              <a:buChar char="•"/>
            </a:pPr>
            <a:r>
              <a:rPr sz="1600" b="0" i="0">
                <a:solidFill>
                  <a:srgbClr val="2E2140"/>
                </a:solidFill>
                <a:latin typeface="Calibri"/>
              </a:rPr>
              <a:t>From the Langtang Lirung glacier source to the downstream Trishuli</a:t>
            </a:r>
          </a:p>
          <a:p>
            <a:pPr marL="201168" indent="-201168" algn="l">
              <a:spcAft>
                <a:spcPts val="600"/>
              </a:spcAft>
              <a:buClr>
                <a:srgbClr val="4A2F5C"/>
              </a:buClr>
              <a:buFont typeface="Arial"/>
              <a:buChar char="•"/>
            </a:pPr>
            <a:r>
              <a:rPr sz="1600" b="0" i="0">
                <a:solidFill>
                  <a:srgbClr val="2E2140"/>
                </a:solidFill>
                <a:latin typeface="Calibri"/>
              </a:rPr>
              <a:t>24 affected municipalities in 8 districts, incl. Rasuwa, Nuwakot, Dhading</a:t>
            </a:r>
          </a:p>
        </p:txBody>
      </p:sp>
      <p:sp>
        <p:nvSpPr>
          <p:cNvPr id="42" name="TextBox 41"/>
          <p:cNvSpPr txBox="1"/>
          <p:nvPr/>
        </p:nvSpPr>
        <p:spPr>
          <a:xfrm>
            <a:off x="8951976" y="2011679"/>
            <a:ext cx="3474720" cy="457200"/>
          </a:xfrm>
          <a:prstGeom prst="rect">
            <a:avLst/>
          </a:prstGeom>
          <a:noFill/>
        </p:spPr>
        <p:txBody>
          <a:bodyPr wrap="square" lIns="0" tIns="0" rIns="0" bIns="0" anchor="t">
            <a:spAutoFit/>
          </a:bodyPr>
          <a:lstStyle/>
          <a:p>
            <a:pPr algn="l"/>
            <a:r>
              <a:rPr sz="2200" b="1" i="0">
                <a:solidFill>
                  <a:srgbClr val="4A2F5C"/>
                </a:solidFill>
                <a:latin typeface="Calibri"/>
              </a:rPr>
              <a:t>Data</a:t>
            </a:r>
          </a:p>
        </p:txBody>
      </p:sp>
      <p:sp>
        <p:nvSpPr>
          <p:cNvPr id="43" name="TextBox 42"/>
          <p:cNvSpPr txBox="1"/>
          <p:nvPr/>
        </p:nvSpPr>
        <p:spPr>
          <a:xfrm>
            <a:off x="8951976" y="2560320"/>
            <a:ext cx="3474720" cy="3017520"/>
          </a:xfrm>
          <a:prstGeom prst="rect">
            <a:avLst/>
          </a:prstGeom>
          <a:noFill/>
        </p:spPr>
        <p:txBody>
          <a:bodyPr wrap="square" lIns="0" tIns="0" rIns="0" bIns="0" anchor="t">
            <a:spAutoFit/>
          </a:bodyPr>
          <a:lstStyle/>
          <a:p>
            <a:pPr marL="201168" indent="-201168" algn="l">
              <a:spcAft>
                <a:spcPts val="600"/>
              </a:spcAft>
              <a:buClr>
                <a:srgbClr val="4A2F5C"/>
              </a:buClr>
              <a:buFont typeface="Arial"/>
              <a:buChar char="•"/>
            </a:pPr>
            <a:r>
              <a:rPr sz="1600" b="0" i="0">
                <a:solidFill>
                  <a:srgbClr val="2E2140"/>
                </a:solidFill>
                <a:latin typeface="Calibri"/>
              </a:rPr>
              <a:t>Sentinel-2 L2A, 12 Aug &amp; 21 Sep 2026 (Copernicus)</a:t>
            </a:r>
          </a:p>
          <a:p>
            <a:pPr marL="201168" indent="-201168" algn="l">
              <a:spcAft>
                <a:spcPts val="600"/>
              </a:spcAft>
              <a:buClr>
                <a:srgbClr val="4A2F5C"/>
              </a:buClr>
              <a:buFont typeface="Arial"/>
              <a:buChar char="•"/>
            </a:pPr>
            <a:r>
              <a:rPr sz="1600" b="0" i="0">
                <a:solidFill>
                  <a:srgbClr val="2E2140"/>
                </a:solidFill>
                <a:latin typeface="Calibri"/>
              </a:rPr>
              <a:t>Vantor post-event imagery (HOT)</a:t>
            </a:r>
          </a:p>
          <a:p>
            <a:pPr marL="201168" indent="-201168" algn="l">
              <a:spcAft>
                <a:spcPts val="600"/>
              </a:spcAft>
              <a:buClr>
                <a:srgbClr val="4A2F5C"/>
              </a:buClr>
              <a:buFont typeface="Arial"/>
              <a:buChar char="•"/>
            </a:pPr>
            <a:r>
              <a:rPr sz="1600" b="0" i="0">
                <a:solidFill>
                  <a:srgbClr val="2E2140"/>
                </a:solidFill>
                <a:latin typeface="Calibri"/>
              </a:rPr>
              <a:t>OSM-based impact layers: roads, settlements, facilities</a:t>
            </a:r>
          </a:p>
          <a:p>
            <a:pPr marL="201168" indent="-201168" algn="l">
              <a:spcAft>
                <a:spcPts val="600"/>
              </a:spcAft>
              <a:buClr>
                <a:srgbClr val="4A2F5C"/>
              </a:buClr>
              <a:buFont typeface="Arial"/>
              <a:buChar char="•"/>
            </a:pPr>
            <a:r>
              <a:rPr sz="1600" b="0" i="0">
                <a:solidFill>
                  <a:srgbClr val="2E2140"/>
                </a:solidFill>
                <a:latin typeface="Calibri"/>
              </a:rPr>
              <a:t>BGS landslide inventory</a:t>
            </a:r>
          </a:p>
          <a:p>
            <a:pPr marL="201168" indent="-201168" algn="l">
              <a:spcAft>
                <a:spcPts val="600"/>
              </a:spcAft>
              <a:buClr>
                <a:srgbClr val="4A2F5C"/>
              </a:buClr>
              <a:buFont typeface="Arial"/>
              <a:buChar char="•"/>
            </a:pPr>
            <a:r>
              <a:rPr sz="1600" b="0" i="0">
                <a:solidFill>
                  <a:srgbClr val="2E2140"/>
                </a:solidFill>
                <a:latin typeface="Calibri"/>
              </a:rPr>
              <a:t>HOT/HDX, Overture, NAXA; AWS terrain</a:t>
            </a:r>
          </a:p>
        </p:txBody>
      </p:sp>
      <p:sp>
        <p:nvSpPr>
          <p:cNvPr id="44" name="TextBox 43"/>
          <p:cNvSpPr txBox="1"/>
          <p:nvPr/>
        </p:nvSpPr>
        <p:spPr>
          <a:xfrm>
            <a:off x="13304520" y="2011679"/>
            <a:ext cx="3474720" cy="457200"/>
          </a:xfrm>
          <a:prstGeom prst="rect">
            <a:avLst/>
          </a:prstGeom>
          <a:noFill/>
        </p:spPr>
        <p:txBody>
          <a:bodyPr wrap="square" lIns="0" tIns="0" rIns="0" bIns="0" anchor="t">
            <a:spAutoFit/>
          </a:bodyPr>
          <a:lstStyle/>
          <a:p>
            <a:pPr algn="l"/>
            <a:r>
              <a:rPr sz="2200" b="1" i="0">
                <a:solidFill>
                  <a:srgbClr val="4A2F5C"/>
                </a:solidFill>
                <a:latin typeface="Calibri"/>
              </a:rPr>
              <a:t>Method</a:t>
            </a:r>
          </a:p>
        </p:txBody>
      </p:sp>
      <p:sp>
        <p:nvSpPr>
          <p:cNvPr id="45" name="TextBox 44"/>
          <p:cNvSpPr txBox="1"/>
          <p:nvPr/>
        </p:nvSpPr>
        <p:spPr>
          <a:xfrm>
            <a:off x="13304520" y="2560320"/>
            <a:ext cx="3474720" cy="3017520"/>
          </a:xfrm>
          <a:prstGeom prst="rect">
            <a:avLst/>
          </a:prstGeom>
          <a:noFill/>
        </p:spPr>
        <p:txBody>
          <a:bodyPr wrap="square" lIns="0" tIns="0" rIns="0" bIns="0" anchor="t">
            <a:spAutoFit/>
          </a:bodyPr>
          <a:lstStyle/>
          <a:p>
            <a:pPr marL="201168" indent="-201168" algn="l">
              <a:spcAft>
                <a:spcPts val="600"/>
              </a:spcAft>
              <a:buClr>
                <a:srgbClr val="4A2F5C"/>
              </a:buClr>
              <a:buFont typeface="Arial"/>
              <a:buChar char="•"/>
            </a:pPr>
            <a:r>
              <a:rPr sz="1600" b="0" i="0">
                <a:solidFill>
                  <a:srgbClr val="2E2140"/>
                </a:solidFill>
                <a:latin typeface="Calibri"/>
              </a:rPr>
              <a:t>Collect &amp; check open datasets</a:t>
            </a:r>
          </a:p>
          <a:p>
            <a:pPr marL="201168" indent="-201168" algn="l">
              <a:spcAft>
                <a:spcPts val="600"/>
              </a:spcAft>
              <a:buClr>
                <a:srgbClr val="4A2F5C"/>
              </a:buClr>
              <a:buFont typeface="Arial"/>
              <a:buChar char="•"/>
            </a:pPr>
            <a:r>
              <a:rPr sz="1600" b="0" i="0">
                <a:solidFill>
                  <a:srgbClr val="2E2140"/>
                </a:solidFill>
                <a:latin typeface="Calibri"/>
              </a:rPr>
              <a:t>Clean and reproject to GeoJSON</a:t>
            </a:r>
          </a:p>
          <a:p>
            <a:pPr marL="201168" indent="-201168" algn="l">
              <a:spcAft>
                <a:spcPts val="600"/>
              </a:spcAft>
              <a:buClr>
                <a:srgbClr val="4A2F5C"/>
              </a:buClr>
              <a:buFont typeface="Arial"/>
              <a:buChar char="•"/>
            </a:pPr>
            <a:r>
              <a:rPr sz="1600" b="0" i="0">
                <a:solidFill>
                  <a:srgbClr val="2E2140"/>
                </a:solidFill>
                <a:latin typeface="Calibri"/>
              </a:rPr>
              <a:t>Register each layer in one config file</a:t>
            </a:r>
          </a:p>
          <a:p>
            <a:pPr marL="201168" indent="-201168" algn="l">
              <a:spcAft>
                <a:spcPts val="600"/>
              </a:spcAft>
              <a:buClr>
                <a:srgbClr val="4A2F5C"/>
              </a:buClr>
              <a:buFont typeface="Arial"/>
              <a:buChar char="•"/>
            </a:pPr>
            <a:r>
              <a:rPr sz="1600" b="0" i="0">
                <a:solidFill>
                  <a:srgbClr val="2E2140"/>
                </a:solidFill>
                <a:latin typeface="Calibri"/>
              </a:rPr>
              <a:t>Render in 3D with MapLibre</a:t>
            </a:r>
          </a:p>
          <a:p>
            <a:pPr marL="201168" indent="-201168" algn="l">
              <a:spcAft>
                <a:spcPts val="600"/>
              </a:spcAft>
              <a:buClr>
                <a:srgbClr val="4A2F5C"/>
              </a:buClr>
              <a:buFont typeface="Arial"/>
              <a:buChar char="•"/>
            </a:pPr>
            <a:r>
              <a:rPr sz="1600" b="0" i="0">
                <a:solidFill>
                  <a:srgbClr val="2E2140"/>
                </a:solidFill>
                <a:latin typeface="Calibri"/>
              </a:rPr>
              <a:t>Sentinel-2 swipe + NDVI for change</a:t>
            </a:r>
          </a:p>
        </p:txBody>
      </p:sp>
      <p:sp>
        <p:nvSpPr>
          <p:cNvPr id="46" name="TextBox 45"/>
          <p:cNvSpPr txBox="1"/>
          <p:nvPr/>
        </p:nvSpPr>
        <p:spPr>
          <a:xfrm>
            <a:off x="4608576" y="6281928"/>
            <a:ext cx="3474720" cy="457200"/>
          </a:xfrm>
          <a:prstGeom prst="rect">
            <a:avLst/>
          </a:prstGeom>
          <a:noFill/>
        </p:spPr>
        <p:txBody>
          <a:bodyPr wrap="square" lIns="0" tIns="0" rIns="0" bIns="0" anchor="t">
            <a:spAutoFit/>
          </a:bodyPr>
          <a:lstStyle/>
          <a:p>
            <a:pPr algn="l"/>
            <a:r>
              <a:rPr sz="2200" b="1" i="0">
                <a:solidFill>
                  <a:srgbClr val="4A2F5C"/>
                </a:solidFill>
                <a:latin typeface="Calibri"/>
              </a:rPr>
              <a:t>Output</a:t>
            </a:r>
          </a:p>
        </p:txBody>
      </p:sp>
      <p:sp>
        <p:nvSpPr>
          <p:cNvPr id="47" name="TextBox 46"/>
          <p:cNvSpPr txBox="1"/>
          <p:nvPr/>
        </p:nvSpPr>
        <p:spPr>
          <a:xfrm>
            <a:off x="4608576" y="6830568"/>
            <a:ext cx="3474720" cy="3017520"/>
          </a:xfrm>
          <a:prstGeom prst="rect">
            <a:avLst/>
          </a:prstGeom>
          <a:noFill/>
        </p:spPr>
        <p:txBody>
          <a:bodyPr wrap="square" lIns="0" tIns="0" rIns="0" bIns="0" anchor="t">
            <a:spAutoFit/>
          </a:bodyPr>
          <a:lstStyle/>
          <a:p>
            <a:pPr marL="201168" indent="-201168" algn="l">
              <a:spcAft>
                <a:spcPts val="600"/>
              </a:spcAft>
              <a:buClr>
                <a:srgbClr val="4A2F5C"/>
              </a:buClr>
              <a:buFont typeface="Arial"/>
              <a:buChar char="•"/>
            </a:pPr>
            <a:r>
              <a:rPr sz="1600" b="0" i="0">
                <a:solidFill>
                  <a:srgbClr val="2E2140"/>
                </a:solidFill>
                <a:latin typeface="Calibri"/>
              </a:rPr>
              <a:t>Live, open web portal</a:t>
            </a:r>
          </a:p>
          <a:p>
            <a:pPr marL="201168" indent="-201168" algn="l">
              <a:spcAft>
                <a:spcPts val="600"/>
              </a:spcAft>
              <a:buClr>
                <a:srgbClr val="4A2F5C"/>
              </a:buClr>
              <a:buFont typeface="Arial"/>
              <a:buChar char="•"/>
            </a:pPr>
            <a:r>
              <a:rPr sz="1600" b="0" i="0">
                <a:solidFill>
                  <a:srgbClr val="2E2140"/>
                </a:solidFill>
                <a:latin typeface="Calibri"/>
              </a:rPr>
              <a:t>40 toggleable map layers</a:t>
            </a:r>
          </a:p>
          <a:p>
            <a:pPr marL="201168" indent="-201168" algn="l">
              <a:spcAft>
                <a:spcPts val="600"/>
              </a:spcAft>
              <a:buClr>
                <a:srgbClr val="4A2F5C"/>
              </a:buClr>
              <a:buFont typeface="Arial"/>
              <a:buChar char="•"/>
            </a:pPr>
            <a:r>
              <a:rPr sz="1600" b="0" i="0">
                <a:solidFill>
                  <a:srgbClr val="2E2140"/>
                </a:solidFill>
                <a:latin typeface="Calibri"/>
              </a:rPr>
              <a:t>Before/after swipe, 3D tour, elevation profile</a:t>
            </a:r>
          </a:p>
          <a:p>
            <a:pPr marL="201168" indent="-201168" algn="l">
              <a:spcAft>
                <a:spcPts val="600"/>
              </a:spcAft>
              <a:buClr>
                <a:srgbClr val="4A2F5C"/>
              </a:buClr>
              <a:buFont typeface="Arial"/>
              <a:buChar char="•"/>
            </a:pPr>
            <a:r>
              <a:rPr sz="1600" b="0" i="0">
                <a:solidFill>
                  <a:srgbClr val="2E2140"/>
                </a:solidFill>
                <a:latin typeface="Calibri"/>
              </a:rPr>
              <a:t>Layer stats + downloadable GeoJSON</a:t>
            </a:r>
          </a:p>
        </p:txBody>
      </p:sp>
      <p:sp>
        <p:nvSpPr>
          <p:cNvPr id="48" name="TextBox 47"/>
          <p:cNvSpPr txBox="1"/>
          <p:nvPr/>
        </p:nvSpPr>
        <p:spPr>
          <a:xfrm>
            <a:off x="8942832" y="6281928"/>
            <a:ext cx="3474720" cy="457200"/>
          </a:xfrm>
          <a:prstGeom prst="rect">
            <a:avLst/>
          </a:prstGeom>
          <a:noFill/>
        </p:spPr>
        <p:txBody>
          <a:bodyPr wrap="square" lIns="0" tIns="0" rIns="0" bIns="0" anchor="t">
            <a:spAutoFit/>
          </a:bodyPr>
          <a:lstStyle/>
          <a:p>
            <a:pPr algn="l"/>
            <a:r>
              <a:rPr sz="2200" b="1" i="0">
                <a:solidFill>
                  <a:srgbClr val="4A2F5C"/>
                </a:solidFill>
                <a:latin typeface="Calibri"/>
              </a:rPr>
              <a:t>Impact</a:t>
            </a:r>
          </a:p>
        </p:txBody>
      </p:sp>
      <p:sp>
        <p:nvSpPr>
          <p:cNvPr id="49" name="TextBox 48"/>
          <p:cNvSpPr txBox="1"/>
          <p:nvPr/>
        </p:nvSpPr>
        <p:spPr>
          <a:xfrm>
            <a:off x="8942832" y="6830568"/>
            <a:ext cx="3474720" cy="3017520"/>
          </a:xfrm>
          <a:prstGeom prst="rect">
            <a:avLst/>
          </a:prstGeom>
          <a:noFill/>
        </p:spPr>
        <p:txBody>
          <a:bodyPr wrap="square" lIns="0" tIns="0" rIns="0" bIns="0" anchor="t">
            <a:spAutoFit/>
          </a:bodyPr>
          <a:lstStyle/>
          <a:p>
            <a:pPr marL="201168" indent="-201168" algn="l">
              <a:spcAft>
                <a:spcPts val="600"/>
              </a:spcAft>
              <a:buClr>
                <a:srgbClr val="4A2F5C"/>
              </a:buClr>
              <a:buFont typeface="Arial"/>
              <a:buChar char="•"/>
            </a:pPr>
            <a:r>
              <a:rPr sz="1600" b="0" i="0">
                <a:solidFill>
                  <a:srgbClr val="2E2140"/>
                </a:solidFill>
                <a:latin typeface="Calibri"/>
              </a:rPr>
              <a:t>Responders: see which roads, bridges and settlements to reach first</a:t>
            </a:r>
          </a:p>
          <a:p>
            <a:pPr marL="201168" indent="-201168" algn="l">
              <a:spcAft>
                <a:spcPts val="600"/>
              </a:spcAft>
              <a:buClr>
                <a:srgbClr val="4A2F5C"/>
              </a:buClr>
              <a:buFont typeface="Arial"/>
              <a:buChar char="•"/>
            </a:pPr>
            <a:r>
              <a:rPr sz="1600" b="0" i="0">
                <a:solidFill>
                  <a:srgbClr val="2E2140"/>
                </a:solidFill>
                <a:latin typeface="Calibri"/>
              </a:rPr>
              <a:t>Mappers &amp; researchers: one shared base map</a:t>
            </a:r>
          </a:p>
          <a:p>
            <a:pPr marL="201168" indent="-201168" algn="l">
              <a:spcAft>
                <a:spcPts val="600"/>
              </a:spcAft>
              <a:buClr>
                <a:srgbClr val="4A2F5C"/>
              </a:buClr>
              <a:buFont typeface="Arial"/>
              <a:buChar char="•"/>
            </a:pPr>
            <a:r>
              <a:rPr sz="1600" b="0" i="0">
                <a:solidFill>
                  <a:srgbClr val="2E2140"/>
                </a:solidFill>
                <a:latin typeface="Calibri"/>
              </a:rPr>
              <a:t>Media &amp; public: understand the event visually</a:t>
            </a:r>
          </a:p>
        </p:txBody>
      </p:sp>
      <p:sp>
        <p:nvSpPr>
          <p:cNvPr id="50" name="TextBox 49"/>
          <p:cNvSpPr txBox="1"/>
          <p:nvPr/>
        </p:nvSpPr>
        <p:spPr>
          <a:xfrm>
            <a:off x="13304520" y="6281928"/>
            <a:ext cx="3474720" cy="457200"/>
          </a:xfrm>
          <a:prstGeom prst="rect">
            <a:avLst/>
          </a:prstGeom>
          <a:noFill/>
        </p:spPr>
        <p:txBody>
          <a:bodyPr wrap="square" lIns="0" tIns="0" rIns="0" bIns="0" anchor="t">
            <a:spAutoFit/>
          </a:bodyPr>
          <a:lstStyle/>
          <a:p>
            <a:pPr algn="l"/>
            <a:r>
              <a:rPr sz="2200" b="1" i="0">
                <a:solidFill>
                  <a:srgbClr val="4A2F5C"/>
                </a:solidFill>
                <a:latin typeface="Calibri"/>
              </a:rPr>
              <a:t>SDG Connection</a:t>
            </a:r>
          </a:p>
        </p:txBody>
      </p:sp>
      <p:sp>
        <p:nvSpPr>
          <p:cNvPr id="51" name="TextBox 50"/>
          <p:cNvSpPr txBox="1"/>
          <p:nvPr/>
        </p:nvSpPr>
        <p:spPr>
          <a:xfrm>
            <a:off x="13304520" y="6830568"/>
            <a:ext cx="3474720" cy="3017520"/>
          </a:xfrm>
          <a:prstGeom prst="rect">
            <a:avLst/>
          </a:prstGeom>
          <a:noFill/>
        </p:spPr>
        <p:txBody>
          <a:bodyPr wrap="square" lIns="0" tIns="0" rIns="0" bIns="0" anchor="t">
            <a:spAutoFit/>
          </a:bodyPr>
          <a:lstStyle/>
          <a:p>
            <a:pPr marL="201168" indent="-201168" algn="l">
              <a:spcAft>
                <a:spcPts val="600"/>
              </a:spcAft>
              <a:buClr>
                <a:srgbClr val="4A2F5C"/>
              </a:buClr>
              <a:buFont typeface="Arial"/>
              <a:buChar char="•"/>
            </a:pPr>
            <a:r>
              <a:rPr sz="1600" b="1" i="0">
                <a:solidFill>
                  <a:srgbClr val="2E2140"/>
                </a:solidFill>
                <a:latin typeface="Calibri"/>
              </a:rPr>
              <a:t>SDG 11.5 </a:t>
            </a:r>
            <a:r>
              <a:rPr sz="1600" b="0" i="0">
                <a:solidFill>
                  <a:srgbClr val="2E2140"/>
                </a:solidFill>
                <a:latin typeface="Calibri"/>
              </a:rPr>
              <a:t>reduce disaster losses</a:t>
            </a:r>
          </a:p>
          <a:p>
            <a:pPr marL="201168" indent="-201168" algn="l">
              <a:spcAft>
                <a:spcPts val="600"/>
              </a:spcAft>
              <a:buClr>
                <a:srgbClr val="4A2F5C"/>
              </a:buClr>
              <a:buFont typeface="Arial"/>
              <a:buChar char="•"/>
            </a:pPr>
            <a:r>
              <a:rPr sz="1600" b="1" i="0">
                <a:solidFill>
                  <a:srgbClr val="2E2140"/>
                </a:solidFill>
                <a:latin typeface="Calibri"/>
              </a:rPr>
              <a:t>SDG 13.1 </a:t>
            </a:r>
            <a:r>
              <a:rPr sz="1600" b="0" i="0">
                <a:solidFill>
                  <a:srgbClr val="2E2140"/>
                </a:solidFill>
                <a:latin typeface="Calibri"/>
              </a:rPr>
              <a:t>resilience to climate hazards</a:t>
            </a:r>
          </a:p>
          <a:p>
            <a:pPr marL="201168" indent="-201168" algn="l">
              <a:spcAft>
                <a:spcPts val="600"/>
              </a:spcAft>
              <a:buClr>
                <a:srgbClr val="4A2F5C"/>
              </a:buClr>
              <a:buFont typeface="Arial"/>
              <a:buChar char="•"/>
            </a:pPr>
            <a:r>
              <a:rPr sz="1600" b="1" i="0">
                <a:solidFill>
                  <a:srgbClr val="2E2140"/>
                </a:solidFill>
                <a:latin typeface="Calibri"/>
              </a:rPr>
              <a:t>SDG 9.1 </a:t>
            </a:r>
            <a:r>
              <a:rPr sz="1600" b="0" i="0">
                <a:solidFill>
                  <a:srgbClr val="2E2140"/>
                </a:solidFill>
                <a:latin typeface="Calibri"/>
              </a:rPr>
              <a:t>resilient infrastructure</a:t>
            </a:r>
          </a:p>
          <a:p>
            <a:pPr marL="201168" indent="-201168" algn="l">
              <a:spcAft>
                <a:spcPts val="600"/>
              </a:spcAft>
              <a:buClr>
                <a:srgbClr val="4A2F5C"/>
              </a:buClr>
              <a:buFont typeface="Arial"/>
              <a:buChar char="•"/>
            </a:pPr>
            <a:r>
              <a:rPr sz="1600" b="1" i="0">
                <a:solidFill>
                  <a:srgbClr val="2E2140"/>
                </a:solidFill>
                <a:latin typeface="Calibri"/>
              </a:rPr>
              <a:t>SDG 17 </a:t>
            </a:r>
            <a:r>
              <a:rPr sz="1600" b="0" i="0">
                <a:solidFill>
                  <a:srgbClr val="2E2140"/>
                </a:solidFill>
                <a:latin typeface="Calibri"/>
              </a:rPr>
              <a:t>open-data partnerships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3418" t="-49976" r="-2555" b="-38420"/>
            </a:stretch>
          </a:blipFill>
        </p:spPr>
        <p:txBody>
          <a:bodyPr/>
          <a:lstStyle/>
          <a:p>
            <a:endParaRPr lang="en-GB"/>
          </a:p>
        </p:txBody>
      </p:sp>
      <p:sp>
        <p:nvSpPr>
          <p:cNvPr id="8" name="TextBox 8"/>
          <p:cNvSpPr txBox="1"/>
          <p:nvPr/>
        </p:nvSpPr>
        <p:spPr>
          <a:xfrm>
            <a:off x="0" y="67093"/>
            <a:ext cx="10896600" cy="1181927"/>
          </a:xfrm>
          <a:prstGeom prst="rect">
            <a:avLst/>
          </a:prstGeom>
        </p:spPr>
        <p:txBody>
          <a:bodyPr wrap="square" lIns="0" tIns="0" rIns="0" bIns="0" rtlCol="0" anchor="t">
            <a:spAutoFit/>
          </a:bodyPr>
          <a:lstStyle/>
          <a:p>
            <a:pPr>
              <a:lnSpc>
                <a:spcPts val="10119"/>
              </a:lnSpc>
            </a:pPr>
            <a:r>
              <a:rPr lang="en-US" sz="6000" b="1" spc="879" dirty="0">
                <a:solidFill>
                  <a:srgbClr val="6D4F6D"/>
                </a:solidFill>
                <a:latin typeface="Jingleberry"/>
                <a:ea typeface="Jingleberry"/>
                <a:cs typeface="Jingleberry"/>
                <a:sym typeface="Jingleberry"/>
              </a:rPr>
              <a:t>	Method </a:t>
            </a:r>
          </a:p>
        </p:txBody>
      </p:sp>
      <p:grpSp>
        <p:nvGrpSpPr>
          <p:cNvPr id="24" name="Group 23">
            <a:extLst>
              <a:ext uri="{FF2B5EF4-FFF2-40B4-BE49-F238E27FC236}">
                <a16:creationId xmlns:a16="http://schemas.microsoft.com/office/drawing/2014/main" id="{C3C6B737-CDB2-DA94-8EC2-B401491F4CB6}"/>
              </a:ext>
            </a:extLst>
          </p:cNvPr>
          <p:cNvGrpSpPr>
            <a:grpSpLocks noChangeAspect="1"/>
          </p:cNvGrpSpPr>
          <p:nvPr/>
        </p:nvGrpSpPr>
        <p:grpSpPr>
          <a:xfrm>
            <a:off x="800001" y="1448638"/>
            <a:ext cx="16741241" cy="8638743"/>
            <a:chOff x="13118200" y="5285189"/>
            <a:chExt cx="7718052" cy="3982636"/>
          </a:xfrm>
        </p:grpSpPr>
        <p:sp>
          <p:nvSpPr>
            <p:cNvPr id="25" name="Freeform 6">
              <a:extLst>
                <a:ext uri="{FF2B5EF4-FFF2-40B4-BE49-F238E27FC236}">
                  <a16:creationId xmlns:a16="http://schemas.microsoft.com/office/drawing/2014/main" id="{7075E93B-A5BF-5EB2-28D9-F30AD0DA795E}"/>
                </a:ext>
              </a:extLst>
            </p:cNvPr>
            <p:cNvSpPr/>
            <p:nvPr/>
          </p:nvSpPr>
          <p:spPr>
            <a:xfrm>
              <a:off x="13118200" y="5285189"/>
              <a:ext cx="7718052"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grpSp>
      <p:sp>
        <p:nvSpPr>
          <p:cNvPr id="26" name="Oval 25"/>
          <p:cNvSpPr/>
          <p:nvPr/>
        </p:nvSpPr>
        <p:spPr>
          <a:xfrm>
            <a:off x="3566159" y="1965960"/>
            <a:ext cx="1005840" cy="1005840"/>
          </a:xfrm>
          <a:prstGeom prst="ellipse">
            <a:avLst/>
          </a:prstGeom>
          <a:solidFill>
            <a:srgbClr val="4A2F5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i="0">
                <a:solidFill>
                  <a:srgbClr val="FFFFFF"/>
                </a:solidFill>
                <a:latin typeface="Calibri"/>
              </a:rPr>
              <a:t>1</a:t>
            </a:r>
          </a:p>
        </p:txBody>
      </p:sp>
      <p:sp>
        <p:nvSpPr>
          <p:cNvPr id="27" name="TextBox 26"/>
          <p:cNvSpPr txBox="1"/>
          <p:nvPr/>
        </p:nvSpPr>
        <p:spPr>
          <a:xfrm>
            <a:off x="2788919" y="3154680"/>
            <a:ext cx="2560320" cy="457200"/>
          </a:xfrm>
          <a:prstGeom prst="rect">
            <a:avLst/>
          </a:prstGeom>
          <a:noFill/>
        </p:spPr>
        <p:txBody>
          <a:bodyPr wrap="square" lIns="0" tIns="0" rIns="0" bIns="0" anchor="t">
            <a:spAutoFit/>
          </a:bodyPr>
          <a:lstStyle/>
          <a:p>
            <a:pPr algn="ctr"/>
            <a:r>
              <a:rPr sz="2000" b="1" i="0">
                <a:solidFill>
                  <a:srgbClr val="2E2140"/>
                </a:solidFill>
                <a:latin typeface="Calibri"/>
              </a:rPr>
              <a:t>Collect</a:t>
            </a:r>
          </a:p>
        </p:txBody>
      </p:sp>
      <p:sp>
        <p:nvSpPr>
          <p:cNvPr id="28" name="TextBox 27"/>
          <p:cNvSpPr txBox="1"/>
          <p:nvPr/>
        </p:nvSpPr>
        <p:spPr>
          <a:xfrm>
            <a:off x="2788919" y="3611880"/>
            <a:ext cx="2560320" cy="1371600"/>
          </a:xfrm>
          <a:prstGeom prst="rect">
            <a:avLst/>
          </a:prstGeom>
          <a:noFill/>
        </p:spPr>
        <p:txBody>
          <a:bodyPr wrap="square" lIns="0" tIns="0" rIns="0" bIns="0" anchor="t">
            <a:spAutoFit/>
          </a:bodyPr>
          <a:lstStyle/>
          <a:p>
            <a:pPr algn="ctr">
              <a:lnSpc>
                <a:spcPct val="105000"/>
              </a:lnSpc>
            </a:pPr>
            <a:r>
              <a:rPr sz="1400" b="0" i="0">
                <a:solidFill>
                  <a:srgbClr val="6B5B78"/>
                </a:solidFill>
                <a:latin typeface="Calibri"/>
              </a:rPr>
              <a:t>Gather open data from OSM, HOT/HDX, BGS, Copernicus and partners</a:t>
            </a:r>
          </a:p>
        </p:txBody>
      </p:sp>
      <p:sp>
        <p:nvSpPr>
          <p:cNvPr id="29" name="Right Arrow 28"/>
          <p:cNvSpPr/>
          <p:nvPr/>
        </p:nvSpPr>
        <p:spPr>
          <a:xfrm>
            <a:off x="4937759" y="2304288"/>
            <a:ext cx="1234440"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val 29"/>
          <p:cNvSpPr/>
          <p:nvPr/>
        </p:nvSpPr>
        <p:spPr>
          <a:xfrm>
            <a:off x="6446520" y="1965960"/>
            <a:ext cx="1005840" cy="1005840"/>
          </a:xfrm>
          <a:prstGeom prst="ellipse">
            <a:avLst/>
          </a:prstGeom>
          <a:solidFill>
            <a:srgbClr val="1C849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i="0">
                <a:solidFill>
                  <a:srgbClr val="FFFFFF"/>
                </a:solidFill>
                <a:latin typeface="Calibri"/>
              </a:rPr>
              <a:t>2</a:t>
            </a:r>
          </a:p>
        </p:txBody>
      </p:sp>
      <p:sp>
        <p:nvSpPr>
          <p:cNvPr id="31" name="TextBox 30"/>
          <p:cNvSpPr txBox="1"/>
          <p:nvPr/>
        </p:nvSpPr>
        <p:spPr>
          <a:xfrm>
            <a:off x="5669279" y="3154680"/>
            <a:ext cx="2560320" cy="457200"/>
          </a:xfrm>
          <a:prstGeom prst="rect">
            <a:avLst/>
          </a:prstGeom>
          <a:noFill/>
        </p:spPr>
        <p:txBody>
          <a:bodyPr wrap="square" lIns="0" tIns="0" rIns="0" bIns="0" anchor="t">
            <a:spAutoFit/>
          </a:bodyPr>
          <a:lstStyle/>
          <a:p>
            <a:pPr algn="ctr"/>
            <a:r>
              <a:rPr sz="2000" b="1" i="0">
                <a:solidFill>
                  <a:srgbClr val="2E2140"/>
                </a:solidFill>
                <a:latin typeface="Calibri"/>
              </a:rPr>
              <a:t>Standardise</a:t>
            </a:r>
          </a:p>
        </p:txBody>
      </p:sp>
      <p:sp>
        <p:nvSpPr>
          <p:cNvPr id="32" name="TextBox 31"/>
          <p:cNvSpPr txBox="1"/>
          <p:nvPr/>
        </p:nvSpPr>
        <p:spPr>
          <a:xfrm>
            <a:off x="5669279" y="3611880"/>
            <a:ext cx="2560320" cy="1371600"/>
          </a:xfrm>
          <a:prstGeom prst="rect">
            <a:avLst/>
          </a:prstGeom>
          <a:noFill/>
        </p:spPr>
        <p:txBody>
          <a:bodyPr wrap="square" lIns="0" tIns="0" rIns="0" bIns="0" anchor="t">
            <a:spAutoFit/>
          </a:bodyPr>
          <a:lstStyle/>
          <a:p>
            <a:pPr algn="ctr">
              <a:lnSpc>
                <a:spcPct val="105000"/>
              </a:lnSpc>
            </a:pPr>
            <a:r>
              <a:rPr sz="1400" b="0" i="0">
                <a:solidFill>
                  <a:srgbClr val="6B5B78"/>
                </a:solidFill>
                <a:latin typeface="Calibri"/>
              </a:rPr>
              <a:t>Check, clean and reproject every layer to GeoJSON (EPSG:4326)</a:t>
            </a:r>
          </a:p>
        </p:txBody>
      </p:sp>
      <p:sp>
        <p:nvSpPr>
          <p:cNvPr id="33" name="Right Arrow 32"/>
          <p:cNvSpPr/>
          <p:nvPr/>
        </p:nvSpPr>
        <p:spPr>
          <a:xfrm>
            <a:off x="7818119" y="2304288"/>
            <a:ext cx="1234440"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9326880" y="1965960"/>
            <a:ext cx="1005840" cy="1005840"/>
          </a:xfrm>
          <a:prstGeom prst="ellipse">
            <a:avLst/>
          </a:prstGeom>
          <a:solidFill>
            <a:srgbClr val="D9692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i="0">
                <a:solidFill>
                  <a:srgbClr val="FFFFFF"/>
                </a:solidFill>
                <a:latin typeface="Calibri"/>
              </a:rPr>
              <a:t>3</a:t>
            </a:r>
          </a:p>
        </p:txBody>
      </p:sp>
      <p:sp>
        <p:nvSpPr>
          <p:cNvPr id="35" name="TextBox 34"/>
          <p:cNvSpPr txBox="1"/>
          <p:nvPr/>
        </p:nvSpPr>
        <p:spPr>
          <a:xfrm>
            <a:off x="8549640" y="3154680"/>
            <a:ext cx="2560320" cy="457200"/>
          </a:xfrm>
          <a:prstGeom prst="rect">
            <a:avLst/>
          </a:prstGeom>
          <a:noFill/>
        </p:spPr>
        <p:txBody>
          <a:bodyPr wrap="square" lIns="0" tIns="0" rIns="0" bIns="0" anchor="t">
            <a:spAutoFit/>
          </a:bodyPr>
          <a:lstStyle/>
          <a:p>
            <a:pPr algn="ctr"/>
            <a:r>
              <a:rPr sz="2000" b="1" i="0">
                <a:solidFill>
                  <a:srgbClr val="2E2140"/>
                </a:solidFill>
                <a:latin typeface="Calibri"/>
              </a:rPr>
              <a:t>Configure</a:t>
            </a:r>
          </a:p>
        </p:txBody>
      </p:sp>
      <p:sp>
        <p:nvSpPr>
          <p:cNvPr id="36" name="TextBox 35"/>
          <p:cNvSpPr txBox="1"/>
          <p:nvPr/>
        </p:nvSpPr>
        <p:spPr>
          <a:xfrm>
            <a:off x="8549640" y="3611880"/>
            <a:ext cx="2560320" cy="1371600"/>
          </a:xfrm>
          <a:prstGeom prst="rect">
            <a:avLst/>
          </a:prstGeom>
          <a:noFill/>
        </p:spPr>
        <p:txBody>
          <a:bodyPr wrap="square" lIns="0" tIns="0" rIns="0" bIns="0" anchor="t">
            <a:spAutoFit/>
          </a:bodyPr>
          <a:lstStyle/>
          <a:p>
            <a:pPr algn="ctr">
              <a:lnSpc>
                <a:spcPct val="105000"/>
              </a:lnSpc>
            </a:pPr>
            <a:r>
              <a:rPr sz="1400" b="0" i="0">
                <a:solidFill>
                  <a:srgbClr val="6B5B78"/>
                </a:solidFill>
                <a:latin typeface="Calibri"/>
              </a:rPr>
              <a:t>Register each layer in one JSON file: style, popup, legend</a:t>
            </a:r>
          </a:p>
        </p:txBody>
      </p:sp>
      <p:sp>
        <p:nvSpPr>
          <p:cNvPr id="37" name="Right Arrow 36"/>
          <p:cNvSpPr/>
          <p:nvPr/>
        </p:nvSpPr>
        <p:spPr>
          <a:xfrm>
            <a:off x="10698480" y="2304288"/>
            <a:ext cx="1234440"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Oval 37"/>
          <p:cNvSpPr/>
          <p:nvPr/>
        </p:nvSpPr>
        <p:spPr>
          <a:xfrm>
            <a:off x="12207240" y="1965960"/>
            <a:ext cx="1005840" cy="1005840"/>
          </a:xfrm>
          <a:prstGeom prst="ellipse">
            <a:avLst/>
          </a:prstGeom>
          <a:solidFill>
            <a:srgbClr val="4A2F5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i="0">
                <a:solidFill>
                  <a:srgbClr val="FFFFFF"/>
                </a:solidFill>
                <a:latin typeface="Calibri"/>
              </a:rPr>
              <a:t>4</a:t>
            </a:r>
          </a:p>
        </p:txBody>
      </p:sp>
      <p:sp>
        <p:nvSpPr>
          <p:cNvPr id="39" name="TextBox 38"/>
          <p:cNvSpPr txBox="1"/>
          <p:nvPr/>
        </p:nvSpPr>
        <p:spPr>
          <a:xfrm>
            <a:off x="11430000" y="3154680"/>
            <a:ext cx="2560320" cy="457200"/>
          </a:xfrm>
          <a:prstGeom prst="rect">
            <a:avLst/>
          </a:prstGeom>
          <a:noFill/>
        </p:spPr>
        <p:txBody>
          <a:bodyPr wrap="square" lIns="0" tIns="0" rIns="0" bIns="0" anchor="t">
            <a:spAutoFit/>
          </a:bodyPr>
          <a:lstStyle/>
          <a:p>
            <a:pPr algn="ctr"/>
            <a:r>
              <a:rPr sz="2000" b="1" i="0">
                <a:solidFill>
                  <a:srgbClr val="2E2140"/>
                </a:solidFill>
                <a:latin typeface="Calibri"/>
              </a:rPr>
              <a:t>Visualise</a:t>
            </a:r>
          </a:p>
        </p:txBody>
      </p:sp>
      <p:sp>
        <p:nvSpPr>
          <p:cNvPr id="40" name="TextBox 39"/>
          <p:cNvSpPr txBox="1"/>
          <p:nvPr/>
        </p:nvSpPr>
        <p:spPr>
          <a:xfrm>
            <a:off x="11430000" y="3611880"/>
            <a:ext cx="2560320" cy="1371600"/>
          </a:xfrm>
          <a:prstGeom prst="rect">
            <a:avLst/>
          </a:prstGeom>
          <a:noFill/>
        </p:spPr>
        <p:txBody>
          <a:bodyPr wrap="square" lIns="0" tIns="0" rIns="0" bIns="0" anchor="t">
            <a:spAutoFit/>
          </a:bodyPr>
          <a:lstStyle/>
          <a:p>
            <a:pPr algn="ctr">
              <a:lnSpc>
                <a:spcPct val="105000"/>
              </a:lnSpc>
            </a:pPr>
            <a:r>
              <a:rPr sz="1400" b="0" i="0">
                <a:solidFill>
                  <a:srgbClr val="6B5B78"/>
                </a:solidFill>
                <a:latin typeface="Calibri"/>
              </a:rPr>
              <a:t>Render in 3D with MapLibre + terrain; Sentinel-2 via WMS</a:t>
            </a:r>
          </a:p>
        </p:txBody>
      </p:sp>
      <p:sp>
        <p:nvSpPr>
          <p:cNvPr id="41" name="Right Arrow 40"/>
          <p:cNvSpPr/>
          <p:nvPr/>
        </p:nvSpPr>
        <p:spPr>
          <a:xfrm>
            <a:off x="13578840" y="2304288"/>
            <a:ext cx="1234440"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1"/>
          <p:cNvSpPr/>
          <p:nvPr/>
        </p:nvSpPr>
        <p:spPr>
          <a:xfrm>
            <a:off x="15087599" y="1965960"/>
            <a:ext cx="1005840" cy="1005840"/>
          </a:xfrm>
          <a:prstGeom prst="ellipse">
            <a:avLst/>
          </a:prstGeom>
          <a:solidFill>
            <a:srgbClr val="1C849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i="0">
                <a:solidFill>
                  <a:srgbClr val="FFFFFF"/>
                </a:solidFill>
                <a:latin typeface="Calibri"/>
              </a:rPr>
              <a:t>5</a:t>
            </a:r>
          </a:p>
        </p:txBody>
      </p:sp>
      <p:sp>
        <p:nvSpPr>
          <p:cNvPr id="43" name="TextBox 42"/>
          <p:cNvSpPr txBox="1"/>
          <p:nvPr/>
        </p:nvSpPr>
        <p:spPr>
          <a:xfrm>
            <a:off x="14310359" y="3154680"/>
            <a:ext cx="2560320" cy="457200"/>
          </a:xfrm>
          <a:prstGeom prst="rect">
            <a:avLst/>
          </a:prstGeom>
          <a:noFill/>
        </p:spPr>
        <p:txBody>
          <a:bodyPr wrap="square" lIns="0" tIns="0" rIns="0" bIns="0" anchor="t">
            <a:spAutoFit/>
          </a:bodyPr>
          <a:lstStyle/>
          <a:p>
            <a:pPr algn="ctr"/>
            <a:r>
              <a:rPr sz="2000" b="1" i="0">
                <a:solidFill>
                  <a:srgbClr val="2E2140"/>
                </a:solidFill>
                <a:latin typeface="Calibri"/>
              </a:rPr>
              <a:t>Share &amp; update</a:t>
            </a:r>
          </a:p>
        </p:txBody>
      </p:sp>
      <p:sp>
        <p:nvSpPr>
          <p:cNvPr id="44" name="TextBox 43"/>
          <p:cNvSpPr txBox="1"/>
          <p:nvPr/>
        </p:nvSpPr>
        <p:spPr>
          <a:xfrm>
            <a:off x="14310359" y="3611880"/>
            <a:ext cx="2560320" cy="1371600"/>
          </a:xfrm>
          <a:prstGeom prst="rect">
            <a:avLst/>
          </a:prstGeom>
          <a:noFill/>
        </p:spPr>
        <p:txBody>
          <a:bodyPr wrap="square" lIns="0" tIns="0" rIns="0" bIns="0" anchor="t">
            <a:spAutoFit/>
          </a:bodyPr>
          <a:lstStyle/>
          <a:p>
            <a:pPr algn="ctr">
              <a:lnSpc>
                <a:spcPct val="105000"/>
              </a:lnSpc>
            </a:pPr>
            <a:r>
              <a:rPr sz="1400" b="0" i="0">
                <a:solidFill>
                  <a:srgbClr val="6B5B78"/>
                </a:solidFill>
                <a:latin typeface="Calibri"/>
              </a:rPr>
              <a:t>Publish on GitHub Pages; new data goes live via pull request</a:t>
            </a:r>
          </a:p>
        </p:txBody>
      </p:sp>
      <p:sp>
        <p:nvSpPr>
          <p:cNvPr id="45" name="TextBox 44"/>
          <p:cNvSpPr txBox="1"/>
          <p:nvPr/>
        </p:nvSpPr>
        <p:spPr>
          <a:xfrm>
            <a:off x="2788920" y="5349240"/>
            <a:ext cx="6949440" cy="457200"/>
          </a:xfrm>
          <a:prstGeom prst="rect">
            <a:avLst/>
          </a:prstGeom>
          <a:noFill/>
        </p:spPr>
        <p:txBody>
          <a:bodyPr wrap="square" lIns="0" tIns="0" rIns="0" bIns="0" anchor="t">
            <a:spAutoFit/>
          </a:bodyPr>
          <a:lstStyle/>
          <a:p>
            <a:pPr algn="l"/>
            <a:r>
              <a:rPr sz="2000" b="1" i="0">
                <a:solidFill>
                  <a:srgbClr val="4A2F5C"/>
                </a:solidFill>
                <a:latin typeface="Calibri"/>
              </a:rPr>
              <a:t>Adding a layer = a few lines of JSON</a:t>
            </a:r>
          </a:p>
        </p:txBody>
      </p:sp>
      <p:sp>
        <p:nvSpPr>
          <p:cNvPr id="46" name="Rounded Rectangle 45"/>
          <p:cNvSpPr/>
          <p:nvPr/>
        </p:nvSpPr>
        <p:spPr>
          <a:xfrm>
            <a:off x="2788920" y="5897880"/>
            <a:ext cx="6949440" cy="3611880"/>
          </a:xfrm>
          <a:prstGeom prst="roundRect">
            <a:avLst>
              <a:gd name="adj" fmla="val 5000"/>
            </a:avLst>
          </a:prstGeom>
          <a:solidFill>
            <a:srgbClr val="2E2140"/>
          </a:solidFill>
          <a:ln>
            <a:noFill/>
          </a:ln>
          <a:effectLst/>
        </p:spPr>
        <p:style>
          <a:lnRef idx="1">
            <a:schemeClr val="accent1"/>
          </a:lnRef>
          <a:fillRef idx="3">
            <a:schemeClr val="accent1"/>
          </a:fillRef>
          <a:effectRef idx="2">
            <a:schemeClr val="accent1"/>
          </a:effectRef>
          <a:fontRef idx="minor">
            <a:schemeClr val="lt1"/>
          </a:fontRef>
        </p:style>
        <p:txBody>
          <a:bodyPr wrap="square" lIns="320040" tIns="320040" rIns="320040" bIns="320040" rtlCol="0" anchor="ctr"/>
          <a:lstStyle/>
          <a:p>
            <a:pPr algn="l"/>
            <a:r>
              <a:rPr sz="1700" b="0" i="0">
                <a:solidFill>
                  <a:srgbClr val="E9DFF0"/>
                </a:solidFill>
                <a:latin typeface="Courier New"/>
              </a:rPr>
              <a:t>{</a:t>
            </a:r>
          </a:p>
          <a:p>
            <a:pPr algn="l"/>
            <a:r>
              <a:rPr sz="1700" b="0" i="0">
                <a:solidFill>
                  <a:srgbClr val="E9DFF0"/>
                </a:solidFill>
                <a:latin typeface="Courier New"/>
              </a:rPr>
              <a:t>  "id": "road_damaged",</a:t>
            </a:r>
          </a:p>
          <a:p>
            <a:pPr algn="l"/>
            <a:r>
              <a:rPr sz="1700" b="0" i="0">
                <a:solidFill>
                  <a:srgbClr val="E9DFF0"/>
                </a:solidFill>
                <a:latin typeface="Courier New"/>
              </a:rPr>
              <a:t>  "label": "Damaged Road Network",</a:t>
            </a:r>
          </a:p>
          <a:p>
            <a:pPr algn="l"/>
            <a:r>
              <a:rPr sz="1700" b="0" i="0">
                <a:solidFill>
                  <a:srgbClr val="E9DFF0"/>
                </a:solidFill>
                <a:latin typeface="Courier New"/>
              </a:rPr>
              <a:t>  "type": "line",</a:t>
            </a:r>
          </a:p>
          <a:p>
            <a:pPr algn="l"/>
            <a:r>
              <a:rPr sz="1700" b="0" i="0">
                <a:solidFill>
                  <a:srgbClr val="E9DFF0"/>
                </a:solidFill>
                <a:latin typeface="Courier New"/>
              </a:rPr>
              <a:t>  "data": "data/.../Road_damaged.geojson",</a:t>
            </a:r>
          </a:p>
          <a:p>
            <a:pPr algn="l"/>
            <a:r>
              <a:rPr sz="1700" b="0" i="0">
                <a:solidFill>
                  <a:srgbClr val="E9DFF0"/>
                </a:solidFill>
                <a:latin typeface="Courier New"/>
              </a:rPr>
              <a:t>  "paint": { "lineColor": "#d62728" },</a:t>
            </a:r>
          </a:p>
          <a:p>
            <a:pPr algn="l"/>
            <a:r>
              <a:rPr sz="1700" b="0" i="0">
                <a:solidFill>
                  <a:srgbClr val="E9DFF0"/>
                </a:solidFill>
                <a:latin typeface="Courier New"/>
              </a:rPr>
              <a:t>  "active": true</a:t>
            </a:r>
          </a:p>
          <a:p>
            <a:pPr algn="l"/>
            <a:r>
              <a:rPr sz="1700" b="0" i="0">
                <a:solidFill>
                  <a:srgbClr val="E9DFF0"/>
                </a:solidFill>
                <a:latin typeface="Courier New"/>
              </a:rPr>
              <a:t>}</a:t>
            </a:r>
          </a:p>
        </p:txBody>
      </p:sp>
      <p:sp>
        <p:nvSpPr>
          <p:cNvPr id="47" name="TextBox 46"/>
          <p:cNvSpPr txBox="1"/>
          <p:nvPr/>
        </p:nvSpPr>
        <p:spPr>
          <a:xfrm>
            <a:off x="10058400" y="5349240"/>
            <a:ext cx="6949440" cy="457200"/>
          </a:xfrm>
          <a:prstGeom prst="rect">
            <a:avLst/>
          </a:prstGeom>
          <a:noFill/>
        </p:spPr>
        <p:txBody>
          <a:bodyPr wrap="square" lIns="0" tIns="0" rIns="0" bIns="0" anchor="t">
            <a:spAutoFit/>
          </a:bodyPr>
          <a:lstStyle/>
          <a:p>
            <a:pPr algn="l"/>
            <a:r>
              <a:rPr sz="2000" b="1" i="0">
                <a:solidFill>
                  <a:srgbClr val="4A2F5C"/>
                </a:solidFill>
                <a:latin typeface="Calibri"/>
              </a:rPr>
              <a:t>Built with open tools</a:t>
            </a:r>
          </a:p>
        </p:txBody>
      </p:sp>
      <p:sp>
        <p:nvSpPr>
          <p:cNvPr id="48" name="Rounded Rectangle 47"/>
          <p:cNvSpPr/>
          <p:nvPr/>
        </p:nvSpPr>
        <p:spPr>
          <a:xfrm>
            <a:off x="10058400" y="5897880"/>
            <a:ext cx="6949440" cy="3611880"/>
          </a:xfrm>
          <a:prstGeom prst="roundRect">
            <a:avLst>
              <a:gd name="adj" fmla="val 5000"/>
            </a:avLst>
          </a:prstGeom>
          <a:solidFill>
            <a:srgbClr val="F4EFF7"/>
          </a:solidFill>
          <a:ln>
            <a:noFill/>
          </a:ln>
          <a:effectLst/>
        </p:spPr>
        <p:style>
          <a:lnRef idx="1">
            <a:schemeClr val="accent1"/>
          </a:lnRef>
          <a:fillRef idx="3">
            <a:schemeClr val="accent1"/>
          </a:fillRef>
          <a:effectRef idx="2">
            <a:schemeClr val="accent1"/>
          </a:effectRef>
          <a:fontRef idx="minor">
            <a:schemeClr val="lt1"/>
          </a:fontRef>
        </p:style>
        <p:txBody>
          <a:bodyPr wrap="square" lIns="320040" tIns="320040" rIns="320040" bIns="320040" rtlCol="0" anchor="ctr"/>
          <a:lstStyle/>
          <a:p>
            <a:pPr marL="201168" indent="-201168" algn="l">
              <a:spcAft>
                <a:spcPts val="1000"/>
              </a:spcAft>
              <a:buClr>
                <a:srgbClr val="4A2F5C"/>
              </a:buClr>
              <a:buFont typeface="Arial"/>
              <a:buChar char="•"/>
            </a:pPr>
            <a:r>
              <a:rPr sz="1700" b="1" i="0">
                <a:solidFill>
                  <a:srgbClr val="2E2140"/>
                </a:solidFill>
                <a:latin typeface="Calibri"/>
              </a:rPr>
              <a:t>MapLibre GL JS </a:t>
            </a:r>
            <a:r>
              <a:rPr sz="1700" b="0" i="0">
                <a:solidFill>
                  <a:srgbClr val="2E2140"/>
                </a:solidFill>
                <a:latin typeface="Calibri"/>
              </a:rPr>
              <a:t>3D map, terrain, swipe compare</a:t>
            </a:r>
          </a:p>
          <a:p>
            <a:pPr marL="201168" indent="-201168" algn="l">
              <a:spcAft>
                <a:spcPts val="1000"/>
              </a:spcAft>
              <a:buClr>
                <a:srgbClr val="4A2F5C"/>
              </a:buClr>
              <a:buFont typeface="Arial"/>
              <a:buChar char="•"/>
            </a:pPr>
            <a:r>
              <a:rPr sz="1700" b="1" i="0">
                <a:solidFill>
                  <a:srgbClr val="2E2140"/>
                </a:solidFill>
                <a:latin typeface="Calibri"/>
              </a:rPr>
              <a:t>Copernicus Sentinel Hub </a:t>
            </a:r>
            <a:r>
              <a:rPr sz="1700" b="0" i="0">
                <a:solidFill>
                  <a:srgbClr val="2E2140"/>
                </a:solidFill>
                <a:latin typeface="Calibri"/>
              </a:rPr>
              <a:t>Sentinel-2 True/False Color, NDVI</a:t>
            </a:r>
          </a:p>
          <a:p>
            <a:pPr marL="201168" indent="-201168" algn="l">
              <a:spcAft>
                <a:spcPts val="1000"/>
              </a:spcAft>
              <a:buClr>
                <a:srgbClr val="4A2F5C"/>
              </a:buClr>
              <a:buFont typeface="Arial"/>
              <a:buChar char="•"/>
            </a:pPr>
            <a:r>
              <a:rPr sz="1700" b="1" i="0">
                <a:solidFill>
                  <a:srgbClr val="2E2140"/>
                </a:solidFill>
                <a:latin typeface="Calibri"/>
              </a:rPr>
              <a:t>GeoJSON + layers.json </a:t>
            </a:r>
            <a:r>
              <a:rPr sz="1700" b="0" i="0">
                <a:solidFill>
                  <a:srgbClr val="2E2140"/>
                </a:solidFill>
                <a:latin typeface="Calibri"/>
              </a:rPr>
              <a:t>all data and styling in one config</a:t>
            </a:r>
          </a:p>
          <a:p>
            <a:pPr marL="201168" indent="-201168" algn="l">
              <a:spcAft>
                <a:spcPts val="1000"/>
              </a:spcAft>
              <a:buClr>
                <a:srgbClr val="4A2F5C"/>
              </a:buClr>
              <a:buFont typeface="Arial"/>
              <a:buChar char="•"/>
            </a:pPr>
            <a:r>
              <a:rPr sz="1700" b="1" i="0">
                <a:solidFill>
                  <a:srgbClr val="2E2140"/>
                </a:solidFill>
                <a:latin typeface="Calibri"/>
              </a:rPr>
              <a:t>Python </a:t>
            </a:r>
            <a:r>
              <a:rPr sz="1700" b="0" i="0">
                <a:solidFill>
                  <a:srgbClr val="2E2140"/>
                </a:solidFill>
                <a:latin typeface="Calibri"/>
              </a:rPr>
              <a:t>data prep and the elevation profile</a:t>
            </a:r>
          </a:p>
          <a:p>
            <a:pPr marL="201168" indent="-201168" algn="l">
              <a:spcAft>
                <a:spcPts val="1000"/>
              </a:spcAft>
              <a:buClr>
                <a:srgbClr val="4A2F5C"/>
              </a:buClr>
              <a:buFont typeface="Arial"/>
              <a:buChar char="•"/>
            </a:pPr>
            <a:r>
              <a:rPr sz="1700" b="1" i="0">
                <a:solidFill>
                  <a:srgbClr val="2E2140"/>
                </a:solidFill>
                <a:latin typeface="Calibri"/>
              </a:rPr>
              <a:t>GitHub Pages </a:t>
            </a:r>
            <a:r>
              <a:rPr sz="1700" b="0" i="0">
                <a:solidFill>
                  <a:srgbClr val="2E2140"/>
                </a:solidFill>
                <a:latin typeface="Calibri"/>
              </a:rPr>
              <a:t>free hosting, open contributions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38888" b="-38888"/>
            </a:stretch>
          </a:blipFill>
        </p:spPr>
        <p:txBody>
          <a:bodyPr/>
          <a:lstStyle/>
          <a:p>
            <a:endParaRPr lang="en-GB"/>
          </a:p>
        </p:txBody>
      </p:sp>
      <p:grpSp>
        <p:nvGrpSpPr>
          <p:cNvPr id="3" name="Group 3"/>
          <p:cNvGrpSpPr/>
          <p:nvPr/>
        </p:nvGrpSpPr>
        <p:grpSpPr>
          <a:xfrm>
            <a:off x="76200" y="266700"/>
            <a:ext cx="18135600" cy="9905999"/>
            <a:chOff x="0" y="0"/>
            <a:chExt cx="17226556" cy="10675605"/>
          </a:xfrm>
        </p:grpSpPr>
        <p:grpSp>
          <p:nvGrpSpPr>
            <p:cNvPr id="4" name="Group 4"/>
            <p:cNvGrpSpPr/>
            <p:nvPr/>
          </p:nvGrpSpPr>
          <p:grpSpPr>
            <a:xfrm>
              <a:off x="194102" y="194102"/>
              <a:ext cx="17032455" cy="10481503"/>
              <a:chOff x="0" y="0"/>
              <a:chExt cx="3522136" cy="2167467"/>
            </a:xfrm>
          </p:grpSpPr>
          <p:sp>
            <p:nvSpPr>
              <p:cNvPr id="5" name="Freeform 5"/>
              <p:cNvSpPr/>
              <p:nvPr/>
            </p:nvSpPr>
            <p:spPr>
              <a:xfrm>
                <a:off x="0" y="0"/>
                <a:ext cx="3522136" cy="2167467"/>
              </a:xfrm>
              <a:custGeom>
                <a:avLst/>
                <a:gdLst/>
                <a:ahLst/>
                <a:cxnLst/>
                <a:rect l="l" t="t" r="r" b="b"/>
                <a:pathLst>
                  <a:path w="3522136" h="2167467">
                    <a:moveTo>
                      <a:pt x="29525" y="0"/>
                    </a:moveTo>
                    <a:lnTo>
                      <a:pt x="3492611" y="0"/>
                    </a:lnTo>
                    <a:cubicBezTo>
                      <a:pt x="3508917" y="0"/>
                      <a:pt x="3522136" y="13219"/>
                      <a:pt x="3522136" y="29525"/>
                    </a:cubicBezTo>
                    <a:lnTo>
                      <a:pt x="3522136" y="2137942"/>
                    </a:lnTo>
                    <a:cubicBezTo>
                      <a:pt x="3522136" y="2154248"/>
                      <a:pt x="3508917" y="2167467"/>
                      <a:pt x="3492611" y="2167467"/>
                    </a:cubicBezTo>
                    <a:lnTo>
                      <a:pt x="29525" y="2167467"/>
                    </a:lnTo>
                    <a:cubicBezTo>
                      <a:pt x="21694" y="2167467"/>
                      <a:pt x="14185" y="2164356"/>
                      <a:pt x="8648" y="2158819"/>
                    </a:cubicBezTo>
                    <a:cubicBezTo>
                      <a:pt x="3111" y="2153282"/>
                      <a:pt x="0" y="2145773"/>
                      <a:pt x="0" y="2137942"/>
                    </a:cubicBezTo>
                    <a:lnTo>
                      <a:pt x="0" y="29525"/>
                    </a:lnTo>
                    <a:cubicBezTo>
                      <a:pt x="0" y="13219"/>
                      <a:pt x="13219" y="0"/>
                      <a:pt x="29525" y="0"/>
                    </a:cubicBezTo>
                    <a:close/>
                  </a:path>
                </a:pathLst>
              </a:custGeom>
              <a:solidFill>
                <a:srgbClr val="543855"/>
              </a:solidFill>
            </p:spPr>
            <p:txBody>
              <a:bodyPr/>
              <a:lstStyle/>
              <a:p>
                <a:endParaRPr lang="en-GB"/>
              </a:p>
            </p:txBody>
          </p:sp>
          <p:sp>
            <p:nvSpPr>
              <p:cNvPr id="6" name="TextBox 6"/>
              <p:cNvSpPr txBox="1"/>
              <p:nvPr/>
            </p:nvSpPr>
            <p:spPr>
              <a:xfrm>
                <a:off x="0" y="-38100"/>
                <a:ext cx="3522136" cy="2205567"/>
              </a:xfrm>
              <a:prstGeom prst="rect">
                <a:avLst/>
              </a:prstGeom>
            </p:spPr>
            <p:txBody>
              <a:bodyPr lIns="50800" tIns="50800" rIns="50800" bIns="50800" rtlCol="0" anchor="ctr"/>
              <a:lstStyle/>
              <a:p>
                <a:pPr algn="ctr">
                  <a:lnSpc>
                    <a:spcPts val="2540"/>
                  </a:lnSpc>
                </a:pPr>
                <a:endParaRPr/>
              </a:p>
            </p:txBody>
          </p:sp>
        </p:grpSp>
        <p:grpSp>
          <p:nvGrpSpPr>
            <p:cNvPr id="7" name="Group 7"/>
            <p:cNvGrpSpPr/>
            <p:nvPr/>
          </p:nvGrpSpPr>
          <p:grpSpPr>
            <a:xfrm>
              <a:off x="0" y="0"/>
              <a:ext cx="17032455" cy="10481503"/>
              <a:chOff x="0" y="0"/>
              <a:chExt cx="3522136" cy="2167467"/>
            </a:xfrm>
          </p:grpSpPr>
          <p:sp>
            <p:nvSpPr>
              <p:cNvPr id="8" name="Freeform 8"/>
              <p:cNvSpPr/>
              <p:nvPr/>
            </p:nvSpPr>
            <p:spPr>
              <a:xfrm>
                <a:off x="0" y="0"/>
                <a:ext cx="3522136" cy="2167467"/>
              </a:xfrm>
              <a:custGeom>
                <a:avLst/>
                <a:gdLst/>
                <a:ahLst/>
                <a:cxnLst/>
                <a:rect l="l" t="t" r="r" b="b"/>
                <a:pathLst>
                  <a:path w="3522136" h="2167467">
                    <a:moveTo>
                      <a:pt x="29525" y="0"/>
                    </a:moveTo>
                    <a:lnTo>
                      <a:pt x="3492611" y="0"/>
                    </a:lnTo>
                    <a:cubicBezTo>
                      <a:pt x="3508917" y="0"/>
                      <a:pt x="3522136" y="13219"/>
                      <a:pt x="3522136" y="29525"/>
                    </a:cubicBezTo>
                    <a:lnTo>
                      <a:pt x="3522136" y="2137942"/>
                    </a:lnTo>
                    <a:cubicBezTo>
                      <a:pt x="3522136" y="2154248"/>
                      <a:pt x="3508917" y="2167467"/>
                      <a:pt x="3492611" y="2167467"/>
                    </a:cubicBezTo>
                    <a:lnTo>
                      <a:pt x="29525" y="2167467"/>
                    </a:lnTo>
                    <a:cubicBezTo>
                      <a:pt x="21694" y="2167467"/>
                      <a:pt x="14185" y="2164356"/>
                      <a:pt x="8648" y="2158819"/>
                    </a:cubicBezTo>
                    <a:cubicBezTo>
                      <a:pt x="3111" y="2153282"/>
                      <a:pt x="0" y="2145773"/>
                      <a:pt x="0" y="2137942"/>
                    </a:cubicBezTo>
                    <a:lnTo>
                      <a:pt x="0" y="29525"/>
                    </a:lnTo>
                    <a:cubicBezTo>
                      <a:pt x="0" y="13219"/>
                      <a:pt x="13219" y="0"/>
                      <a:pt x="29525" y="0"/>
                    </a:cubicBezTo>
                    <a:close/>
                  </a:path>
                </a:pathLst>
              </a:custGeom>
              <a:solidFill>
                <a:srgbClr val="FFFFFF"/>
              </a:solidFill>
            </p:spPr>
            <p:txBody>
              <a:bodyPr/>
              <a:lstStyle/>
              <a:p>
                <a:endParaRPr lang="en-GB"/>
              </a:p>
            </p:txBody>
          </p:sp>
          <p:sp>
            <p:nvSpPr>
              <p:cNvPr id="9" name="TextBox 9"/>
              <p:cNvSpPr txBox="1"/>
              <p:nvPr/>
            </p:nvSpPr>
            <p:spPr>
              <a:xfrm>
                <a:off x="0" y="-38100"/>
                <a:ext cx="3522136" cy="2205567"/>
              </a:xfrm>
              <a:prstGeom prst="rect">
                <a:avLst/>
              </a:prstGeom>
            </p:spPr>
            <p:txBody>
              <a:bodyPr lIns="50800" tIns="50800" rIns="50800" bIns="50800" rtlCol="0" anchor="ctr"/>
              <a:lstStyle/>
              <a:p>
                <a:pPr algn="ctr">
                  <a:lnSpc>
                    <a:spcPts val="2540"/>
                  </a:lnSpc>
                </a:pPr>
                <a:endParaRPr/>
              </a:p>
            </p:txBody>
          </p:sp>
        </p:grpSp>
      </p:grpSp>
      <p:sp>
        <p:nvSpPr>
          <p:cNvPr id="11" name="TextBox 11"/>
          <p:cNvSpPr txBox="1"/>
          <p:nvPr/>
        </p:nvSpPr>
        <p:spPr>
          <a:xfrm>
            <a:off x="2011680" y="264639"/>
            <a:ext cx="13716000" cy="1175643"/>
          </a:xfrm>
          <a:prstGeom prst="rect">
            <a:avLst/>
          </a:prstGeom>
        </p:spPr>
        <p:txBody>
          <a:bodyPr wrap="square" lIns="0" tIns="0" rIns="0" bIns="0" rtlCol="0" anchor="t">
            <a:spAutoFit/>
          </a:bodyPr>
          <a:lstStyle/>
          <a:p>
            <a:pPr algn="l">
              <a:lnSpc>
                <a:spcPts val="9900"/>
              </a:lnSpc>
            </a:pPr>
            <a:r>
              <a:rPr lang="en-US" sz="6000" b="1" spc="1009" dirty="0">
                <a:solidFill>
                  <a:srgbClr val="543855"/>
                </a:solidFill>
                <a:latin typeface="Jingleberry"/>
                <a:ea typeface="Jingleberry"/>
                <a:cs typeface="Jingleberry"/>
                <a:sym typeface="Jingleberry"/>
              </a:rPr>
              <a:t>Results</a:t>
            </a:r>
            <a:r>
              <a:rPr sz="3200" b="0">
                <a:solidFill>
                  <a:srgbClr val="6B5B78"/>
                </a:solidFill>
                <a:latin typeface="Calibri"/>
              </a:rPr>
              <a:t>   Impact at a glance</a:t>
            </a:r>
          </a:p>
        </p:txBody>
      </p:sp>
      <p:sp>
        <p:nvSpPr>
          <p:cNvPr id="13" name="Freeform 13"/>
          <p:cNvSpPr/>
          <p:nvPr/>
        </p:nvSpPr>
        <p:spPr>
          <a:xfrm>
            <a:off x="-952680" y="-278767"/>
            <a:ext cx="2828746" cy="3268508"/>
          </a:xfrm>
          <a:custGeom>
            <a:avLst/>
            <a:gdLst/>
            <a:ahLst/>
            <a:cxnLst/>
            <a:rect l="l" t="t" r="r" b="b"/>
            <a:pathLst>
              <a:path w="2828746" h="3268508">
                <a:moveTo>
                  <a:pt x="0" y="0"/>
                </a:moveTo>
                <a:lnTo>
                  <a:pt x="2828745" y="0"/>
                </a:lnTo>
                <a:lnTo>
                  <a:pt x="2828745" y="3268509"/>
                </a:lnTo>
                <a:lnTo>
                  <a:pt x="0" y="326850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20" name="Freeform 10">
            <a:extLst>
              <a:ext uri="{FF2B5EF4-FFF2-40B4-BE49-F238E27FC236}">
                <a16:creationId xmlns:a16="http://schemas.microsoft.com/office/drawing/2014/main" id="{82914EFA-D117-2898-2957-C11513BC250F}"/>
              </a:ext>
            </a:extLst>
          </p:cNvPr>
          <p:cNvSpPr/>
          <p:nvPr/>
        </p:nvSpPr>
        <p:spPr>
          <a:xfrm>
            <a:off x="348951" y="7297260"/>
            <a:ext cx="1386841" cy="2480155"/>
          </a:xfrm>
          <a:custGeom>
            <a:avLst/>
            <a:gdLst/>
            <a:ahLst/>
            <a:cxnLst/>
            <a:rect l="l" t="t" r="r" b="b"/>
            <a:pathLst>
              <a:path w="5332548" h="9191839">
                <a:moveTo>
                  <a:pt x="0" y="0"/>
                </a:moveTo>
                <a:lnTo>
                  <a:pt x="5332547" y="0"/>
                </a:lnTo>
                <a:lnTo>
                  <a:pt x="5332547" y="9191839"/>
                </a:lnTo>
                <a:lnTo>
                  <a:pt x="0" y="9191839"/>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23" name="TextBox 22">
            <a:extLst>
              <a:ext uri="{FF2B5EF4-FFF2-40B4-BE49-F238E27FC236}">
                <a16:creationId xmlns:a16="http://schemas.microsoft.com/office/drawing/2014/main" id="{C6ED37CE-B78D-2AA5-6C3C-840715DFB78B}"/>
              </a:ext>
            </a:extLst>
          </p:cNvPr>
          <p:cNvSpPr txBox="1"/>
          <p:nvPr/>
        </p:nvSpPr>
        <p:spPr>
          <a:xfrm>
            <a:off x="2016337" y="9189995"/>
            <a:ext cx="15991117" cy="584775"/>
          </a:xfrm>
          <a:prstGeom prst="rect">
            <a:avLst/>
          </a:prstGeom>
          <a:noFill/>
        </p:spPr>
        <p:txBody>
          <a:bodyPr wrap="square" lIns="0" tIns="0" rIns="0" bIns="0" anchor="ctr">
            <a:spAutoFit/>
          </a:bodyPr>
          <a:lstStyle/>
          <a:p>
            <a:pPr algn="l"/>
            <a:r>
              <a:rPr sz="1900" b="1" i="0">
                <a:solidFill>
                  <a:srgbClr val="D9692A"/>
                </a:solidFill>
                <a:latin typeface="Calibri"/>
              </a:rPr>
              <a:t>Takeaway: </a:t>
            </a:r>
            <a:r>
              <a:rPr sz="1900" b="0" i="0">
                <a:solidFill>
                  <a:srgbClr val="2E2140"/>
                </a:solidFill>
                <a:latin typeface="Calibri"/>
              </a:rPr>
              <a:t>with ~145 km of road damaged and 163 km more at risk, the map shows responders which settlements and facilities to reach first.</a:t>
            </a:r>
          </a:p>
        </p:txBody>
      </p:sp>
      <p:sp>
        <p:nvSpPr>
          <p:cNvPr id="12" name="Freeform 12"/>
          <p:cNvSpPr/>
          <p:nvPr/>
        </p:nvSpPr>
        <p:spPr>
          <a:xfrm>
            <a:off x="16271662" y="-198673"/>
            <a:ext cx="2054437" cy="1734693"/>
          </a:xfrm>
          <a:custGeom>
            <a:avLst/>
            <a:gdLst/>
            <a:ahLst/>
            <a:cxnLst/>
            <a:rect l="l" t="t" r="r" b="b"/>
            <a:pathLst>
              <a:path w="2977000" h="2430315">
                <a:moveTo>
                  <a:pt x="0" y="0"/>
                </a:moveTo>
                <a:lnTo>
                  <a:pt x="2977000" y="0"/>
                </a:lnTo>
                <a:lnTo>
                  <a:pt x="2977000" y="2430315"/>
                </a:lnTo>
                <a:lnTo>
                  <a:pt x="0" y="243031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sp>
        <p:nvSpPr>
          <p:cNvPr id="25" name="Rounded Rectangle 24"/>
          <p:cNvSpPr/>
          <p:nvPr/>
        </p:nvSpPr>
        <p:spPr>
          <a:xfrm>
            <a:off x="10085832" y="1673352"/>
            <a:ext cx="7854696" cy="7132320"/>
          </a:xfrm>
          <a:prstGeom prst="roundRect">
            <a:avLst>
              <a:gd name="adj" fmla="val 4000"/>
            </a:avLst>
          </a:prstGeom>
          <a:solidFill>
            <a:srgbClr val="FFFFFF"/>
          </a:solidFill>
          <a:ln w="15875">
            <a:solidFill>
              <a:srgbClr val="C9B6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360152" y="1874519"/>
            <a:ext cx="2377440" cy="731520"/>
          </a:xfrm>
          <a:prstGeom prst="rect">
            <a:avLst/>
          </a:prstGeom>
          <a:noFill/>
        </p:spPr>
        <p:txBody>
          <a:bodyPr wrap="square" lIns="0" tIns="0" rIns="0" bIns="0" anchor="t">
            <a:spAutoFit/>
          </a:bodyPr>
          <a:lstStyle/>
          <a:p>
            <a:pPr algn="ctr"/>
            <a:r>
              <a:rPr sz="3800" b="1" i="0">
                <a:solidFill>
                  <a:srgbClr val="D9692A"/>
                </a:solidFill>
                <a:latin typeface="Calibri"/>
              </a:rPr>
              <a:t>~145 km</a:t>
            </a:r>
          </a:p>
        </p:txBody>
      </p:sp>
      <p:sp>
        <p:nvSpPr>
          <p:cNvPr id="27" name="TextBox 26"/>
          <p:cNvSpPr txBox="1"/>
          <p:nvPr/>
        </p:nvSpPr>
        <p:spPr>
          <a:xfrm>
            <a:off x="10360152" y="2606040"/>
            <a:ext cx="2377440" cy="365760"/>
          </a:xfrm>
          <a:prstGeom prst="rect">
            <a:avLst/>
          </a:prstGeom>
          <a:noFill/>
        </p:spPr>
        <p:txBody>
          <a:bodyPr wrap="square" lIns="0" tIns="0" rIns="0" bIns="0" anchor="t">
            <a:spAutoFit/>
          </a:bodyPr>
          <a:lstStyle/>
          <a:p>
            <a:pPr algn="ctr"/>
            <a:r>
              <a:rPr sz="1500" b="0" i="0">
                <a:solidFill>
                  <a:srgbClr val="6B5B78"/>
                </a:solidFill>
                <a:latin typeface="Calibri"/>
              </a:rPr>
              <a:t>damaged road</a:t>
            </a:r>
          </a:p>
        </p:txBody>
      </p:sp>
      <p:sp>
        <p:nvSpPr>
          <p:cNvPr id="28" name="TextBox 27"/>
          <p:cNvSpPr txBox="1"/>
          <p:nvPr/>
        </p:nvSpPr>
        <p:spPr>
          <a:xfrm>
            <a:off x="12829032" y="1874519"/>
            <a:ext cx="2377440" cy="731520"/>
          </a:xfrm>
          <a:prstGeom prst="rect">
            <a:avLst/>
          </a:prstGeom>
          <a:noFill/>
        </p:spPr>
        <p:txBody>
          <a:bodyPr wrap="square" lIns="0" tIns="0" rIns="0" bIns="0" anchor="t">
            <a:spAutoFit/>
          </a:bodyPr>
          <a:lstStyle/>
          <a:p>
            <a:pPr algn="ctr"/>
            <a:r>
              <a:rPr sz="3800" b="1" i="0">
                <a:solidFill>
                  <a:srgbClr val="D9692A"/>
                </a:solidFill>
                <a:latin typeface="Calibri"/>
              </a:rPr>
              <a:t>~163 km</a:t>
            </a:r>
          </a:p>
        </p:txBody>
      </p:sp>
      <p:sp>
        <p:nvSpPr>
          <p:cNvPr id="29" name="TextBox 28"/>
          <p:cNvSpPr txBox="1"/>
          <p:nvPr/>
        </p:nvSpPr>
        <p:spPr>
          <a:xfrm>
            <a:off x="12829032" y="2606040"/>
            <a:ext cx="2377440" cy="365760"/>
          </a:xfrm>
          <a:prstGeom prst="rect">
            <a:avLst/>
          </a:prstGeom>
          <a:noFill/>
        </p:spPr>
        <p:txBody>
          <a:bodyPr wrap="square" lIns="0" tIns="0" rIns="0" bIns="0" anchor="t">
            <a:spAutoFit/>
          </a:bodyPr>
          <a:lstStyle/>
          <a:p>
            <a:pPr algn="ctr"/>
            <a:r>
              <a:rPr sz="1500" b="0" i="0">
                <a:solidFill>
                  <a:srgbClr val="6B5B78"/>
                </a:solidFill>
                <a:latin typeface="Calibri"/>
              </a:rPr>
              <a:t>road at risk</a:t>
            </a:r>
          </a:p>
        </p:txBody>
      </p:sp>
      <p:sp>
        <p:nvSpPr>
          <p:cNvPr id="30" name="TextBox 29"/>
          <p:cNvSpPr txBox="1"/>
          <p:nvPr/>
        </p:nvSpPr>
        <p:spPr>
          <a:xfrm>
            <a:off x="15297912" y="1874519"/>
            <a:ext cx="2377440" cy="731520"/>
          </a:xfrm>
          <a:prstGeom prst="rect">
            <a:avLst/>
          </a:prstGeom>
          <a:noFill/>
        </p:spPr>
        <p:txBody>
          <a:bodyPr wrap="square" lIns="0" tIns="0" rIns="0" bIns="0" anchor="t">
            <a:spAutoFit/>
          </a:bodyPr>
          <a:lstStyle/>
          <a:p>
            <a:pPr algn="ctr"/>
            <a:r>
              <a:rPr sz="3800" b="1" i="0" dirty="0">
                <a:solidFill>
                  <a:srgbClr val="1C8494"/>
                </a:solidFill>
                <a:latin typeface="Calibri"/>
              </a:rPr>
              <a:t>45 km²</a:t>
            </a:r>
          </a:p>
        </p:txBody>
      </p:sp>
      <p:sp>
        <p:nvSpPr>
          <p:cNvPr id="31" name="TextBox 30"/>
          <p:cNvSpPr txBox="1"/>
          <p:nvPr/>
        </p:nvSpPr>
        <p:spPr>
          <a:xfrm>
            <a:off x="15297912" y="2606040"/>
            <a:ext cx="2377440" cy="365760"/>
          </a:xfrm>
          <a:prstGeom prst="rect">
            <a:avLst/>
          </a:prstGeom>
          <a:noFill/>
        </p:spPr>
        <p:txBody>
          <a:bodyPr wrap="square" lIns="0" tIns="0" rIns="0" bIns="0" anchor="t">
            <a:spAutoFit/>
          </a:bodyPr>
          <a:lstStyle/>
          <a:p>
            <a:pPr algn="ctr"/>
            <a:r>
              <a:rPr sz="1500" b="0" i="0">
                <a:solidFill>
                  <a:srgbClr val="6B5B78"/>
                </a:solidFill>
                <a:latin typeface="Calibri"/>
              </a:rPr>
              <a:t>flood extent</a:t>
            </a:r>
          </a:p>
        </p:txBody>
      </p:sp>
      <p:graphicFrame>
        <p:nvGraphicFramePr>
          <p:cNvPr id="32" name="Chart 31"/>
          <p:cNvGraphicFramePr>
            <a:graphicFrameLocks noGrp="1"/>
          </p:cNvGraphicFramePr>
          <p:nvPr/>
        </p:nvGraphicFramePr>
        <p:xfrm>
          <a:off x="10332720" y="3154680"/>
          <a:ext cx="7406640" cy="5120640"/>
        </p:xfrm>
        <a:graphic>
          <a:graphicData uri="http://schemas.openxmlformats.org/drawingml/2006/chart">
            <c:chart xmlns:c="http://schemas.openxmlformats.org/drawingml/2006/chart" xmlns:r="http://schemas.openxmlformats.org/officeDocument/2006/relationships" r:id="rId7"/>
          </a:graphicData>
        </a:graphic>
      </p:graphicFrame>
      <p:sp>
        <p:nvSpPr>
          <p:cNvPr id="33" name="TextBox 32"/>
          <p:cNvSpPr txBox="1"/>
          <p:nvPr/>
        </p:nvSpPr>
        <p:spPr>
          <a:xfrm>
            <a:off x="10378440" y="8321040"/>
            <a:ext cx="7315200" cy="365760"/>
          </a:xfrm>
          <a:prstGeom prst="rect">
            <a:avLst/>
          </a:prstGeom>
          <a:noFill/>
        </p:spPr>
        <p:txBody>
          <a:bodyPr wrap="square" lIns="0" tIns="0" rIns="0" bIns="0" anchor="t">
            <a:spAutoFit/>
          </a:bodyPr>
          <a:lstStyle/>
          <a:p>
            <a:pPr algn="l"/>
            <a:r>
              <a:rPr sz="1050" b="0" i="1">
                <a:solidFill>
                  <a:srgbClr val="6B5B78"/>
                </a:solidFill>
                <a:latin typeface="Calibri"/>
              </a:rPr>
              <a:t>* within the mapped flood extent.  Source: OSM-based impact layers on the portal; road lengths summed from segments.</a:t>
            </a:r>
          </a:p>
        </p:txBody>
      </p:sp>
      <p:pic>
        <p:nvPicPr>
          <p:cNvPr id="16" name="Picture 15">
            <a:extLst>
              <a:ext uri="{FF2B5EF4-FFF2-40B4-BE49-F238E27FC236}">
                <a16:creationId xmlns:a16="http://schemas.microsoft.com/office/drawing/2014/main" id="{F3DF5495-1834-BDE2-9C3B-E7F451916E5D}"/>
              </a:ext>
            </a:extLst>
          </p:cNvPr>
          <p:cNvPicPr>
            <a:picLocks noChangeAspect="1"/>
          </p:cNvPicPr>
          <p:nvPr/>
        </p:nvPicPr>
        <p:blipFill>
          <a:blip r:embed="rId8"/>
          <a:stretch>
            <a:fillRect/>
          </a:stretch>
        </p:blipFill>
        <p:spPr>
          <a:xfrm>
            <a:off x="2010112" y="1683743"/>
            <a:ext cx="7781982" cy="712475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5BC21-C85B-4688-17E7-30F262C5995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11BFE6E-8158-BEF9-C69A-37A9978DA1ED}"/>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38888" b="-38888"/>
            </a:stretch>
          </a:blipFill>
        </p:spPr>
        <p:txBody>
          <a:bodyPr/>
          <a:lstStyle/>
          <a:p>
            <a:endParaRPr lang="en-GB"/>
          </a:p>
        </p:txBody>
      </p:sp>
      <p:grpSp>
        <p:nvGrpSpPr>
          <p:cNvPr id="3" name="Group 3">
            <a:extLst>
              <a:ext uri="{FF2B5EF4-FFF2-40B4-BE49-F238E27FC236}">
                <a16:creationId xmlns:a16="http://schemas.microsoft.com/office/drawing/2014/main" id="{FA092C80-3F1A-1C8D-C1BD-A7D177F9CFE4}"/>
              </a:ext>
            </a:extLst>
          </p:cNvPr>
          <p:cNvGrpSpPr/>
          <p:nvPr/>
        </p:nvGrpSpPr>
        <p:grpSpPr>
          <a:xfrm>
            <a:off x="76200" y="266700"/>
            <a:ext cx="18135600" cy="9905999"/>
            <a:chOff x="0" y="0"/>
            <a:chExt cx="17226556" cy="10675605"/>
          </a:xfrm>
        </p:grpSpPr>
        <p:grpSp>
          <p:nvGrpSpPr>
            <p:cNvPr id="4" name="Group 4">
              <a:extLst>
                <a:ext uri="{FF2B5EF4-FFF2-40B4-BE49-F238E27FC236}">
                  <a16:creationId xmlns:a16="http://schemas.microsoft.com/office/drawing/2014/main" id="{6E8674C1-6F0E-E4E8-DCAD-09E61BA398EF}"/>
                </a:ext>
              </a:extLst>
            </p:cNvPr>
            <p:cNvGrpSpPr/>
            <p:nvPr/>
          </p:nvGrpSpPr>
          <p:grpSpPr>
            <a:xfrm>
              <a:off x="194102" y="194102"/>
              <a:ext cx="17032455" cy="10481503"/>
              <a:chOff x="0" y="0"/>
              <a:chExt cx="3522136" cy="2167467"/>
            </a:xfrm>
          </p:grpSpPr>
          <p:sp>
            <p:nvSpPr>
              <p:cNvPr id="5" name="Freeform 5">
                <a:extLst>
                  <a:ext uri="{FF2B5EF4-FFF2-40B4-BE49-F238E27FC236}">
                    <a16:creationId xmlns:a16="http://schemas.microsoft.com/office/drawing/2014/main" id="{151FD236-8B7B-F584-180D-3A782623D076}"/>
                  </a:ext>
                </a:extLst>
              </p:cNvPr>
              <p:cNvSpPr/>
              <p:nvPr/>
            </p:nvSpPr>
            <p:spPr>
              <a:xfrm>
                <a:off x="0" y="0"/>
                <a:ext cx="3522136" cy="2167467"/>
              </a:xfrm>
              <a:custGeom>
                <a:avLst/>
                <a:gdLst/>
                <a:ahLst/>
                <a:cxnLst/>
                <a:rect l="l" t="t" r="r" b="b"/>
                <a:pathLst>
                  <a:path w="3522136" h="2167467">
                    <a:moveTo>
                      <a:pt x="29525" y="0"/>
                    </a:moveTo>
                    <a:lnTo>
                      <a:pt x="3492611" y="0"/>
                    </a:lnTo>
                    <a:cubicBezTo>
                      <a:pt x="3508917" y="0"/>
                      <a:pt x="3522136" y="13219"/>
                      <a:pt x="3522136" y="29525"/>
                    </a:cubicBezTo>
                    <a:lnTo>
                      <a:pt x="3522136" y="2137942"/>
                    </a:lnTo>
                    <a:cubicBezTo>
                      <a:pt x="3522136" y="2154248"/>
                      <a:pt x="3508917" y="2167467"/>
                      <a:pt x="3492611" y="2167467"/>
                    </a:cubicBezTo>
                    <a:lnTo>
                      <a:pt x="29525" y="2167467"/>
                    </a:lnTo>
                    <a:cubicBezTo>
                      <a:pt x="21694" y="2167467"/>
                      <a:pt x="14185" y="2164356"/>
                      <a:pt x="8648" y="2158819"/>
                    </a:cubicBezTo>
                    <a:cubicBezTo>
                      <a:pt x="3111" y="2153282"/>
                      <a:pt x="0" y="2145773"/>
                      <a:pt x="0" y="2137942"/>
                    </a:cubicBezTo>
                    <a:lnTo>
                      <a:pt x="0" y="29525"/>
                    </a:lnTo>
                    <a:cubicBezTo>
                      <a:pt x="0" y="13219"/>
                      <a:pt x="13219" y="0"/>
                      <a:pt x="29525" y="0"/>
                    </a:cubicBezTo>
                    <a:close/>
                  </a:path>
                </a:pathLst>
              </a:custGeom>
              <a:solidFill>
                <a:srgbClr val="543855"/>
              </a:solidFill>
            </p:spPr>
            <p:txBody>
              <a:bodyPr/>
              <a:lstStyle/>
              <a:p>
                <a:endParaRPr lang="en-GB"/>
              </a:p>
            </p:txBody>
          </p:sp>
          <p:sp>
            <p:nvSpPr>
              <p:cNvPr id="6" name="TextBox 6">
                <a:extLst>
                  <a:ext uri="{FF2B5EF4-FFF2-40B4-BE49-F238E27FC236}">
                    <a16:creationId xmlns:a16="http://schemas.microsoft.com/office/drawing/2014/main" id="{9F98525F-FFE5-6094-9BCF-71BE6217D1A5}"/>
                  </a:ext>
                </a:extLst>
              </p:cNvPr>
              <p:cNvSpPr txBox="1"/>
              <p:nvPr/>
            </p:nvSpPr>
            <p:spPr>
              <a:xfrm>
                <a:off x="0" y="-38100"/>
                <a:ext cx="3522136" cy="2205567"/>
              </a:xfrm>
              <a:prstGeom prst="rect">
                <a:avLst/>
              </a:prstGeom>
            </p:spPr>
            <p:txBody>
              <a:bodyPr lIns="50800" tIns="50800" rIns="50800" bIns="50800" rtlCol="0" anchor="ctr"/>
              <a:lstStyle/>
              <a:p>
                <a:pPr algn="ctr">
                  <a:lnSpc>
                    <a:spcPts val="2540"/>
                  </a:lnSpc>
                </a:pPr>
                <a:endParaRPr/>
              </a:p>
            </p:txBody>
          </p:sp>
        </p:grpSp>
        <p:grpSp>
          <p:nvGrpSpPr>
            <p:cNvPr id="7" name="Group 7">
              <a:extLst>
                <a:ext uri="{FF2B5EF4-FFF2-40B4-BE49-F238E27FC236}">
                  <a16:creationId xmlns:a16="http://schemas.microsoft.com/office/drawing/2014/main" id="{B4916692-8E13-6D58-E7C9-727404BFB479}"/>
                </a:ext>
              </a:extLst>
            </p:cNvPr>
            <p:cNvGrpSpPr/>
            <p:nvPr/>
          </p:nvGrpSpPr>
          <p:grpSpPr>
            <a:xfrm>
              <a:off x="0" y="0"/>
              <a:ext cx="17032455" cy="10481503"/>
              <a:chOff x="0" y="0"/>
              <a:chExt cx="3522136" cy="2167467"/>
            </a:xfrm>
          </p:grpSpPr>
          <p:sp>
            <p:nvSpPr>
              <p:cNvPr id="8" name="Freeform 8">
                <a:extLst>
                  <a:ext uri="{FF2B5EF4-FFF2-40B4-BE49-F238E27FC236}">
                    <a16:creationId xmlns:a16="http://schemas.microsoft.com/office/drawing/2014/main" id="{C0A5E6D5-6313-8FC9-4488-6E610148E96D}"/>
                  </a:ext>
                </a:extLst>
              </p:cNvPr>
              <p:cNvSpPr/>
              <p:nvPr/>
            </p:nvSpPr>
            <p:spPr>
              <a:xfrm>
                <a:off x="0" y="0"/>
                <a:ext cx="3522136" cy="2167467"/>
              </a:xfrm>
              <a:custGeom>
                <a:avLst/>
                <a:gdLst/>
                <a:ahLst/>
                <a:cxnLst/>
                <a:rect l="l" t="t" r="r" b="b"/>
                <a:pathLst>
                  <a:path w="3522136" h="2167467">
                    <a:moveTo>
                      <a:pt x="29525" y="0"/>
                    </a:moveTo>
                    <a:lnTo>
                      <a:pt x="3492611" y="0"/>
                    </a:lnTo>
                    <a:cubicBezTo>
                      <a:pt x="3508917" y="0"/>
                      <a:pt x="3522136" y="13219"/>
                      <a:pt x="3522136" y="29525"/>
                    </a:cubicBezTo>
                    <a:lnTo>
                      <a:pt x="3522136" y="2137942"/>
                    </a:lnTo>
                    <a:cubicBezTo>
                      <a:pt x="3522136" y="2154248"/>
                      <a:pt x="3508917" y="2167467"/>
                      <a:pt x="3492611" y="2167467"/>
                    </a:cubicBezTo>
                    <a:lnTo>
                      <a:pt x="29525" y="2167467"/>
                    </a:lnTo>
                    <a:cubicBezTo>
                      <a:pt x="21694" y="2167467"/>
                      <a:pt x="14185" y="2164356"/>
                      <a:pt x="8648" y="2158819"/>
                    </a:cubicBezTo>
                    <a:cubicBezTo>
                      <a:pt x="3111" y="2153282"/>
                      <a:pt x="0" y="2145773"/>
                      <a:pt x="0" y="2137942"/>
                    </a:cubicBezTo>
                    <a:lnTo>
                      <a:pt x="0" y="29525"/>
                    </a:lnTo>
                    <a:cubicBezTo>
                      <a:pt x="0" y="13219"/>
                      <a:pt x="13219" y="0"/>
                      <a:pt x="29525" y="0"/>
                    </a:cubicBezTo>
                    <a:close/>
                  </a:path>
                </a:pathLst>
              </a:custGeom>
              <a:solidFill>
                <a:srgbClr val="FFFFFF"/>
              </a:solidFill>
            </p:spPr>
            <p:txBody>
              <a:bodyPr/>
              <a:lstStyle/>
              <a:p>
                <a:endParaRPr lang="en-GB"/>
              </a:p>
            </p:txBody>
          </p:sp>
          <p:sp>
            <p:nvSpPr>
              <p:cNvPr id="9" name="TextBox 9">
                <a:extLst>
                  <a:ext uri="{FF2B5EF4-FFF2-40B4-BE49-F238E27FC236}">
                    <a16:creationId xmlns:a16="http://schemas.microsoft.com/office/drawing/2014/main" id="{2F8F00D5-31D8-78CE-E0C5-77D9D38DBE62}"/>
                  </a:ext>
                </a:extLst>
              </p:cNvPr>
              <p:cNvSpPr txBox="1"/>
              <p:nvPr/>
            </p:nvSpPr>
            <p:spPr>
              <a:xfrm>
                <a:off x="0" y="-38100"/>
                <a:ext cx="3522136" cy="2205567"/>
              </a:xfrm>
              <a:prstGeom prst="rect">
                <a:avLst/>
              </a:prstGeom>
            </p:spPr>
            <p:txBody>
              <a:bodyPr lIns="50800" tIns="50800" rIns="50800" bIns="50800" rtlCol="0" anchor="ctr"/>
              <a:lstStyle/>
              <a:p>
                <a:pPr algn="ctr">
                  <a:lnSpc>
                    <a:spcPts val="2540"/>
                  </a:lnSpc>
                </a:pPr>
                <a:endParaRPr/>
              </a:p>
            </p:txBody>
          </p:sp>
        </p:grpSp>
      </p:grpSp>
      <p:sp>
        <p:nvSpPr>
          <p:cNvPr id="11" name="TextBox 11">
            <a:extLst>
              <a:ext uri="{FF2B5EF4-FFF2-40B4-BE49-F238E27FC236}">
                <a16:creationId xmlns:a16="http://schemas.microsoft.com/office/drawing/2014/main" id="{5094F0F9-4F51-A4BB-352F-8AA14E9EB3F1}"/>
              </a:ext>
            </a:extLst>
          </p:cNvPr>
          <p:cNvSpPr txBox="1"/>
          <p:nvPr/>
        </p:nvSpPr>
        <p:spPr>
          <a:xfrm>
            <a:off x="2011680" y="264639"/>
            <a:ext cx="13716000" cy="1175643"/>
          </a:xfrm>
          <a:prstGeom prst="rect">
            <a:avLst/>
          </a:prstGeom>
        </p:spPr>
        <p:txBody>
          <a:bodyPr wrap="square" lIns="0" tIns="0" rIns="0" bIns="0" rtlCol="0" anchor="t">
            <a:spAutoFit/>
          </a:bodyPr>
          <a:lstStyle/>
          <a:p>
            <a:pPr algn="l">
              <a:lnSpc>
                <a:spcPts val="9900"/>
              </a:lnSpc>
            </a:pPr>
            <a:r>
              <a:rPr lang="en-US" sz="6000" b="1" spc="1009" dirty="0">
                <a:solidFill>
                  <a:srgbClr val="543855"/>
                </a:solidFill>
                <a:latin typeface="Jingleberry"/>
                <a:ea typeface="Jingleberry"/>
                <a:cs typeface="Jingleberry"/>
                <a:sym typeface="Jingleberry"/>
              </a:rPr>
              <a:t>Results</a:t>
            </a:r>
            <a:r>
              <a:rPr sz="3200" b="0">
                <a:solidFill>
                  <a:srgbClr val="6B5B78"/>
                </a:solidFill>
                <a:latin typeface="Calibri"/>
              </a:rPr>
              <a:t>   Before vs after, Sentinel-2</a:t>
            </a:r>
          </a:p>
        </p:txBody>
      </p:sp>
      <p:sp>
        <p:nvSpPr>
          <p:cNvPr id="13" name="Freeform 13">
            <a:extLst>
              <a:ext uri="{FF2B5EF4-FFF2-40B4-BE49-F238E27FC236}">
                <a16:creationId xmlns:a16="http://schemas.microsoft.com/office/drawing/2014/main" id="{73723123-22AC-8B43-1468-2395AF09A170}"/>
              </a:ext>
            </a:extLst>
          </p:cNvPr>
          <p:cNvSpPr/>
          <p:nvPr/>
        </p:nvSpPr>
        <p:spPr>
          <a:xfrm>
            <a:off x="-952680" y="-278767"/>
            <a:ext cx="2828746" cy="3268508"/>
          </a:xfrm>
          <a:custGeom>
            <a:avLst/>
            <a:gdLst/>
            <a:ahLst/>
            <a:cxnLst/>
            <a:rect l="l" t="t" r="r" b="b"/>
            <a:pathLst>
              <a:path w="2828746" h="3268508">
                <a:moveTo>
                  <a:pt x="0" y="0"/>
                </a:moveTo>
                <a:lnTo>
                  <a:pt x="2828745" y="0"/>
                </a:lnTo>
                <a:lnTo>
                  <a:pt x="2828745" y="3268509"/>
                </a:lnTo>
                <a:lnTo>
                  <a:pt x="0" y="326850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20" name="Freeform 10">
            <a:extLst>
              <a:ext uri="{FF2B5EF4-FFF2-40B4-BE49-F238E27FC236}">
                <a16:creationId xmlns:a16="http://schemas.microsoft.com/office/drawing/2014/main" id="{CC919CDC-2DC7-D46A-9E91-A814CBF7BB6D}"/>
              </a:ext>
            </a:extLst>
          </p:cNvPr>
          <p:cNvSpPr/>
          <p:nvPr/>
        </p:nvSpPr>
        <p:spPr>
          <a:xfrm>
            <a:off x="348951" y="7297260"/>
            <a:ext cx="1386841" cy="2480155"/>
          </a:xfrm>
          <a:custGeom>
            <a:avLst/>
            <a:gdLst/>
            <a:ahLst/>
            <a:cxnLst/>
            <a:rect l="l" t="t" r="r" b="b"/>
            <a:pathLst>
              <a:path w="5332548" h="9191839">
                <a:moveTo>
                  <a:pt x="0" y="0"/>
                </a:moveTo>
                <a:lnTo>
                  <a:pt x="5332547" y="0"/>
                </a:lnTo>
                <a:lnTo>
                  <a:pt x="5332547" y="9191839"/>
                </a:lnTo>
                <a:lnTo>
                  <a:pt x="0" y="9191839"/>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23" name="TextBox 22">
            <a:extLst>
              <a:ext uri="{FF2B5EF4-FFF2-40B4-BE49-F238E27FC236}">
                <a16:creationId xmlns:a16="http://schemas.microsoft.com/office/drawing/2014/main" id="{F3747FF5-DDEF-1802-2ECC-28DE85461E11}"/>
              </a:ext>
            </a:extLst>
          </p:cNvPr>
          <p:cNvSpPr txBox="1"/>
          <p:nvPr/>
        </p:nvSpPr>
        <p:spPr>
          <a:xfrm>
            <a:off x="2016337" y="9189995"/>
            <a:ext cx="15991117" cy="584775"/>
          </a:xfrm>
          <a:prstGeom prst="rect">
            <a:avLst/>
          </a:prstGeom>
          <a:noFill/>
        </p:spPr>
        <p:txBody>
          <a:bodyPr wrap="square" lIns="0" tIns="0" rIns="0" bIns="0" anchor="ctr">
            <a:spAutoFit/>
          </a:bodyPr>
          <a:lstStyle/>
          <a:p>
            <a:pPr algn="l"/>
            <a:r>
              <a:rPr sz="1900" b="1" i="0" dirty="0">
                <a:solidFill>
                  <a:srgbClr val="D9692A"/>
                </a:solidFill>
                <a:latin typeface="Calibri"/>
              </a:rPr>
              <a:t>Takeaway: </a:t>
            </a:r>
            <a:r>
              <a:rPr sz="1900" b="0" i="0" dirty="0">
                <a:solidFill>
                  <a:srgbClr val="2E2140"/>
                </a:solidFill>
                <a:latin typeface="Calibri"/>
              </a:rPr>
              <a:t>one swipe over 3D terrain shows how the river channel and vegetation changed between 12 Aug and 21 Sep, with no GIS skills needed.</a:t>
            </a:r>
          </a:p>
        </p:txBody>
      </p:sp>
      <p:sp>
        <p:nvSpPr>
          <p:cNvPr id="12" name="Freeform 12">
            <a:extLst>
              <a:ext uri="{FF2B5EF4-FFF2-40B4-BE49-F238E27FC236}">
                <a16:creationId xmlns:a16="http://schemas.microsoft.com/office/drawing/2014/main" id="{0367CA35-74C0-7D91-D41C-5F7A951D66CD}"/>
              </a:ext>
            </a:extLst>
          </p:cNvPr>
          <p:cNvSpPr/>
          <p:nvPr/>
        </p:nvSpPr>
        <p:spPr>
          <a:xfrm>
            <a:off x="16271662" y="-198673"/>
            <a:ext cx="2054437" cy="1734693"/>
          </a:xfrm>
          <a:custGeom>
            <a:avLst/>
            <a:gdLst/>
            <a:ahLst/>
            <a:cxnLst/>
            <a:rect l="l" t="t" r="r" b="b"/>
            <a:pathLst>
              <a:path w="2977000" h="2430315">
                <a:moveTo>
                  <a:pt x="0" y="0"/>
                </a:moveTo>
                <a:lnTo>
                  <a:pt x="2977000" y="0"/>
                </a:lnTo>
                <a:lnTo>
                  <a:pt x="2977000" y="2430315"/>
                </a:lnTo>
                <a:lnTo>
                  <a:pt x="0" y="243031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pic>
        <p:nvPicPr>
          <p:cNvPr id="16" name="Picture 15">
            <a:extLst>
              <a:ext uri="{FF2B5EF4-FFF2-40B4-BE49-F238E27FC236}">
                <a16:creationId xmlns:a16="http://schemas.microsoft.com/office/drawing/2014/main" id="{860EFC49-4EE5-27DA-BBCE-4E23B873E5EA}"/>
              </a:ext>
            </a:extLst>
          </p:cNvPr>
          <p:cNvPicPr>
            <a:picLocks noChangeAspect="1"/>
          </p:cNvPicPr>
          <p:nvPr/>
        </p:nvPicPr>
        <p:blipFill>
          <a:blip r:embed="rId7"/>
          <a:stretch>
            <a:fillRect/>
          </a:stretch>
        </p:blipFill>
        <p:spPr>
          <a:xfrm>
            <a:off x="3636351" y="1900401"/>
            <a:ext cx="10810954" cy="6810425"/>
          </a:xfrm>
          <a:prstGeom prst="rect">
            <a:avLst/>
          </a:prstGeom>
        </p:spPr>
      </p:pic>
    </p:spTree>
    <p:extLst>
      <p:ext uri="{BB962C8B-B14F-4D97-AF65-F5344CB8AC3E}">
        <p14:creationId xmlns:p14="http://schemas.microsoft.com/office/powerpoint/2010/main" val="7502705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38888" b="-38888"/>
            </a:stretch>
          </a:blipFill>
        </p:spPr>
        <p:txBody>
          <a:bodyPr/>
          <a:lstStyle/>
          <a:p>
            <a:endParaRPr lang="en-GB"/>
          </a:p>
        </p:txBody>
      </p:sp>
      <p:grpSp>
        <p:nvGrpSpPr>
          <p:cNvPr id="3" name="Group 3"/>
          <p:cNvGrpSpPr/>
          <p:nvPr/>
        </p:nvGrpSpPr>
        <p:grpSpPr>
          <a:xfrm>
            <a:off x="1557439" y="4195544"/>
            <a:ext cx="4613928" cy="5217601"/>
            <a:chOff x="0" y="0"/>
            <a:chExt cx="6151904" cy="6956802"/>
          </a:xfrm>
        </p:grpSpPr>
        <p:grpSp>
          <p:nvGrpSpPr>
            <p:cNvPr id="4" name="Group 4"/>
            <p:cNvGrpSpPr/>
            <p:nvPr/>
          </p:nvGrpSpPr>
          <p:grpSpPr>
            <a:xfrm>
              <a:off x="203295" y="203295"/>
              <a:ext cx="5948609" cy="6753507"/>
              <a:chOff x="0" y="0"/>
              <a:chExt cx="1174483" cy="1333401"/>
            </a:xfrm>
          </p:grpSpPr>
          <p:sp>
            <p:nvSpPr>
              <p:cNvPr id="5" name="Freeform 5"/>
              <p:cNvSpPr/>
              <p:nvPr/>
            </p:nvSpPr>
            <p:spPr>
              <a:xfrm>
                <a:off x="0" y="0"/>
                <a:ext cx="1174483" cy="1333401"/>
              </a:xfrm>
              <a:custGeom>
                <a:avLst/>
                <a:gdLst/>
                <a:ahLst/>
                <a:cxnLst/>
                <a:rect l="l" t="t" r="r" b="b"/>
                <a:pathLst>
                  <a:path w="1174483" h="1333401">
                    <a:moveTo>
                      <a:pt x="88541" y="0"/>
                    </a:moveTo>
                    <a:lnTo>
                      <a:pt x="1085942" y="0"/>
                    </a:lnTo>
                    <a:cubicBezTo>
                      <a:pt x="1109425" y="0"/>
                      <a:pt x="1131945" y="9328"/>
                      <a:pt x="1148550" y="25933"/>
                    </a:cubicBezTo>
                    <a:cubicBezTo>
                      <a:pt x="1165155" y="42538"/>
                      <a:pt x="1174483" y="65059"/>
                      <a:pt x="1174483" y="88541"/>
                    </a:cubicBezTo>
                    <a:lnTo>
                      <a:pt x="1174483" y="1244860"/>
                    </a:lnTo>
                    <a:cubicBezTo>
                      <a:pt x="1174483" y="1268342"/>
                      <a:pt x="1165155" y="1290863"/>
                      <a:pt x="1148550" y="1307468"/>
                    </a:cubicBezTo>
                    <a:cubicBezTo>
                      <a:pt x="1131945" y="1324072"/>
                      <a:pt x="1109425" y="1333401"/>
                      <a:pt x="1085942" y="1333401"/>
                    </a:cubicBezTo>
                    <a:lnTo>
                      <a:pt x="88541" y="1333401"/>
                    </a:lnTo>
                    <a:cubicBezTo>
                      <a:pt x="65059" y="1333401"/>
                      <a:pt x="42538" y="1324072"/>
                      <a:pt x="25933" y="1307468"/>
                    </a:cubicBezTo>
                    <a:cubicBezTo>
                      <a:pt x="9328" y="1290863"/>
                      <a:pt x="0" y="1268342"/>
                      <a:pt x="0" y="1244860"/>
                    </a:cubicBezTo>
                    <a:lnTo>
                      <a:pt x="0" y="88541"/>
                    </a:lnTo>
                    <a:cubicBezTo>
                      <a:pt x="0" y="65059"/>
                      <a:pt x="9328" y="42538"/>
                      <a:pt x="25933" y="25933"/>
                    </a:cubicBezTo>
                    <a:cubicBezTo>
                      <a:pt x="42538" y="9328"/>
                      <a:pt x="65059" y="0"/>
                      <a:pt x="88541" y="0"/>
                    </a:cubicBezTo>
                    <a:close/>
                  </a:path>
                </a:pathLst>
              </a:custGeom>
              <a:solidFill>
                <a:srgbClr val="543855"/>
              </a:solidFill>
            </p:spPr>
            <p:txBody>
              <a:bodyPr/>
              <a:lstStyle/>
              <a:p>
                <a:endParaRPr lang="en-GB"/>
              </a:p>
            </p:txBody>
          </p:sp>
          <p:sp>
            <p:nvSpPr>
              <p:cNvPr id="6" name="TextBox 6"/>
              <p:cNvSpPr txBox="1"/>
              <p:nvPr/>
            </p:nvSpPr>
            <p:spPr>
              <a:xfrm>
                <a:off x="0" y="-38100"/>
                <a:ext cx="1174483" cy="1371501"/>
              </a:xfrm>
              <a:prstGeom prst="rect">
                <a:avLst/>
              </a:prstGeom>
            </p:spPr>
            <p:txBody>
              <a:bodyPr lIns="50800" tIns="50800" rIns="50800" bIns="50800" rtlCol="0" anchor="ctr"/>
              <a:lstStyle/>
              <a:p>
                <a:pPr algn="ctr">
                  <a:lnSpc>
                    <a:spcPts val="2661"/>
                  </a:lnSpc>
                </a:pPr>
                <a:endParaRPr/>
              </a:p>
            </p:txBody>
          </p:sp>
        </p:grpSp>
        <p:grpSp>
          <p:nvGrpSpPr>
            <p:cNvPr id="7" name="Group 7"/>
            <p:cNvGrpSpPr/>
            <p:nvPr/>
          </p:nvGrpSpPr>
          <p:grpSpPr>
            <a:xfrm>
              <a:off x="0" y="0"/>
              <a:ext cx="5948609" cy="6753507"/>
              <a:chOff x="0" y="0"/>
              <a:chExt cx="1174483" cy="1333401"/>
            </a:xfrm>
          </p:grpSpPr>
          <p:sp>
            <p:nvSpPr>
              <p:cNvPr id="8" name="Freeform 8"/>
              <p:cNvSpPr/>
              <p:nvPr/>
            </p:nvSpPr>
            <p:spPr>
              <a:xfrm>
                <a:off x="0" y="0"/>
                <a:ext cx="1174483" cy="1333401"/>
              </a:xfrm>
              <a:custGeom>
                <a:avLst/>
                <a:gdLst/>
                <a:ahLst/>
                <a:cxnLst/>
                <a:rect l="l" t="t" r="r" b="b"/>
                <a:pathLst>
                  <a:path w="1174483" h="1333401">
                    <a:moveTo>
                      <a:pt x="88541" y="0"/>
                    </a:moveTo>
                    <a:lnTo>
                      <a:pt x="1085942" y="0"/>
                    </a:lnTo>
                    <a:cubicBezTo>
                      <a:pt x="1109425" y="0"/>
                      <a:pt x="1131945" y="9328"/>
                      <a:pt x="1148550" y="25933"/>
                    </a:cubicBezTo>
                    <a:cubicBezTo>
                      <a:pt x="1165155" y="42538"/>
                      <a:pt x="1174483" y="65059"/>
                      <a:pt x="1174483" y="88541"/>
                    </a:cubicBezTo>
                    <a:lnTo>
                      <a:pt x="1174483" y="1244860"/>
                    </a:lnTo>
                    <a:cubicBezTo>
                      <a:pt x="1174483" y="1268342"/>
                      <a:pt x="1165155" y="1290863"/>
                      <a:pt x="1148550" y="1307468"/>
                    </a:cubicBezTo>
                    <a:cubicBezTo>
                      <a:pt x="1131945" y="1324072"/>
                      <a:pt x="1109425" y="1333401"/>
                      <a:pt x="1085942" y="1333401"/>
                    </a:cubicBezTo>
                    <a:lnTo>
                      <a:pt x="88541" y="1333401"/>
                    </a:lnTo>
                    <a:cubicBezTo>
                      <a:pt x="65059" y="1333401"/>
                      <a:pt x="42538" y="1324072"/>
                      <a:pt x="25933" y="1307468"/>
                    </a:cubicBezTo>
                    <a:cubicBezTo>
                      <a:pt x="9328" y="1290863"/>
                      <a:pt x="0" y="1268342"/>
                      <a:pt x="0" y="1244860"/>
                    </a:cubicBezTo>
                    <a:lnTo>
                      <a:pt x="0" y="88541"/>
                    </a:lnTo>
                    <a:cubicBezTo>
                      <a:pt x="0" y="65059"/>
                      <a:pt x="9328" y="42538"/>
                      <a:pt x="25933" y="25933"/>
                    </a:cubicBezTo>
                    <a:cubicBezTo>
                      <a:pt x="42538" y="9328"/>
                      <a:pt x="65059" y="0"/>
                      <a:pt x="88541" y="0"/>
                    </a:cubicBezTo>
                    <a:close/>
                  </a:path>
                </a:pathLst>
              </a:custGeom>
              <a:solidFill>
                <a:srgbClr val="FFFFFF"/>
              </a:solidFill>
            </p:spPr>
            <p:txBody>
              <a:bodyPr/>
              <a:lstStyle/>
              <a:p>
                <a:endParaRPr lang="en-GB"/>
              </a:p>
            </p:txBody>
          </p:sp>
          <p:sp>
            <p:nvSpPr>
              <p:cNvPr id="9" name="TextBox 9"/>
              <p:cNvSpPr txBox="1"/>
              <p:nvPr/>
            </p:nvSpPr>
            <p:spPr>
              <a:xfrm>
                <a:off x="0" y="-38100"/>
                <a:ext cx="1174483" cy="1371501"/>
              </a:xfrm>
              <a:prstGeom prst="rect">
                <a:avLst/>
              </a:prstGeom>
            </p:spPr>
            <p:txBody>
              <a:bodyPr lIns="50800" tIns="50800" rIns="50800" bIns="50800" rtlCol="0" anchor="ctr"/>
              <a:lstStyle/>
              <a:p>
                <a:pPr algn="ctr">
                  <a:lnSpc>
                    <a:spcPts val="2661"/>
                  </a:lnSpc>
                </a:pPr>
                <a:endParaRPr/>
              </a:p>
            </p:txBody>
          </p:sp>
        </p:grpSp>
      </p:grpSp>
      <p:sp>
        <p:nvSpPr>
          <p:cNvPr id="10" name="TextBox 10"/>
          <p:cNvSpPr txBox="1"/>
          <p:nvPr/>
        </p:nvSpPr>
        <p:spPr>
          <a:xfrm>
            <a:off x="1633639" y="1402482"/>
            <a:ext cx="15173122" cy="1155060"/>
          </a:xfrm>
          <a:prstGeom prst="rect">
            <a:avLst/>
          </a:prstGeom>
        </p:spPr>
        <p:txBody>
          <a:bodyPr lIns="0" tIns="0" rIns="0" bIns="0" rtlCol="0" anchor="t">
            <a:spAutoFit/>
          </a:bodyPr>
          <a:lstStyle/>
          <a:p>
            <a:pPr algn="ctr">
              <a:lnSpc>
                <a:spcPts val="8799"/>
              </a:lnSpc>
            </a:pPr>
            <a:r>
              <a:rPr lang="en-US" sz="8799" spc="545" dirty="0">
                <a:solidFill>
                  <a:srgbClr val="543855"/>
                </a:solidFill>
                <a:latin typeface="Jingleberry"/>
                <a:ea typeface="Jingleberry"/>
                <a:cs typeface="Jingleberry"/>
                <a:sym typeface="Jingleberry"/>
              </a:rPr>
              <a:t>References</a:t>
            </a:r>
          </a:p>
        </p:txBody>
      </p:sp>
      <p:sp>
        <p:nvSpPr>
          <p:cNvPr id="11" name="TextBox 11"/>
          <p:cNvSpPr txBox="1"/>
          <p:nvPr/>
        </p:nvSpPr>
        <p:spPr>
          <a:xfrm>
            <a:off x="1557439" y="4763770"/>
            <a:ext cx="4459366" cy="445770"/>
          </a:xfrm>
          <a:prstGeom prst="rect">
            <a:avLst/>
          </a:prstGeom>
        </p:spPr>
        <p:txBody>
          <a:bodyPr lIns="0" tIns="0" rIns="0" bIns="0" rtlCol="0" anchor="t">
            <a:spAutoFit/>
          </a:bodyPr>
          <a:lstStyle/>
          <a:p>
            <a:pPr algn="ctr">
              <a:lnSpc>
                <a:spcPts val="3300"/>
              </a:lnSpc>
            </a:pPr>
            <a:r>
              <a:rPr lang="en-US" sz="3300" dirty="0">
                <a:solidFill>
                  <a:srgbClr val="484744"/>
                </a:solidFill>
                <a:latin typeface="One Little Font"/>
                <a:ea typeface="One Little Font"/>
                <a:cs typeface="One Little Font"/>
                <a:sym typeface="One Little Font"/>
              </a:rPr>
              <a:t>In Same study area</a:t>
            </a:r>
          </a:p>
        </p:txBody>
      </p:sp>
      <p:grpSp>
        <p:nvGrpSpPr>
          <p:cNvPr id="12" name="Group 12"/>
          <p:cNvGrpSpPr/>
          <p:nvPr/>
        </p:nvGrpSpPr>
        <p:grpSpPr>
          <a:xfrm>
            <a:off x="6914317" y="4195544"/>
            <a:ext cx="4611766" cy="5215156"/>
            <a:chOff x="0" y="0"/>
            <a:chExt cx="6149021" cy="6953542"/>
          </a:xfrm>
        </p:grpSpPr>
        <p:grpSp>
          <p:nvGrpSpPr>
            <p:cNvPr id="13" name="Group 13"/>
            <p:cNvGrpSpPr/>
            <p:nvPr/>
          </p:nvGrpSpPr>
          <p:grpSpPr>
            <a:xfrm>
              <a:off x="203200" y="203200"/>
              <a:ext cx="5945821" cy="6750342"/>
              <a:chOff x="0" y="0"/>
              <a:chExt cx="1174483" cy="1333401"/>
            </a:xfrm>
          </p:grpSpPr>
          <p:sp>
            <p:nvSpPr>
              <p:cNvPr id="14" name="Freeform 14"/>
              <p:cNvSpPr/>
              <p:nvPr/>
            </p:nvSpPr>
            <p:spPr>
              <a:xfrm>
                <a:off x="0" y="0"/>
                <a:ext cx="1174483" cy="1333401"/>
              </a:xfrm>
              <a:custGeom>
                <a:avLst/>
                <a:gdLst/>
                <a:ahLst/>
                <a:cxnLst/>
                <a:rect l="l" t="t" r="r" b="b"/>
                <a:pathLst>
                  <a:path w="1174483" h="1333401">
                    <a:moveTo>
                      <a:pt x="88541" y="0"/>
                    </a:moveTo>
                    <a:lnTo>
                      <a:pt x="1085942" y="0"/>
                    </a:lnTo>
                    <a:cubicBezTo>
                      <a:pt x="1109425" y="0"/>
                      <a:pt x="1131945" y="9328"/>
                      <a:pt x="1148550" y="25933"/>
                    </a:cubicBezTo>
                    <a:cubicBezTo>
                      <a:pt x="1165155" y="42538"/>
                      <a:pt x="1174483" y="65059"/>
                      <a:pt x="1174483" y="88541"/>
                    </a:cubicBezTo>
                    <a:lnTo>
                      <a:pt x="1174483" y="1244860"/>
                    </a:lnTo>
                    <a:cubicBezTo>
                      <a:pt x="1174483" y="1268342"/>
                      <a:pt x="1165155" y="1290863"/>
                      <a:pt x="1148550" y="1307468"/>
                    </a:cubicBezTo>
                    <a:cubicBezTo>
                      <a:pt x="1131945" y="1324072"/>
                      <a:pt x="1109425" y="1333401"/>
                      <a:pt x="1085942" y="1333401"/>
                    </a:cubicBezTo>
                    <a:lnTo>
                      <a:pt x="88541" y="1333401"/>
                    </a:lnTo>
                    <a:cubicBezTo>
                      <a:pt x="65059" y="1333401"/>
                      <a:pt x="42538" y="1324072"/>
                      <a:pt x="25933" y="1307468"/>
                    </a:cubicBezTo>
                    <a:cubicBezTo>
                      <a:pt x="9328" y="1290863"/>
                      <a:pt x="0" y="1268342"/>
                      <a:pt x="0" y="1244860"/>
                    </a:cubicBezTo>
                    <a:lnTo>
                      <a:pt x="0" y="88541"/>
                    </a:lnTo>
                    <a:cubicBezTo>
                      <a:pt x="0" y="65059"/>
                      <a:pt x="9328" y="42538"/>
                      <a:pt x="25933" y="25933"/>
                    </a:cubicBezTo>
                    <a:cubicBezTo>
                      <a:pt x="42538" y="9328"/>
                      <a:pt x="65059" y="0"/>
                      <a:pt x="88541" y="0"/>
                    </a:cubicBezTo>
                    <a:close/>
                  </a:path>
                </a:pathLst>
              </a:custGeom>
              <a:solidFill>
                <a:srgbClr val="543855"/>
              </a:solidFill>
            </p:spPr>
            <p:txBody>
              <a:bodyPr/>
              <a:lstStyle/>
              <a:p>
                <a:endParaRPr lang="en-GB"/>
              </a:p>
            </p:txBody>
          </p:sp>
          <p:sp>
            <p:nvSpPr>
              <p:cNvPr id="15" name="TextBox 15"/>
              <p:cNvSpPr txBox="1"/>
              <p:nvPr/>
            </p:nvSpPr>
            <p:spPr>
              <a:xfrm>
                <a:off x="0" y="-38100"/>
                <a:ext cx="1174483" cy="1371501"/>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0" y="0"/>
              <a:ext cx="5945821" cy="6750342"/>
              <a:chOff x="0" y="0"/>
              <a:chExt cx="1174483" cy="1333401"/>
            </a:xfrm>
          </p:grpSpPr>
          <p:sp>
            <p:nvSpPr>
              <p:cNvPr id="17" name="Freeform 17"/>
              <p:cNvSpPr/>
              <p:nvPr/>
            </p:nvSpPr>
            <p:spPr>
              <a:xfrm>
                <a:off x="0" y="0"/>
                <a:ext cx="1174483" cy="1333401"/>
              </a:xfrm>
              <a:custGeom>
                <a:avLst/>
                <a:gdLst/>
                <a:ahLst/>
                <a:cxnLst/>
                <a:rect l="l" t="t" r="r" b="b"/>
                <a:pathLst>
                  <a:path w="1174483" h="1333401">
                    <a:moveTo>
                      <a:pt x="88541" y="0"/>
                    </a:moveTo>
                    <a:lnTo>
                      <a:pt x="1085942" y="0"/>
                    </a:lnTo>
                    <a:cubicBezTo>
                      <a:pt x="1109425" y="0"/>
                      <a:pt x="1131945" y="9328"/>
                      <a:pt x="1148550" y="25933"/>
                    </a:cubicBezTo>
                    <a:cubicBezTo>
                      <a:pt x="1165155" y="42538"/>
                      <a:pt x="1174483" y="65059"/>
                      <a:pt x="1174483" y="88541"/>
                    </a:cubicBezTo>
                    <a:lnTo>
                      <a:pt x="1174483" y="1244860"/>
                    </a:lnTo>
                    <a:cubicBezTo>
                      <a:pt x="1174483" y="1268342"/>
                      <a:pt x="1165155" y="1290863"/>
                      <a:pt x="1148550" y="1307468"/>
                    </a:cubicBezTo>
                    <a:cubicBezTo>
                      <a:pt x="1131945" y="1324072"/>
                      <a:pt x="1109425" y="1333401"/>
                      <a:pt x="1085942" y="1333401"/>
                    </a:cubicBezTo>
                    <a:lnTo>
                      <a:pt x="88541" y="1333401"/>
                    </a:lnTo>
                    <a:cubicBezTo>
                      <a:pt x="65059" y="1333401"/>
                      <a:pt x="42538" y="1324072"/>
                      <a:pt x="25933" y="1307468"/>
                    </a:cubicBezTo>
                    <a:cubicBezTo>
                      <a:pt x="9328" y="1290863"/>
                      <a:pt x="0" y="1268342"/>
                      <a:pt x="0" y="1244860"/>
                    </a:cubicBezTo>
                    <a:lnTo>
                      <a:pt x="0" y="88541"/>
                    </a:lnTo>
                    <a:cubicBezTo>
                      <a:pt x="0" y="65059"/>
                      <a:pt x="9328" y="42538"/>
                      <a:pt x="25933" y="25933"/>
                    </a:cubicBezTo>
                    <a:cubicBezTo>
                      <a:pt x="42538" y="9328"/>
                      <a:pt x="65059" y="0"/>
                      <a:pt x="88541" y="0"/>
                    </a:cubicBezTo>
                    <a:close/>
                  </a:path>
                </a:pathLst>
              </a:custGeom>
              <a:solidFill>
                <a:srgbClr val="FFFFFF"/>
              </a:solidFill>
            </p:spPr>
            <p:txBody>
              <a:bodyPr/>
              <a:lstStyle/>
              <a:p>
                <a:endParaRPr lang="en-GB"/>
              </a:p>
            </p:txBody>
          </p:sp>
          <p:sp>
            <p:nvSpPr>
              <p:cNvPr id="18" name="TextBox 18"/>
              <p:cNvSpPr txBox="1"/>
              <p:nvPr/>
            </p:nvSpPr>
            <p:spPr>
              <a:xfrm>
                <a:off x="0" y="-38100"/>
                <a:ext cx="1174483" cy="1371501"/>
              </a:xfrm>
              <a:prstGeom prst="rect">
                <a:avLst/>
              </a:prstGeom>
            </p:spPr>
            <p:txBody>
              <a:bodyPr lIns="50800" tIns="50800" rIns="50800" bIns="50800" rtlCol="0" anchor="ctr"/>
              <a:lstStyle/>
              <a:p>
                <a:pPr algn="ctr">
                  <a:lnSpc>
                    <a:spcPts val="2659"/>
                  </a:lnSpc>
                </a:pPr>
                <a:endParaRPr/>
              </a:p>
            </p:txBody>
          </p:sp>
        </p:grpSp>
      </p:grpSp>
      <p:sp>
        <p:nvSpPr>
          <p:cNvPr id="19" name="TextBox 19"/>
          <p:cNvSpPr txBox="1"/>
          <p:nvPr/>
        </p:nvSpPr>
        <p:spPr>
          <a:xfrm>
            <a:off x="6914317" y="4763770"/>
            <a:ext cx="4459366" cy="445770"/>
          </a:xfrm>
          <a:prstGeom prst="rect">
            <a:avLst/>
          </a:prstGeom>
        </p:spPr>
        <p:txBody>
          <a:bodyPr lIns="0" tIns="0" rIns="0" bIns="0" rtlCol="0" anchor="t">
            <a:spAutoFit/>
          </a:bodyPr>
          <a:lstStyle/>
          <a:p>
            <a:pPr algn="ctr">
              <a:lnSpc>
                <a:spcPts val="3300"/>
              </a:lnSpc>
            </a:pPr>
            <a:r>
              <a:rPr lang="en-US" sz="3300" dirty="0">
                <a:solidFill>
                  <a:srgbClr val="484744"/>
                </a:solidFill>
                <a:latin typeface="One Little Font"/>
                <a:ea typeface="One Little Font"/>
                <a:cs typeface="One Little Font"/>
                <a:sym typeface="One Little Font"/>
              </a:rPr>
              <a:t>Similar study</a:t>
            </a:r>
          </a:p>
        </p:txBody>
      </p:sp>
      <p:grpSp>
        <p:nvGrpSpPr>
          <p:cNvPr id="20" name="Group 20"/>
          <p:cNvGrpSpPr/>
          <p:nvPr/>
        </p:nvGrpSpPr>
        <p:grpSpPr>
          <a:xfrm>
            <a:off x="12271195" y="4195544"/>
            <a:ext cx="4611766" cy="5215156"/>
            <a:chOff x="0" y="0"/>
            <a:chExt cx="6149021" cy="6953542"/>
          </a:xfrm>
        </p:grpSpPr>
        <p:grpSp>
          <p:nvGrpSpPr>
            <p:cNvPr id="21" name="Group 21"/>
            <p:cNvGrpSpPr/>
            <p:nvPr/>
          </p:nvGrpSpPr>
          <p:grpSpPr>
            <a:xfrm>
              <a:off x="203200" y="203200"/>
              <a:ext cx="5945821" cy="6750342"/>
              <a:chOff x="0" y="0"/>
              <a:chExt cx="1174483" cy="1333401"/>
            </a:xfrm>
          </p:grpSpPr>
          <p:sp>
            <p:nvSpPr>
              <p:cNvPr id="22" name="Freeform 22"/>
              <p:cNvSpPr/>
              <p:nvPr/>
            </p:nvSpPr>
            <p:spPr>
              <a:xfrm>
                <a:off x="0" y="0"/>
                <a:ext cx="1174483" cy="1333401"/>
              </a:xfrm>
              <a:custGeom>
                <a:avLst/>
                <a:gdLst/>
                <a:ahLst/>
                <a:cxnLst/>
                <a:rect l="l" t="t" r="r" b="b"/>
                <a:pathLst>
                  <a:path w="1174483" h="1333401">
                    <a:moveTo>
                      <a:pt x="88541" y="0"/>
                    </a:moveTo>
                    <a:lnTo>
                      <a:pt x="1085942" y="0"/>
                    </a:lnTo>
                    <a:cubicBezTo>
                      <a:pt x="1109425" y="0"/>
                      <a:pt x="1131945" y="9328"/>
                      <a:pt x="1148550" y="25933"/>
                    </a:cubicBezTo>
                    <a:cubicBezTo>
                      <a:pt x="1165155" y="42538"/>
                      <a:pt x="1174483" y="65059"/>
                      <a:pt x="1174483" y="88541"/>
                    </a:cubicBezTo>
                    <a:lnTo>
                      <a:pt x="1174483" y="1244860"/>
                    </a:lnTo>
                    <a:cubicBezTo>
                      <a:pt x="1174483" y="1268342"/>
                      <a:pt x="1165155" y="1290863"/>
                      <a:pt x="1148550" y="1307468"/>
                    </a:cubicBezTo>
                    <a:cubicBezTo>
                      <a:pt x="1131945" y="1324072"/>
                      <a:pt x="1109425" y="1333401"/>
                      <a:pt x="1085942" y="1333401"/>
                    </a:cubicBezTo>
                    <a:lnTo>
                      <a:pt x="88541" y="1333401"/>
                    </a:lnTo>
                    <a:cubicBezTo>
                      <a:pt x="65059" y="1333401"/>
                      <a:pt x="42538" y="1324072"/>
                      <a:pt x="25933" y="1307468"/>
                    </a:cubicBezTo>
                    <a:cubicBezTo>
                      <a:pt x="9328" y="1290863"/>
                      <a:pt x="0" y="1268342"/>
                      <a:pt x="0" y="1244860"/>
                    </a:cubicBezTo>
                    <a:lnTo>
                      <a:pt x="0" y="88541"/>
                    </a:lnTo>
                    <a:cubicBezTo>
                      <a:pt x="0" y="65059"/>
                      <a:pt x="9328" y="42538"/>
                      <a:pt x="25933" y="25933"/>
                    </a:cubicBezTo>
                    <a:cubicBezTo>
                      <a:pt x="42538" y="9328"/>
                      <a:pt x="65059" y="0"/>
                      <a:pt x="88541" y="0"/>
                    </a:cubicBezTo>
                    <a:close/>
                  </a:path>
                </a:pathLst>
              </a:custGeom>
              <a:solidFill>
                <a:srgbClr val="543855"/>
              </a:solidFill>
            </p:spPr>
            <p:txBody>
              <a:bodyPr/>
              <a:lstStyle/>
              <a:p>
                <a:endParaRPr lang="en-GB"/>
              </a:p>
            </p:txBody>
          </p:sp>
          <p:sp>
            <p:nvSpPr>
              <p:cNvPr id="23" name="TextBox 23"/>
              <p:cNvSpPr txBox="1"/>
              <p:nvPr/>
            </p:nvSpPr>
            <p:spPr>
              <a:xfrm>
                <a:off x="0" y="-38100"/>
                <a:ext cx="1174483" cy="1371501"/>
              </a:xfrm>
              <a:prstGeom prst="rect">
                <a:avLst/>
              </a:prstGeom>
            </p:spPr>
            <p:txBody>
              <a:bodyPr lIns="50800" tIns="50800" rIns="50800" bIns="50800" rtlCol="0" anchor="ctr"/>
              <a:lstStyle/>
              <a:p>
                <a:pPr algn="ctr">
                  <a:lnSpc>
                    <a:spcPts val="2659"/>
                  </a:lnSpc>
                </a:pPr>
                <a:endParaRPr/>
              </a:p>
            </p:txBody>
          </p:sp>
        </p:grpSp>
        <p:grpSp>
          <p:nvGrpSpPr>
            <p:cNvPr id="24" name="Group 24"/>
            <p:cNvGrpSpPr/>
            <p:nvPr/>
          </p:nvGrpSpPr>
          <p:grpSpPr>
            <a:xfrm>
              <a:off x="0" y="0"/>
              <a:ext cx="5945821" cy="6750342"/>
              <a:chOff x="0" y="0"/>
              <a:chExt cx="1174483" cy="1333401"/>
            </a:xfrm>
          </p:grpSpPr>
          <p:sp>
            <p:nvSpPr>
              <p:cNvPr id="25" name="Freeform 25"/>
              <p:cNvSpPr/>
              <p:nvPr/>
            </p:nvSpPr>
            <p:spPr>
              <a:xfrm>
                <a:off x="0" y="0"/>
                <a:ext cx="1174483" cy="1333401"/>
              </a:xfrm>
              <a:custGeom>
                <a:avLst/>
                <a:gdLst/>
                <a:ahLst/>
                <a:cxnLst/>
                <a:rect l="l" t="t" r="r" b="b"/>
                <a:pathLst>
                  <a:path w="1174483" h="1333401">
                    <a:moveTo>
                      <a:pt x="88541" y="0"/>
                    </a:moveTo>
                    <a:lnTo>
                      <a:pt x="1085942" y="0"/>
                    </a:lnTo>
                    <a:cubicBezTo>
                      <a:pt x="1109425" y="0"/>
                      <a:pt x="1131945" y="9328"/>
                      <a:pt x="1148550" y="25933"/>
                    </a:cubicBezTo>
                    <a:cubicBezTo>
                      <a:pt x="1165155" y="42538"/>
                      <a:pt x="1174483" y="65059"/>
                      <a:pt x="1174483" y="88541"/>
                    </a:cubicBezTo>
                    <a:lnTo>
                      <a:pt x="1174483" y="1244860"/>
                    </a:lnTo>
                    <a:cubicBezTo>
                      <a:pt x="1174483" y="1268342"/>
                      <a:pt x="1165155" y="1290863"/>
                      <a:pt x="1148550" y="1307468"/>
                    </a:cubicBezTo>
                    <a:cubicBezTo>
                      <a:pt x="1131945" y="1324072"/>
                      <a:pt x="1109425" y="1333401"/>
                      <a:pt x="1085942" y="1333401"/>
                    </a:cubicBezTo>
                    <a:lnTo>
                      <a:pt x="88541" y="1333401"/>
                    </a:lnTo>
                    <a:cubicBezTo>
                      <a:pt x="65059" y="1333401"/>
                      <a:pt x="42538" y="1324072"/>
                      <a:pt x="25933" y="1307468"/>
                    </a:cubicBezTo>
                    <a:cubicBezTo>
                      <a:pt x="9328" y="1290863"/>
                      <a:pt x="0" y="1268342"/>
                      <a:pt x="0" y="1244860"/>
                    </a:cubicBezTo>
                    <a:lnTo>
                      <a:pt x="0" y="88541"/>
                    </a:lnTo>
                    <a:cubicBezTo>
                      <a:pt x="0" y="65059"/>
                      <a:pt x="9328" y="42538"/>
                      <a:pt x="25933" y="25933"/>
                    </a:cubicBezTo>
                    <a:cubicBezTo>
                      <a:pt x="42538" y="9328"/>
                      <a:pt x="65059" y="0"/>
                      <a:pt x="88541" y="0"/>
                    </a:cubicBezTo>
                    <a:close/>
                  </a:path>
                </a:pathLst>
              </a:custGeom>
              <a:solidFill>
                <a:srgbClr val="FFFFFF"/>
              </a:solidFill>
            </p:spPr>
            <p:txBody>
              <a:bodyPr/>
              <a:lstStyle/>
              <a:p>
                <a:endParaRPr lang="en-GB"/>
              </a:p>
            </p:txBody>
          </p:sp>
          <p:sp>
            <p:nvSpPr>
              <p:cNvPr id="26" name="TextBox 26"/>
              <p:cNvSpPr txBox="1"/>
              <p:nvPr/>
            </p:nvSpPr>
            <p:spPr>
              <a:xfrm>
                <a:off x="0" y="-38100"/>
                <a:ext cx="1174483" cy="1371501"/>
              </a:xfrm>
              <a:prstGeom prst="rect">
                <a:avLst/>
              </a:prstGeom>
            </p:spPr>
            <p:txBody>
              <a:bodyPr lIns="50800" tIns="50800" rIns="50800" bIns="50800" rtlCol="0" anchor="ctr"/>
              <a:lstStyle/>
              <a:p>
                <a:pPr algn="ctr">
                  <a:lnSpc>
                    <a:spcPts val="2659"/>
                  </a:lnSpc>
                </a:pPr>
                <a:endParaRPr/>
              </a:p>
            </p:txBody>
          </p:sp>
        </p:grpSp>
      </p:grpSp>
      <p:sp>
        <p:nvSpPr>
          <p:cNvPr id="27" name="TextBox 27"/>
          <p:cNvSpPr txBox="1"/>
          <p:nvPr/>
        </p:nvSpPr>
        <p:spPr>
          <a:xfrm>
            <a:off x="12271195" y="4763770"/>
            <a:ext cx="4459366" cy="445770"/>
          </a:xfrm>
          <a:prstGeom prst="rect">
            <a:avLst/>
          </a:prstGeom>
        </p:spPr>
        <p:txBody>
          <a:bodyPr lIns="0" tIns="0" rIns="0" bIns="0" rtlCol="0" anchor="t">
            <a:spAutoFit/>
          </a:bodyPr>
          <a:lstStyle/>
          <a:p>
            <a:pPr algn="ctr">
              <a:lnSpc>
                <a:spcPts val="3300"/>
              </a:lnSpc>
            </a:pPr>
            <a:r>
              <a:rPr lang="en-US" sz="3300" dirty="0">
                <a:solidFill>
                  <a:srgbClr val="484744"/>
                </a:solidFill>
                <a:latin typeface="One Little Font"/>
                <a:ea typeface="One Little Font"/>
                <a:cs typeface="One Little Font"/>
                <a:sym typeface="One Little Font"/>
              </a:rPr>
              <a:t>Similar solution</a:t>
            </a:r>
          </a:p>
        </p:txBody>
      </p:sp>
      <p:sp>
        <p:nvSpPr>
          <p:cNvPr id="28" name="Freeform 28"/>
          <p:cNvSpPr/>
          <p:nvPr/>
        </p:nvSpPr>
        <p:spPr>
          <a:xfrm>
            <a:off x="2241655" y="820124"/>
            <a:ext cx="3090933" cy="3079693"/>
          </a:xfrm>
          <a:custGeom>
            <a:avLst/>
            <a:gdLst/>
            <a:ahLst/>
            <a:cxnLst/>
            <a:rect l="l" t="t" r="r" b="b"/>
            <a:pathLst>
              <a:path w="3090933" h="3079693">
                <a:moveTo>
                  <a:pt x="0" y="0"/>
                </a:moveTo>
                <a:lnTo>
                  <a:pt x="3090933" y="0"/>
                </a:lnTo>
                <a:lnTo>
                  <a:pt x="3090933" y="3079693"/>
                </a:lnTo>
                <a:lnTo>
                  <a:pt x="0" y="307969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29" name="Freeform 29"/>
          <p:cNvSpPr/>
          <p:nvPr/>
        </p:nvSpPr>
        <p:spPr>
          <a:xfrm>
            <a:off x="13404022" y="820124"/>
            <a:ext cx="2346112" cy="3131946"/>
          </a:xfrm>
          <a:custGeom>
            <a:avLst/>
            <a:gdLst/>
            <a:ahLst/>
            <a:cxnLst/>
            <a:rect l="l" t="t" r="r" b="b"/>
            <a:pathLst>
              <a:path w="2346112" h="3131946">
                <a:moveTo>
                  <a:pt x="0" y="0"/>
                </a:moveTo>
                <a:lnTo>
                  <a:pt x="2346112" y="0"/>
                </a:lnTo>
                <a:lnTo>
                  <a:pt x="2346112" y="3131945"/>
                </a:lnTo>
                <a:lnTo>
                  <a:pt x="0" y="313194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3" name="TextBox 32"/>
          <p:cNvSpPr txBox="1"/>
          <p:nvPr/>
        </p:nvSpPr>
        <p:spPr>
          <a:xfrm>
            <a:off x="1828800" y="5349240"/>
            <a:ext cx="3931920" cy="3657600"/>
          </a:xfrm>
          <a:prstGeom prst="rect">
            <a:avLst/>
          </a:prstGeom>
          <a:noFill/>
        </p:spPr>
        <p:txBody>
          <a:bodyPr wrap="square" lIns="0" tIns="0" rIns="0" bIns="0" anchor="t">
            <a:spAutoFit/>
          </a:bodyPr>
          <a:lstStyle/>
          <a:p>
            <a:pPr marL="201168" indent="-201168" algn="l">
              <a:spcAft>
                <a:spcPts val="1400"/>
              </a:spcAft>
              <a:buClr>
                <a:srgbClr val="4A2F5C"/>
              </a:buClr>
              <a:buFont typeface="Arial"/>
              <a:buChar char="•"/>
            </a:pPr>
            <a:r>
              <a:rPr sz="1800" b="1" i="0">
                <a:solidFill>
                  <a:srgbClr val="2E2140"/>
                </a:solidFill>
                <a:latin typeface="Calibri"/>
              </a:rPr>
              <a:t>NDRRMA / OSM (2026). </a:t>
            </a:r>
            <a:r>
              <a:rPr sz="1800" b="0" i="0">
                <a:solidFill>
                  <a:srgbClr val="2E2140"/>
                </a:solidFill>
                <a:latin typeface="Calibri"/>
              </a:rPr>
              <a:t>Flood impact layers for the Bhotekoshi–Trishuli corridor: roads, settlements, facilities.</a:t>
            </a:r>
          </a:p>
          <a:p>
            <a:pPr marL="201168" indent="-201168" algn="l">
              <a:spcAft>
                <a:spcPts val="1400"/>
              </a:spcAft>
              <a:buClr>
                <a:srgbClr val="4A2F5C"/>
              </a:buClr>
              <a:buFont typeface="Arial"/>
              <a:buChar char="•"/>
            </a:pPr>
            <a:r>
              <a:rPr sz="1800" b="1" i="0">
                <a:solidFill>
                  <a:srgbClr val="2E2140"/>
                </a:solidFill>
                <a:latin typeface="Calibri"/>
              </a:rPr>
              <a:t>HOT OSM (2026). </a:t>
            </a:r>
            <a:r>
              <a:rPr sz="1800" b="0" i="0">
                <a:solidFill>
                  <a:srgbClr val="2E2140"/>
                </a:solidFill>
                <a:latin typeface="Calibri"/>
              </a:rPr>
              <a:t>Nepal Floods 2026 damage assessment. HDX dataset “hot_flood_npl” (data.humdata.org)</a:t>
            </a:r>
          </a:p>
        </p:txBody>
      </p:sp>
      <p:sp>
        <p:nvSpPr>
          <p:cNvPr id="34" name="TextBox 33"/>
          <p:cNvSpPr txBox="1"/>
          <p:nvPr/>
        </p:nvSpPr>
        <p:spPr>
          <a:xfrm>
            <a:off x="7187183" y="5349240"/>
            <a:ext cx="3931920" cy="3657600"/>
          </a:xfrm>
          <a:prstGeom prst="rect">
            <a:avLst/>
          </a:prstGeom>
          <a:noFill/>
        </p:spPr>
        <p:txBody>
          <a:bodyPr wrap="square" lIns="0" tIns="0" rIns="0" bIns="0" anchor="t">
            <a:spAutoFit/>
          </a:bodyPr>
          <a:lstStyle/>
          <a:p>
            <a:pPr marL="201168" indent="-201168" algn="l">
              <a:spcAft>
                <a:spcPts val="1400"/>
              </a:spcAft>
              <a:buClr>
                <a:srgbClr val="4A2F5C"/>
              </a:buClr>
              <a:buFont typeface="Arial"/>
              <a:buChar char="•"/>
            </a:pPr>
            <a:r>
              <a:rPr sz="1800" b="1" i="0">
                <a:solidFill>
                  <a:srgbClr val="2E2140"/>
                </a:solidFill>
                <a:latin typeface="Calibri"/>
              </a:rPr>
              <a:t>Shugar, D.H. et al. (2021). </a:t>
            </a:r>
            <a:r>
              <a:rPr sz="1800" b="0" i="0">
                <a:solidFill>
                  <a:srgbClr val="2E2140"/>
                </a:solidFill>
                <a:latin typeface="Calibri"/>
              </a:rPr>
              <a:t>A massive rock and ice avalanche caused the 2021 disaster at Chamoli, Indian Himalaya. Science 373, 300–306.</a:t>
            </a:r>
          </a:p>
          <a:p>
            <a:pPr marL="201168" indent="-201168" algn="l">
              <a:spcAft>
                <a:spcPts val="1400"/>
              </a:spcAft>
              <a:buClr>
                <a:srgbClr val="4A2F5C"/>
              </a:buClr>
              <a:buFont typeface="Arial"/>
              <a:buChar char="•"/>
            </a:pPr>
            <a:r>
              <a:rPr sz="1800" b="1" i="0">
                <a:solidFill>
                  <a:srgbClr val="2E2140"/>
                </a:solidFill>
                <a:latin typeface="Calibri"/>
              </a:rPr>
              <a:t>ICIMOD (2021). </a:t>
            </a:r>
            <a:r>
              <a:rPr sz="1800" b="0" i="0">
                <a:solidFill>
                  <a:srgbClr val="2E2140"/>
                </a:solidFill>
                <a:latin typeface="Calibri"/>
              </a:rPr>
              <a:t>The Melamchi flood disaster: cascading hazard and the need for multihazard risk management.</a:t>
            </a:r>
          </a:p>
        </p:txBody>
      </p:sp>
      <p:sp>
        <p:nvSpPr>
          <p:cNvPr id="35" name="TextBox 34"/>
          <p:cNvSpPr txBox="1"/>
          <p:nvPr/>
        </p:nvSpPr>
        <p:spPr>
          <a:xfrm>
            <a:off x="12545568" y="5349240"/>
            <a:ext cx="3931920" cy="3657600"/>
          </a:xfrm>
          <a:prstGeom prst="rect">
            <a:avLst/>
          </a:prstGeom>
          <a:noFill/>
        </p:spPr>
        <p:txBody>
          <a:bodyPr wrap="square" lIns="0" tIns="0" rIns="0" bIns="0" anchor="t">
            <a:spAutoFit/>
          </a:bodyPr>
          <a:lstStyle/>
          <a:p>
            <a:pPr marL="201168" indent="-201168" algn="l">
              <a:spcAft>
                <a:spcPts val="1400"/>
              </a:spcAft>
              <a:buClr>
                <a:srgbClr val="4A2F5C"/>
              </a:buClr>
              <a:buFont typeface="Arial"/>
              <a:buChar char="•"/>
            </a:pPr>
            <a:r>
              <a:rPr sz="1800" b="1" i="0">
                <a:solidFill>
                  <a:srgbClr val="2E2140"/>
                </a:solidFill>
                <a:latin typeface="Calibri"/>
              </a:rPr>
              <a:t>HOT OSM uMap (2026). </a:t>
            </a:r>
            <a:r>
              <a:rPr sz="1800" b="0" i="0">
                <a:solidFill>
                  <a:srgbClr val="2E2140"/>
                </a:solidFill>
                <a:latin typeface="Calibri"/>
              </a:rPr>
              <a:t>Nepal Floods 2026 focus area &amp; tasking map: umap.hotosm.org</a:t>
            </a:r>
          </a:p>
          <a:p>
            <a:pPr marL="201168" indent="-201168" algn="l">
              <a:spcAft>
                <a:spcPts val="1400"/>
              </a:spcAft>
              <a:buClr>
                <a:srgbClr val="4A2F5C"/>
              </a:buClr>
              <a:buFont typeface="Arial"/>
              <a:buChar char="•"/>
            </a:pPr>
            <a:r>
              <a:rPr sz="1800" b="1" i="0">
                <a:solidFill>
                  <a:srgbClr val="2E2140"/>
                </a:solidFill>
                <a:latin typeface="Calibri"/>
              </a:rPr>
              <a:t>Copernicus Browser / EMS Rapid Mapping. </a:t>
            </a:r>
            <a:r>
              <a:rPr sz="1800" b="0" i="0">
                <a:solidFill>
                  <a:srgbClr val="2E2140"/>
                </a:solidFill>
                <a:latin typeface="Calibri"/>
              </a:rPr>
              <a:t>Satellite before/after viewing and emergency maps.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38888" b="-38888"/>
            </a:stretch>
          </a:blipFill>
        </p:spPr>
        <p:txBody>
          <a:bodyPr/>
          <a:lstStyle/>
          <a:p>
            <a:endParaRPr lang="en-GB" dirty="0"/>
          </a:p>
        </p:txBody>
      </p:sp>
      <p:grpSp>
        <p:nvGrpSpPr>
          <p:cNvPr id="3" name="Group 3"/>
          <p:cNvGrpSpPr/>
          <p:nvPr/>
        </p:nvGrpSpPr>
        <p:grpSpPr>
          <a:xfrm>
            <a:off x="1549055" y="3161492"/>
            <a:ext cx="13831397" cy="5389683"/>
            <a:chOff x="0" y="0"/>
            <a:chExt cx="18441863" cy="7186244"/>
          </a:xfrm>
        </p:grpSpPr>
        <p:grpSp>
          <p:nvGrpSpPr>
            <p:cNvPr id="4" name="Group 4"/>
            <p:cNvGrpSpPr/>
            <p:nvPr/>
          </p:nvGrpSpPr>
          <p:grpSpPr>
            <a:xfrm>
              <a:off x="181348" y="181348"/>
              <a:ext cx="18260515" cy="7004896"/>
              <a:chOff x="0" y="0"/>
              <a:chExt cx="4041644" cy="1550411"/>
            </a:xfrm>
          </p:grpSpPr>
          <p:sp>
            <p:nvSpPr>
              <p:cNvPr id="5" name="Freeform 5"/>
              <p:cNvSpPr/>
              <p:nvPr/>
            </p:nvSpPr>
            <p:spPr>
              <a:xfrm>
                <a:off x="0" y="0"/>
                <a:ext cx="4041644" cy="1550411"/>
              </a:xfrm>
              <a:custGeom>
                <a:avLst/>
                <a:gdLst/>
                <a:ahLst/>
                <a:cxnLst/>
                <a:rect l="l" t="t" r="r" b="b"/>
                <a:pathLst>
                  <a:path w="4041644" h="1550411">
                    <a:moveTo>
                      <a:pt x="25730" y="0"/>
                    </a:moveTo>
                    <a:lnTo>
                      <a:pt x="4015915" y="0"/>
                    </a:lnTo>
                    <a:cubicBezTo>
                      <a:pt x="4022739" y="0"/>
                      <a:pt x="4029283" y="2711"/>
                      <a:pt x="4034108" y="7536"/>
                    </a:cubicBezTo>
                    <a:cubicBezTo>
                      <a:pt x="4038934" y="12361"/>
                      <a:pt x="4041644" y="18906"/>
                      <a:pt x="4041644" y="25730"/>
                    </a:cubicBezTo>
                    <a:lnTo>
                      <a:pt x="4041644" y="1524681"/>
                    </a:lnTo>
                    <a:cubicBezTo>
                      <a:pt x="4041644" y="1531505"/>
                      <a:pt x="4038934" y="1538050"/>
                      <a:pt x="4034108" y="1542875"/>
                    </a:cubicBezTo>
                    <a:cubicBezTo>
                      <a:pt x="4029283" y="1547700"/>
                      <a:pt x="4022739" y="1550411"/>
                      <a:pt x="4015915" y="1550411"/>
                    </a:cubicBezTo>
                    <a:lnTo>
                      <a:pt x="25730" y="1550411"/>
                    </a:lnTo>
                    <a:cubicBezTo>
                      <a:pt x="18906" y="1550411"/>
                      <a:pt x="12361" y="1547700"/>
                      <a:pt x="7536" y="1542875"/>
                    </a:cubicBezTo>
                    <a:cubicBezTo>
                      <a:pt x="2711" y="1538050"/>
                      <a:pt x="0" y="1531505"/>
                      <a:pt x="0" y="1524681"/>
                    </a:cubicBezTo>
                    <a:lnTo>
                      <a:pt x="0" y="25730"/>
                    </a:lnTo>
                    <a:cubicBezTo>
                      <a:pt x="0" y="18906"/>
                      <a:pt x="2711" y="12361"/>
                      <a:pt x="7536" y="7536"/>
                    </a:cubicBezTo>
                    <a:cubicBezTo>
                      <a:pt x="12361" y="2711"/>
                      <a:pt x="18906" y="0"/>
                      <a:pt x="25730" y="0"/>
                    </a:cubicBezTo>
                    <a:close/>
                  </a:path>
                </a:pathLst>
              </a:custGeom>
              <a:solidFill>
                <a:srgbClr val="543855"/>
              </a:solidFill>
            </p:spPr>
            <p:txBody>
              <a:bodyPr/>
              <a:lstStyle/>
              <a:p>
                <a:endParaRPr lang="en-GB"/>
              </a:p>
            </p:txBody>
          </p:sp>
          <p:sp>
            <p:nvSpPr>
              <p:cNvPr id="6" name="TextBox 6"/>
              <p:cNvSpPr txBox="1"/>
              <p:nvPr/>
            </p:nvSpPr>
            <p:spPr>
              <a:xfrm>
                <a:off x="0" y="-28575"/>
                <a:ext cx="4041644" cy="1578986"/>
              </a:xfrm>
              <a:prstGeom prst="rect">
                <a:avLst/>
              </a:prstGeom>
            </p:spPr>
            <p:txBody>
              <a:bodyPr lIns="50800" tIns="50800" rIns="50800" bIns="50800" rtlCol="0" anchor="ctr"/>
              <a:lstStyle/>
              <a:p>
                <a:pPr algn="ctr">
                  <a:lnSpc>
                    <a:spcPts val="2373"/>
                  </a:lnSpc>
                </a:pPr>
                <a:endParaRPr/>
              </a:p>
            </p:txBody>
          </p:sp>
        </p:grpSp>
        <p:grpSp>
          <p:nvGrpSpPr>
            <p:cNvPr id="7" name="Group 7"/>
            <p:cNvGrpSpPr/>
            <p:nvPr/>
          </p:nvGrpSpPr>
          <p:grpSpPr>
            <a:xfrm>
              <a:off x="0" y="0"/>
              <a:ext cx="18260515" cy="7004896"/>
              <a:chOff x="0" y="0"/>
              <a:chExt cx="4041644" cy="1550411"/>
            </a:xfrm>
          </p:grpSpPr>
          <p:sp>
            <p:nvSpPr>
              <p:cNvPr id="8" name="Freeform 8"/>
              <p:cNvSpPr/>
              <p:nvPr/>
            </p:nvSpPr>
            <p:spPr>
              <a:xfrm>
                <a:off x="0" y="0"/>
                <a:ext cx="4041644" cy="1550411"/>
              </a:xfrm>
              <a:custGeom>
                <a:avLst/>
                <a:gdLst/>
                <a:ahLst/>
                <a:cxnLst/>
                <a:rect l="l" t="t" r="r" b="b"/>
                <a:pathLst>
                  <a:path w="4041644" h="1550411">
                    <a:moveTo>
                      <a:pt x="25730" y="0"/>
                    </a:moveTo>
                    <a:lnTo>
                      <a:pt x="4015915" y="0"/>
                    </a:lnTo>
                    <a:cubicBezTo>
                      <a:pt x="4022739" y="0"/>
                      <a:pt x="4029283" y="2711"/>
                      <a:pt x="4034108" y="7536"/>
                    </a:cubicBezTo>
                    <a:cubicBezTo>
                      <a:pt x="4038934" y="12361"/>
                      <a:pt x="4041644" y="18906"/>
                      <a:pt x="4041644" y="25730"/>
                    </a:cubicBezTo>
                    <a:lnTo>
                      <a:pt x="4041644" y="1524681"/>
                    </a:lnTo>
                    <a:cubicBezTo>
                      <a:pt x="4041644" y="1531505"/>
                      <a:pt x="4038934" y="1538050"/>
                      <a:pt x="4034108" y="1542875"/>
                    </a:cubicBezTo>
                    <a:cubicBezTo>
                      <a:pt x="4029283" y="1547700"/>
                      <a:pt x="4022739" y="1550411"/>
                      <a:pt x="4015915" y="1550411"/>
                    </a:cubicBezTo>
                    <a:lnTo>
                      <a:pt x="25730" y="1550411"/>
                    </a:lnTo>
                    <a:cubicBezTo>
                      <a:pt x="18906" y="1550411"/>
                      <a:pt x="12361" y="1547700"/>
                      <a:pt x="7536" y="1542875"/>
                    </a:cubicBezTo>
                    <a:cubicBezTo>
                      <a:pt x="2711" y="1538050"/>
                      <a:pt x="0" y="1531505"/>
                      <a:pt x="0" y="1524681"/>
                    </a:cubicBezTo>
                    <a:lnTo>
                      <a:pt x="0" y="25730"/>
                    </a:lnTo>
                    <a:cubicBezTo>
                      <a:pt x="0" y="18906"/>
                      <a:pt x="2711" y="12361"/>
                      <a:pt x="7536" y="7536"/>
                    </a:cubicBezTo>
                    <a:cubicBezTo>
                      <a:pt x="12361" y="2711"/>
                      <a:pt x="18906" y="0"/>
                      <a:pt x="25730" y="0"/>
                    </a:cubicBezTo>
                    <a:close/>
                  </a:path>
                </a:pathLst>
              </a:custGeom>
              <a:solidFill>
                <a:srgbClr val="FFFFFF"/>
              </a:solidFill>
            </p:spPr>
            <p:txBody>
              <a:bodyPr/>
              <a:lstStyle/>
              <a:p>
                <a:endParaRPr lang="en-GB" dirty="0"/>
              </a:p>
            </p:txBody>
          </p:sp>
          <p:sp>
            <p:nvSpPr>
              <p:cNvPr id="9" name="TextBox 9"/>
              <p:cNvSpPr txBox="1"/>
              <p:nvPr/>
            </p:nvSpPr>
            <p:spPr>
              <a:xfrm>
                <a:off x="0" y="-28575"/>
                <a:ext cx="4041644" cy="1578986"/>
              </a:xfrm>
              <a:prstGeom prst="rect">
                <a:avLst/>
              </a:prstGeom>
            </p:spPr>
            <p:txBody>
              <a:bodyPr lIns="50800" tIns="50800" rIns="50800" bIns="50800" rtlCol="0" anchor="ctr"/>
              <a:lstStyle/>
              <a:p>
                <a:pPr algn="ctr">
                  <a:lnSpc>
                    <a:spcPts val="2373"/>
                  </a:lnSpc>
                </a:pPr>
                <a:endParaRPr/>
              </a:p>
            </p:txBody>
          </p:sp>
        </p:grpSp>
      </p:grpSp>
      <p:sp>
        <p:nvSpPr>
          <p:cNvPr id="10" name="Freeform 10"/>
          <p:cNvSpPr/>
          <p:nvPr/>
        </p:nvSpPr>
        <p:spPr>
          <a:xfrm>
            <a:off x="12714179" y="4373158"/>
            <a:ext cx="5332548" cy="9191839"/>
          </a:xfrm>
          <a:custGeom>
            <a:avLst/>
            <a:gdLst/>
            <a:ahLst/>
            <a:cxnLst/>
            <a:rect l="l" t="t" r="r" b="b"/>
            <a:pathLst>
              <a:path w="5332548" h="9191839">
                <a:moveTo>
                  <a:pt x="0" y="0"/>
                </a:moveTo>
                <a:lnTo>
                  <a:pt x="5332547" y="0"/>
                </a:lnTo>
                <a:lnTo>
                  <a:pt x="5332547" y="9191839"/>
                </a:lnTo>
                <a:lnTo>
                  <a:pt x="0" y="919183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1" name="TextBox 11"/>
          <p:cNvSpPr txBox="1"/>
          <p:nvPr/>
        </p:nvSpPr>
        <p:spPr>
          <a:xfrm>
            <a:off x="1343583" y="493552"/>
            <a:ext cx="15600833" cy="2687531"/>
          </a:xfrm>
          <a:prstGeom prst="rect">
            <a:avLst/>
          </a:prstGeom>
        </p:spPr>
        <p:txBody>
          <a:bodyPr lIns="0" tIns="0" rIns="0" bIns="0" rtlCol="0" anchor="t">
            <a:spAutoFit/>
          </a:bodyPr>
          <a:lstStyle/>
          <a:p>
            <a:pPr algn="ctr">
              <a:lnSpc>
                <a:spcPts val="10559"/>
              </a:lnSpc>
            </a:pPr>
            <a:r>
              <a:rPr lang="en-US" sz="8799" spc="413" dirty="0">
                <a:solidFill>
                  <a:srgbClr val="543855"/>
                </a:solidFill>
                <a:latin typeface="Jingleberry"/>
                <a:ea typeface="Jingleberry"/>
                <a:cs typeface="Jingleberry"/>
                <a:sym typeface="Jingleberry"/>
              </a:rPr>
              <a:t>Use / Scope of Knowledge-Driven AI</a:t>
            </a:r>
          </a:p>
        </p:txBody>
      </p:sp>
      <p:sp>
        <p:nvSpPr>
          <p:cNvPr id="12" name="TextBox 11"/>
          <p:cNvSpPr txBox="1"/>
          <p:nvPr/>
        </p:nvSpPr>
        <p:spPr>
          <a:xfrm>
            <a:off x="2103120" y="3383280"/>
            <a:ext cx="10515600" cy="4937760"/>
          </a:xfrm>
          <a:prstGeom prst="rect">
            <a:avLst/>
          </a:prstGeom>
          <a:noFill/>
        </p:spPr>
        <p:txBody>
          <a:bodyPr wrap="square" lIns="0" tIns="0" rIns="0" bIns="0" anchor="t">
            <a:spAutoFit/>
          </a:bodyPr>
          <a:lstStyle/>
          <a:p>
            <a:pPr algn="l">
              <a:spcAft>
                <a:spcPts val="600"/>
              </a:spcAft>
            </a:pPr>
            <a:r>
              <a:rPr sz="2600" b="1" i="0">
                <a:solidFill>
                  <a:srgbClr val="4A2F5C"/>
                </a:solidFill>
                <a:latin typeface="Calibri"/>
              </a:rPr>
              <a:t>Where AI is used today</a:t>
            </a:r>
          </a:p>
          <a:p>
            <a:pPr marL="201168" indent="-201168" algn="l">
              <a:spcAft>
                <a:spcPts val="700"/>
              </a:spcAft>
              <a:buClr>
                <a:srgbClr val="4A2F5C"/>
              </a:buClr>
              <a:buFont typeface="Arial"/>
              <a:buChar char="•"/>
            </a:pPr>
            <a:r>
              <a:rPr sz="1900" b="0" i="0">
                <a:solidFill>
                  <a:srgbClr val="2E2140"/>
                </a:solidFill>
                <a:latin typeface="Calibri"/>
              </a:rPr>
              <a:t>AI-assisted building-damage mapping in the HOT datasets, validated by human mappers before it reaches the portal</a:t>
            </a:r>
          </a:p>
          <a:p>
            <a:pPr marL="201168" indent="-201168" algn="l">
              <a:spcAft>
                <a:spcPts val="700"/>
              </a:spcAft>
              <a:buClr>
                <a:srgbClr val="4A2F5C"/>
              </a:buClr>
              <a:buFont typeface="Arial"/>
              <a:buChar char="•"/>
            </a:pPr>
            <a:r>
              <a:rPr sz="1900" b="0" i="0">
                <a:solidFill>
                  <a:srgbClr val="2E2140"/>
                </a:solidFill>
                <a:latin typeface="Calibri"/>
              </a:rPr>
              <a:t>AI coding assistant used to speed up portal development</a:t>
            </a:r>
          </a:p>
          <a:p>
            <a:pPr algn="l">
              <a:spcBef>
                <a:spcPts val="1400"/>
              </a:spcBef>
              <a:spcAft>
                <a:spcPts val="600"/>
              </a:spcAft>
            </a:pPr>
            <a:r>
              <a:rPr sz="2600" b="1" i="0">
                <a:solidFill>
                  <a:srgbClr val="4A2F5C"/>
                </a:solidFill>
                <a:latin typeface="Calibri"/>
              </a:rPr>
              <a:t>Where knowledge-driven AI adds value next</a:t>
            </a:r>
          </a:p>
          <a:p>
            <a:pPr marL="201168" indent="-201168" algn="l">
              <a:spcAft>
                <a:spcPts val="700"/>
              </a:spcAft>
              <a:buClr>
                <a:srgbClr val="4A2F5C"/>
              </a:buClr>
              <a:buFont typeface="Arial"/>
              <a:buChar char="•"/>
            </a:pPr>
            <a:r>
              <a:rPr sz="1900" b="0" i="0">
                <a:solidFill>
                  <a:srgbClr val="2E2140"/>
                </a:solidFill>
                <a:latin typeface="Calibri"/>
              </a:rPr>
              <a:t>Sentinel-2 change detection: NDVI/NDWI differencing + an ML classifier to flag new debris and scoured banks</a:t>
            </a:r>
          </a:p>
          <a:p>
            <a:pPr marL="201168" indent="-201168" algn="l">
              <a:spcAft>
                <a:spcPts val="700"/>
              </a:spcAft>
              <a:buClr>
                <a:srgbClr val="4A2F5C"/>
              </a:buClr>
              <a:buFont typeface="Arial"/>
              <a:buChar char="•"/>
            </a:pPr>
            <a:r>
              <a:rPr sz="1900" b="0" i="0">
                <a:solidFill>
                  <a:srgbClr val="2E2140"/>
                </a:solidFill>
                <a:latin typeface="Calibri"/>
              </a:rPr>
              <a:t>Priority ranking from expert rules, e.g. hazard × exposure (a school within 500 m of a damaged road)</a:t>
            </a:r>
          </a:p>
          <a:p>
            <a:pPr marL="201168" indent="-201168" algn="l">
              <a:spcAft>
                <a:spcPts val="700"/>
              </a:spcAft>
              <a:buClr>
                <a:srgbClr val="4A2F5C"/>
              </a:buClr>
              <a:buFont typeface="Arial"/>
              <a:buChar char="•"/>
            </a:pPr>
            <a:r>
              <a:rPr sz="1900" b="0" i="0">
                <a:solidFill>
                  <a:srgbClr val="2E2140"/>
                </a:solidFill>
                <a:latin typeface="Calibri"/>
              </a:rPr>
              <a:t>Plain-language Q&amp;A over the layers: “Which health posts lost road access?”</a:t>
            </a:r>
          </a:p>
          <a:p>
            <a:pPr algn="l">
              <a:spcBef>
                <a:spcPts val="1400"/>
              </a:spcBef>
            </a:pPr>
            <a:r>
              <a:rPr sz="1900" b="1" i="0">
                <a:solidFill>
                  <a:srgbClr val="D9692A"/>
                </a:solidFill>
                <a:latin typeface="Calibri"/>
              </a:rPr>
              <a:t>Why it fits: </a:t>
            </a:r>
            <a:r>
              <a:rPr sz="1900" b="0" i="0">
                <a:solidFill>
                  <a:srgbClr val="2E2140"/>
                </a:solidFill>
                <a:latin typeface="Calibri"/>
              </a:rPr>
              <a:t>data is large and time-critical. Limits: monsoon cloud and scarce ground truth, so people stay in the loop.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3418" t="-49976" r="-2555" b="-38420"/>
            </a:stretch>
          </a:blipFill>
        </p:spPr>
        <p:txBody>
          <a:bodyPr/>
          <a:lstStyle/>
          <a:p>
            <a:endParaRPr lang="en-GB"/>
          </a:p>
        </p:txBody>
      </p:sp>
      <p:grpSp>
        <p:nvGrpSpPr>
          <p:cNvPr id="3" name="Group 3"/>
          <p:cNvGrpSpPr/>
          <p:nvPr/>
        </p:nvGrpSpPr>
        <p:grpSpPr>
          <a:xfrm>
            <a:off x="3124201" y="1638300"/>
            <a:ext cx="15128544" cy="8305800"/>
            <a:chOff x="0" y="0"/>
            <a:chExt cx="15287462" cy="8073002"/>
          </a:xfrm>
        </p:grpSpPr>
        <p:grpSp>
          <p:nvGrpSpPr>
            <p:cNvPr id="4" name="Group 4"/>
            <p:cNvGrpSpPr/>
            <p:nvPr/>
          </p:nvGrpSpPr>
          <p:grpSpPr>
            <a:xfrm>
              <a:off x="153244" y="165100"/>
              <a:ext cx="15134218" cy="7907902"/>
              <a:chOff x="0" y="0"/>
              <a:chExt cx="2989475" cy="1562055"/>
            </a:xfrm>
          </p:grpSpPr>
          <p:sp>
            <p:nvSpPr>
              <p:cNvPr id="5" name="Freeform 5"/>
              <p:cNvSpPr/>
              <p:nvPr/>
            </p:nvSpPr>
            <p:spPr>
              <a:xfrm>
                <a:off x="0" y="0"/>
                <a:ext cx="2989475" cy="1562055"/>
              </a:xfrm>
              <a:custGeom>
                <a:avLst/>
                <a:gdLst/>
                <a:ahLst/>
                <a:cxnLst/>
                <a:rect l="l" t="t" r="r" b="b"/>
                <a:pathLst>
                  <a:path w="2989475" h="1562055">
                    <a:moveTo>
                      <a:pt x="34785" y="0"/>
                    </a:moveTo>
                    <a:lnTo>
                      <a:pt x="2954690" y="0"/>
                    </a:lnTo>
                    <a:cubicBezTo>
                      <a:pt x="2973901" y="0"/>
                      <a:pt x="2989475" y="15574"/>
                      <a:pt x="2989475" y="34785"/>
                    </a:cubicBezTo>
                    <a:lnTo>
                      <a:pt x="2989475" y="1527269"/>
                    </a:lnTo>
                    <a:cubicBezTo>
                      <a:pt x="2989475" y="1546481"/>
                      <a:pt x="2973901" y="1562055"/>
                      <a:pt x="2954690" y="1562055"/>
                    </a:cubicBezTo>
                    <a:lnTo>
                      <a:pt x="34785" y="1562055"/>
                    </a:lnTo>
                    <a:cubicBezTo>
                      <a:pt x="25560" y="1562055"/>
                      <a:pt x="16712" y="1558390"/>
                      <a:pt x="10188" y="1551866"/>
                    </a:cubicBezTo>
                    <a:cubicBezTo>
                      <a:pt x="3665" y="1545343"/>
                      <a:pt x="0" y="1536495"/>
                      <a:pt x="0" y="1527269"/>
                    </a:cubicBezTo>
                    <a:lnTo>
                      <a:pt x="0" y="34785"/>
                    </a:lnTo>
                    <a:cubicBezTo>
                      <a:pt x="0" y="15574"/>
                      <a:pt x="15574" y="0"/>
                      <a:pt x="34785" y="0"/>
                    </a:cubicBezTo>
                    <a:close/>
                  </a:path>
                </a:pathLst>
              </a:custGeom>
              <a:solidFill>
                <a:srgbClr val="543855"/>
              </a:solidFill>
            </p:spPr>
            <p:txBody>
              <a:bodyPr/>
              <a:lstStyle/>
              <a:p>
                <a:endParaRPr lang="en-GB"/>
              </a:p>
            </p:txBody>
          </p:sp>
          <p:sp>
            <p:nvSpPr>
              <p:cNvPr id="6" name="TextBox 6"/>
              <p:cNvSpPr txBox="1"/>
              <p:nvPr/>
            </p:nvSpPr>
            <p:spPr>
              <a:xfrm>
                <a:off x="0" y="-38100"/>
                <a:ext cx="2989475" cy="1600155"/>
              </a:xfrm>
              <a:prstGeom prst="rect">
                <a:avLst/>
              </a:prstGeom>
            </p:spPr>
            <p:txBody>
              <a:bodyPr lIns="50800" tIns="50800" rIns="50800" bIns="50800" rtlCol="0" anchor="ctr"/>
              <a:lstStyle/>
              <a:p>
                <a:pPr algn="ctr">
                  <a:lnSpc>
                    <a:spcPts val="2659"/>
                  </a:lnSpc>
                </a:pPr>
                <a:endParaRPr/>
              </a:p>
            </p:txBody>
          </p:sp>
        </p:grpSp>
        <p:grpSp>
          <p:nvGrpSpPr>
            <p:cNvPr id="7" name="Group 7"/>
            <p:cNvGrpSpPr/>
            <p:nvPr/>
          </p:nvGrpSpPr>
          <p:grpSpPr>
            <a:xfrm>
              <a:off x="0" y="0"/>
              <a:ext cx="15134218" cy="7907902"/>
              <a:chOff x="0" y="0"/>
              <a:chExt cx="2989475" cy="1562055"/>
            </a:xfrm>
          </p:grpSpPr>
          <p:sp>
            <p:nvSpPr>
              <p:cNvPr id="8" name="Freeform 8"/>
              <p:cNvSpPr/>
              <p:nvPr/>
            </p:nvSpPr>
            <p:spPr>
              <a:xfrm>
                <a:off x="0" y="0"/>
                <a:ext cx="2989475" cy="1562055"/>
              </a:xfrm>
              <a:custGeom>
                <a:avLst/>
                <a:gdLst/>
                <a:ahLst/>
                <a:cxnLst/>
                <a:rect l="l" t="t" r="r" b="b"/>
                <a:pathLst>
                  <a:path w="2989475" h="1562055">
                    <a:moveTo>
                      <a:pt x="34785" y="0"/>
                    </a:moveTo>
                    <a:lnTo>
                      <a:pt x="2954690" y="0"/>
                    </a:lnTo>
                    <a:cubicBezTo>
                      <a:pt x="2973901" y="0"/>
                      <a:pt x="2989475" y="15574"/>
                      <a:pt x="2989475" y="34785"/>
                    </a:cubicBezTo>
                    <a:lnTo>
                      <a:pt x="2989475" y="1527269"/>
                    </a:lnTo>
                    <a:cubicBezTo>
                      <a:pt x="2989475" y="1546481"/>
                      <a:pt x="2973901" y="1562055"/>
                      <a:pt x="2954690" y="1562055"/>
                    </a:cubicBezTo>
                    <a:lnTo>
                      <a:pt x="34785" y="1562055"/>
                    </a:lnTo>
                    <a:cubicBezTo>
                      <a:pt x="25560" y="1562055"/>
                      <a:pt x="16712" y="1558390"/>
                      <a:pt x="10188" y="1551866"/>
                    </a:cubicBezTo>
                    <a:cubicBezTo>
                      <a:pt x="3665" y="1545343"/>
                      <a:pt x="0" y="1536495"/>
                      <a:pt x="0" y="1527269"/>
                    </a:cubicBezTo>
                    <a:lnTo>
                      <a:pt x="0" y="34785"/>
                    </a:lnTo>
                    <a:cubicBezTo>
                      <a:pt x="0" y="15574"/>
                      <a:pt x="15574" y="0"/>
                      <a:pt x="34785" y="0"/>
                    </a:cubicBezTo>
                    <a:close/>
                  </a:path>
                </a:pathLst>
              </a:custGeom>
              <a:solidFill>
                <a:srgbClr val="FFFFFF"/>
              </a:solidFill>
            </p:spPr>
            <p:txBody>
              <a:bodyPr/>
              <a:lstStyle/>
              <a:p>
                <a:endParaRPr lang="en-GB"/>
              </a:p>
            </p:txBody>
          </p:sp>
          <p:sp>
            <p:nvSpPr>
              <p:cNvPr id="9" name="TextBox 9"/>
              <p:cNvSpPr txBox="1"/>
              <p:nvPr/>
            </p:nvSpPr>
            <p:spPr>
              <a:xfrm>
                <a:off x="0" y="-38100"/>
                <a:ext cx="2989475" cy="1600155"/>
              </a:xfrm>
              <a:prstGeom prst="rect">
                <a:avLst/>
              </a:prstGeom>
            </p:spPr>
            <p:txBody>
              <a:bodyPr lIns="50800" tIns="50800" rIns="50800" bIns="50800" rtlCol="0" anchor="ctr"/>
              <a:lstStyle/>
              <a:p>
                <a:pPr algn="ctr">
                  <a:lnSpc>
                    <a:spcPts val="2659"/>
                  </a:lnSpc>
                </a:pPr>
                <a:endParaRPr/>
              </a:p>
            </p:txBody>
          </p:sp>
        </p:grpSp>
      </p:grpSp>
      <p:sp>
        <p:nvSpPr>
          <p:cNvPr id="10" name="Freeform 10"/>
          <p:cNvSpPr/>
          <p:nvPr/>
        </p:nvSpPr>
        <p:spPr>
          <a:xfrm>
            <a:off x="221461" y="4680178"/>
            <a:ext cx="4845288" cy="11259901"/>
          </a:xfrm>
          <a:custGeom>
            <a:avLst/>
            <a:gdLst/>
            <a:ahLst/>
            <a:cxnLst/>
            <a:rect l="l" t="t" r="r" b="b"/>
            <a:pathLst>
              <a:path w="4845288" h="11259901">
                <a:moveTo>
                  <a:pt x="0" y="0"/>
                </a:moveTo>
                <a:lnTo>
                  <a:pt x="4845289" y="0"/>
                </a:lnTo>
                <a:lnTo>
                  <a:pt x="4845289" y="11259900"/>
                </a:lnTo>
                <a:lnTo>
                  <a:pt x="0" y="112599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2" name="TextBox 12"/>
          <p:cNvSpPr txBox="1"/>
          <p:nvPr/>
        </p:nvSpPr>
        <p:spPr>
          <a:xfrm>
            <a:off x="0" y="342900"/>
            <a:ext cx="15128544" cy="1155060"/>
          </a:xfrm>
          <a:prstGeom prst="rect">
            <a:avLst/>
          </a:prstGeom>
        </p:spPr>
        <p:txBody>
          <a:bodyPr lIns="0" tIns="0" rIns="0" bIns="0" rtlCol="0" anchor="t">
            <a:spAutoFit/>
          </a:bodyPr>
          <a:lstStyle/>
          <a:p>
            <a:pPr>
              <a:lnSpc>
                <a:spcPts val="8799"/>
              </a:lnSpc>
            </a:pPr>
            <a:r>
              <a:rPr lang="en-US" sz="8799" spc="624" dirty="0">
                <a:solidFill>
                  <a:srgbClr val="484744"/>
                </a:solidFill>
                <a:latin typeface="Jingleberry"/>
                <a:ea typeface="Jingleberry"/>
                <a:cs typeface="Jingleberry"/>
                <a:sym typeface="Jingleberry"/>
              </a:rPr>
              <a:t> CONCLUSIONS</a:t>
            </a:r>
          </a:p>
        </p:txBody>
      </p:sp>
      <p:sp>
        <p:nvSpPr>
          <p:cNvPr id="13" name="TextBox 12"/>
          <p:cNvSpPr txBox="1"/>
          <p:nvPr/>
        </p:nvSpPr>
        <p:spPr>
          <a:xfrm>
            <a:off x="5120640" y="2103120"/>
            <a:ext cx="12618720" cy="2377440"/>
          </a:xfrm>
          <a:prstGeom prst="rect">
            <a:avLst/>
          </a:prstGeom>
          <a:noFill/>
        </p:spPr>
        <p:txBody>
          <a:bodyPr wrap="square" lIns="0" tIns="0" rIns="0" bIns="0" anchor="t">
            <a:spAutoFit/>
          </a:bodyPr>
          <a:lstStyle/>
          <a:p>
            <a:pPr algn="l">
              <a:lnSpc>
                <a:spcPct val="112000"/>
              </a:lnSpc>
            </a:pPr>
            <a:r>
              <a:rPr sz="2000" b="0" i="0">
                <a:solidFill>
                  <a:srgbClr val="2E2140"/>
                </a:solidFill>
                <a:latin typeface="Calibri"/>
              </a:rPr>
              <a:t>The Rasuwa Flood Portal turns scattered, multi-source flood data into one open 3D map that anyone can explore. The impact layers show ~145 km of damaged road and 190 exposed settlements along a 45 km² flood extent, and the Sentinel-2 swipe makes landscape change visible without GIS skills. Because layers are added through one config file, the portal keeps improving as new data arrives.</a:t>
            </a:r>
          </a:p>
        </p:txBody>
      </p:sp>
      <p:sp>
        <p:nvSpPr>
          <p:cNvPr id="14" name="TextBox 13"/>
          <p:cNvSpPr txBox="1"/>
          <p:nvPr/>
        </p:nvSpPr>
        <p:spPr>
          <a:xfrm>
            <a:off x="5120640" y="4160520"/>
            <a:ext cx="12618720" cy="502920"/>
          </a:xfrm>
          <a:prstGeom prst="rect">
            <a:avLst/>
          </a:prstGeom>
          <a:noFill/>
        </p:spPr>
        <p:txBody>
          <a:bodyPr wrap="square" lIns="0" tIns="0" rIns="0" bIns="0" anchor="t">
            <a:spAutoFit/>
          </a:bodyPr>
          <a:lstStyle/>
          <a:p>
            <a:pPr algn="l"/>
            <a:r>
              <a:rPr sz="2200" b="1" i="0">
                <a:solidFill>
                  <a:srgbClr val="4A2F5C"/>
                </a:solidFill>
                <a:latin typeface="Calibri"/>
              </a:rPr>
              <a:t>Initial objectives</a:t>
            </a:r>
          </a:p>
        </p:txBody>
      </p:sp>
      <p:sp>
        <p:nvSpPr>
          <p:cNvPr id="15" name="Oval 14"/>
          <p:cNvSpPr/>
          <p:nvPr/>
        </p:nvSpPr>
        <p:spPr>
          <a:xfrm>
            <a:off x="5202936" y="4864608"/>
            <a:ext cx="566928" cy="566928"/>
          </a:xfrm>
          <a:prstGeom prst="ellipse">
            <a:avLst/>
          </a:prstGeom>
          <a:solidFill>
            <a:srgbClr val="1C849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i="0">
                <a:solidFill>
                  <a:srgbClr val="FFFFFF"/>
                </a:solidFill>
                <a:latin typeface="Calibri"/>
              </a:rPr>
              <a:t>✓</a:t>
            </a:r>
          </a:p>
        </p:txBody>
      </p:sp>
      <p:sp>
        <p:nvSpPr>
          <p:cNvPr id="16" name="TextBox 15"/>
          <p:cNvSpPr txBox="1"/>
          <p:nvPr/>
        </p:nvSpPr>
        <p:spPr>
          <a:xfrm>
            <a:off x="5989320" y="4846320"/>
            <a:ext cx="11704320" cy="640080"/>
          </a:xfrm>
          <a:prstGeom prst="rect">
            <a:avLst/>
          </a:prstGeom>
          <a:noFill/>
        </p:spPr>
        <p:txBody>
          <a:bodyPr wrap="square" lIns="0" tIns="0" rIns="0" bIns="0" anchor="ctr">
            <a:spAutoFit/>
          </a:bodyPr>
          <a:lstStyle/>
          <a:p>
            <a:pPr algn="l"/>
            <a:r>
              <a:rPr sz="1800" b="1" i="0">
                <a:solidFill>
                  <a:srgbClr val="2E2140"/>
                </a:solidFill>
                <a:latin typeface="Calibri"/>
              </a:rPr>
              <a:t>Bring all event data into one place</a:t>
            </a:r>
            <a:r>
              <a:rPr sz="1800" b="0" i="0">
                <a:solidFill>
                  <a:srgbClr val="6B5B78"/>
                </a:solidFill>
                <a:latin typeface="Calibri"/>
              </a:rPr>
              <a:t>  —  achieved: 40 layers from 10+ sources</a:t>
            </a:r>
          </a:p>
        </p:txBody>
      </p:sp>
      <p:sp>
        <p:nvSpPr>
          <p:cNvPr id="17" name="Oval 16"/>
          <p:cNvSpPr/>
          <p:nvPr/>
        </p:nvSpPr>
        <p:spPr>
          <a:xfrm>
            <a:off x="5202936" y="5888736"/>
            <a:ext cx="566928" cy="566928"/>
          </a:xfrm>
          <a:prstGeom prst="ellipse">
            <a:avLst/>
          </a:prstGeom>
          <a:solidFill>
            <a:srgbClr val="1C849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i="0">
                <a:solidFill>
                  <a:srgbClr val="FFFFFF"/>
                </a:solidFill>
                <a:latin typeface="Calibri"/>
              </a:rPr>
              <a:t>✓</a:t>
            </a:r>
          </a:p>
        </p:txBody>
      </p:sp>
      <p:sp>
        <p:nvSpPr>
          <p:cNvPr id="18" name="TextBox 17"/>
          <p:cNvSpPr txBox="1"/>
          <p:nvPr/>
        </p:nvSpPr>
        <p:spPr>
          <a:xfrm>
            <a:off x="5989320" y="5870448"/>
            <a:ext cx="11704320" cy="640080"/>
          </a:xfrm>
          <a:prstGeom prst="rect">
            <a:avLst/>
          </a:prstGeom>
          <a:noFill/>
        </p:spPr>
        <p:txBody>
          <a:bodyPr wrap="square" lIns="0" tIns="0" rIns="0" bIns="0" anchor="ctr">
            <a:spAutoFit/>
          </a:bodyPr>
          <a:lstStyle/>
          <a:p>
            <a:pPr algn="l"/>
            <a:r>
              <a:rPr sz="1800" b="1" i="0">
                <a:solidFill>
                  <a:srgbClr val="2E2140"/>
                </a:solidFill>
                <a:latin typeface="Calibri"/>
              </a:rPr>
              <a:t>Make the impact visible</a:t>
            </a:r>
            <a:r>
              <a:rPr sz="1800" b="0" i="0">
                <a:solidFill>
                  <a:srgbClr val="6B5B78"/>
                </a:solidFill>
                <a:latin typeface="Calibri"/>
              </a:rPr>
              <a:t>  —  achieved: roads, settlements, facilities, landslides</a:t>
            </a:r>
          </a:p>
        </p:txBody>
      </p:sp>
      <p:sp>
        <p:nvSpPr>
          <p:cNvPr id="19" name="Oval 18"/>
          <p:cNvSpPr/>
          <p:nvPr/>
        </p:nvSpPr>
        <p:spPr>
          <a:xfrm>
            <a:off x="5202936" y="6912864"/>
            <a:ext cx="566928" cy="566928"/>
          </a:xfrm>
          <a:prstGeom prst="ellipse">
            <a:avLst/>
          </a:prstGeom>
          <a:solidFill>
            <a:srgbClr val="1C849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i="0">
                <a:solidFill>
                  <a:srgbClr val="FFFFFF"/>
                </a:solidFill>
                <a:latin typeface="Calibri"/>
              </a:rPr>
              <a:t>✓</a:t>
            </a:r>
          </a:p>
        </p:txBody>
      </p:sp>
      <p:sp>
        <p:nvSpPr>
          <p:cNvPr id="20" name="TextBox 19"/>
          <p:cNvSpPr txBox="1"/>
          <p:nvPr/>
        </p:nvSpPr>
        <p:spPr>
          <a:xfrm>
            <a:off x="5989320" y="6894576"/>
            <a:ext cx="11704320" cy="640080"/>
          </a:xfrm>
          <a:prstGeom prst="rect">
            <a:avLst/>
          </a:prstGeom>
          <a:noFill/>
        </p:spPr>
        <p:txBody>
          <a:bodyPr wrap="square" lIns="0" tIns="0" rIns="0" bIns="0" anchor="ctr">
            <a:spAutoFit/>
          </a:bodyPr>
          <a:lstStyle/>
          <a:p>
            <a:pPr algn="l"/>
            <a:r>
              <a:rPr sz="1800" b="1" i="0">
                <a:solidFill>
                  <a:srgbClr val="2E2140"/>
                </a:solidFill>
                <a:latin typeface="Calibri"/>
              </a:rPr>
              <a:t>Show before/after change clearly</a:t>
            </a:r>
            <a:r>
              <a:rPr sz="1800" b="0" i="0">
                <a:solidFill>
                  <a:srgbClr val="6B5B78"/>
                </a:solidFill>
                <a:latin typeface="Calibri"/>
              </a:rPr>
              <a:t>  —  achieved: 3D Sentinel-2 swipe with NDVI</a:t>
            </a:r>
          </a:p>
        </p:txBody>
      </p:sp>
      <p:sp>
        <p:nvSpPr>
          <p:cNvPr id="21" name="Oval 20"/>
          <p:cNvSpPr/>
          <p:nvPr/>
        </p:nvSpPr>
        <p:spPr>
          <a:xfrm>
            <a:off x="5202936" y="7936992"/>
            <a:ext cx="566928" cy="566928"/>
          </a:xfrm>
          <a:prstGeom prst="ellipse">
            <a:avLst/>
          </a:prstGeom>
          <a:solidFill>
            <a:srgbClr val="D9692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i="0">
                <a:solidFill>
                  <a:srgbClr val="FFFFFF"/>
                </a:solidFill>
                <a:latin typeface="Calibri"/>
              </a:rPr>
              <a:t>↻</a:t>
            </a:r>
          </a:p>
        </p:txBody>
      </p:sp>
      <p:sp>
        <p:nvSpPr>
          <p:cNvPr id="22" name="TextBox 21"/>
          <p:cNvSpPr txBox="1"/>
          <p:nvPr/>
        </p:nvSpPr>
        <p:spPr>
          <a:xfrm>
            <a:off x="5989320" y="7918704"/>
            <a:ext cx="11704320" cy="640080"/>
          </a:xfrm>
          <a:prstGeom prst="rect">
            <a:avLst/>
          </a:prstGeom>
          <a:noFill/>
        </p:spPr>
        <p:txBody>
          <a:bodyPr wrap="square" lIns="0" tIns="0" rIns="0" bIns="0" anchor="ctr">
            <a:spAutoFit/>
          </a:bodyPr>
          <a:lstStyle/>
          <a:p>
            <a:pPr algn="l"/>
            <a:r>
              <a:rPr sz="1800" b="1" i="0">
                <a:solidFill>
                  <a:srgbClr val="2E2140"/>
                </a:solidFill>
                <a:latin typeface="Calibri"/>
              </a:rPr>
              <a:t>Keep it open and community-driven</a:t>
            </a:r>
            <a:r>
              <a:rPr sz="1800" b="0" i="0">
                <a:solidFill>
                  <a:srgbClr val="6B5B78"/>
                </a:solidFill>
                <a:latin typeface="Calibri"/>
              </a:rPr>
              <a:t>  —  ongoing: contributions via GitHub</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95933-289C-67ED-C32A-DB061BC38B5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7C2C888-64DB-3B73-775A-FA5A8EE93661}"/>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3418" t="-49976" r="-2555" b="-38420"/>
            </a:stretch>
          </a:blipFill>
        </p:spPr>
        <p:txBody>
          <a:bodyPr/>
          <a:lstStyle/>
          <a:p>
            <a:endParaRPr lang="en-GB"/>
          </a:p>
        </p:txBody>
      </p:sp>
      <p:grpSp>
        <p:nvGrpSpPr>
          <p:cNvPr id="3" name="Group 3">
            <a:extLst>
              <a:ext uri="{FF2B5EF4-FFF2-40B4-BE49-F238E27FC236}">
                <a16:creationId xmlns:a16="http://schemas.microsoft.com/office/drawing/2014/main" id="{3A6068C9-92BF-139F-E094-09A5EDCBD2E5}"/>
              </a:ext>
            </a:extLst>
          </p:cNvPr>
          <p:cNvGrpSpPr/>
          <p:nvPr/>
        </p:nvGrpSpPr>
        <p:grpSpPr>
          <a:xfrm>
            <a:off x="3124201" y="1638300"/>
            <a:ext cx="15128544" cy="8305800"/>
            <a:chOff x="0" y="0"/>
            <a:chExt cx="15287462" cy="8073002"/>
          </a:xfrm>
        </p:grpSpPr>
        <p:grpSp>
          <p:nvGrpSpPr>
            <p:cNvPr id="4" name="Group 4">
              <a:extLst>
                <a:ext uri="{FF2B5EF4-FFF2-40B4-BE49-F238E27FC236}">
                  <a16:creationId xmlns:a16="http://schemas.microsoft.com/office/drawing/2014/main" id="{E2B5678D-BAF8-B760-4810-3161E7EA3D0B}"/>
                </a:ext>
              </a:extLst>
            </p:cNvPr>
            <p:cNvGrpSpPr/>
            <p:nvPr/>
          </p:nvGrpSpPr>
          <p:grpSpPr>
            <a:xfrm>
              <a:off x="153244" y="165100"/>
              <a:ext cx="15134218" cy="7907902"/>
              <a:chOff x="0" y="0"/>
              <a:chExt cx="2989475" cy="1562055"/>
            </a:xfrm>
          </p:grpSpPr>
          <p:sp>
            <p:nvSpPr>
              <p:cNvPr id="5" name="Freeform 5">
                <a:extLst>
                  <a:ext uri="{FF2B5EF4-FFF2-40B4-BE49-F238E27FC236}">
                    <a16:creationId xmlns:a16="http://schemas.microsoft.com/office/drawing/2014/main" id="{1F22165C-7899-678F-7C5C-2D2F98A47448}"/>
                  </a:ext>
                </a:extLst>
              </p:cNvPr>
              <p:cNvSpPr/>
              <p:nvPr/>
            </p:nvSpPr>
            <p:spPr>
              <a:xfrm>
                <a:off x="0" y="0"/>
                <a:ext cx="2989475" cy="1562055"/>
              </a:xfrm>
              <a:custGeom>
                <a:avLst/>
                <a:gdLst/>
                <a:ahLst/>
                <a:cxnLst/>
                <a:rect l="l" t="t" r="r" b="b"/>
                <a:pathLst>
                  <a:path w="2989475" h="1562055">
                    <a:moveTo>
                      <a:pt x="34785" y="0"/>
                    </a:moveTo>
                    <a:lnTo>
                      <a:pt x="2954690" y="0"/>
                    </a:lnTo>
                    <a:cubicBezTo>
                      <a:pt x="2973901" y="0"/>
                      <a:pt x="2989475" y="15574"/>
                      <a:pt x="2989475" y="34785"/>
                    </a:cubicBezTo>
                    <a:lnTo>
                      <a:pt x="2989475" y="1527269"/>
                    </a:lnTo>
                    <a:cubicBezTo>
                      <a:pt x="2989475" y="1546481"/>
                      <a:pt x="2973901" y="1562055"/>
                      <a:pt x="2954690" y="1562055"/>
                    </a:cubicBezTo>
                    <a:lnTo>
                      <a:pt x="34785" y="1562055"/>
                    </a:lnTo>
                    <a:cubicBezTo>
                      <a:pt x="25560" y="1562055"/>
                      <a:pt x="16712" y="1558390"/>
                      <a:pt x="10188" y="1551866"/>
                    </a:cubicBezTo>
                    <a:cubicBezTo>
                      <a:pt x="3665" y="1545343"/>
                      <a:pt x="0" y="1536495"/>
                      <a:pt x="0" y="1527269"/>
                    </a:cubicBezTo>
                    <a:lnTo>
                      <a:pt x="0" y="34785"/>
                    </a:lnTo>
                    <a:cubicBezTo>
                      <a:pt x="0" y="15574"/>
                      <a:pt x="15574" y="0"/>
                      <a:pt x="34785" y="0"/>
                    </a:cubicBezTo>
                    <a:close/>
                  </a:path>
                </a:pathLst>
              </a:custGeom>
              <a:solidFill>
                <a:srgbClr val="543855"/>
              </a:solidFill>
            </p:spPr>
            <p:txBody>
              <a:bodyPr/>
              <a:lstStyle/>
              <a:p>
                <a:endParaRPr lang="en-GB"/>
              </a:p>
            </p:txBody>
          </p:sp>
          <p:sp>
            <p:nvSpPr>
              <p:cNvPr id="6" name="TextBox 6">
                <a:extLst>
                  <a:ext uri="{FF2B5EF4-FFF2-40B4-BE49-F238E27FC236}">
                    <a16:creationId xmlns:a16="http://schemas.microsoft.com/office/drawing/2014/main" id="{18BC3A22-621B-60D4-E1FE-DB9661B4271C}"/>
                  </a:ext>
                </a:extLst>
              </p:cNvPr>
              <p:cNvSpPr txBox="1"/>
              <p:nvPr/>
            </p:nvSpPr>
            <p:spPr>
              <a:xfrm>
                <a:off x="0" y="-38100"/>
                <a:ext cx="2989475" cy="1600155"/>
              </a:xfrm>
              <a:prstGeom prst="rect">
                <a:avLst/>
              </a:prstGeom>
            </p:spPr>
            <p:txBody>
              <a:bodyPr lIns="50800" tIns="50800" rIns="50800" bIns="50800" rtlCol="0" anchor="ctr"/>
              <a:lstStyle/>
              <a:p>
                <a:pPr algn="ctr">
                  <a:lnSpc>
                    <a:spcPts val="2659"/>
                  </a:lnSpc>
                </a:pPr>
                <a:endParaRPr/>
              </a:p>
            </p:txBody>
          </p:sp>
        </p:grpSp>
        <p:grpSp>
          <p:nvGrpSpPr>
            <p:cNvPr id="7" name="Group 7">
              <a:extLst>
                <a:ext uri="{FF2B5EF4-FFF2-40B4-BE49-F238E27FC236}">
                  <a16:creationId xmlns:a16="http://schemas.microsoft.com/office/drawing/2014/main" id="{27A7DBFC-D77C-FECC-9493-8DF1312EE68B}"/>
                </a:ext>
              </a:extLst>
            </p:cNvPr>
            <p:cNvGrpSpPr/>
            <p:nvPr/>
          </p:nvGrpSpPr>
          <p:grpSpPr>
            <a:xfrm>
              <a:off x="0" y="0"/>
              <a:ext cx="15134218" cy="7907902"/>
              <a:chOff x="0" y="0"/>
              <a:chExt cx="2989475" cy="1562055"/>
            </a:xfrm>
          </p:grpSpPr>
          <p:sp>
            <p:nvSpPr>
              <p:cNvPr id="8" name="Freeform 8">
                <a:extLst>
                  <a:ext uri="{FF2B5EF4-FFF2-40B4-BE49-F238E27FC236}">
                    <a16:creationId xmlns:a16="http://schemas.microsoft.com/office/drawing/2014/main" id="{2CB51B20-FB17-78A7-75AD-C07BD5DA6BF9}"/>
                  </a:ext>
                </a:extLst>
              </p:cNvPr>
              <p:cNvSpPr/>
              <p:nvPr/>
            </p:nvSpPr>
            <p:spPr>
              <a:xfrm>
                <a:off x="0" y="0"/>
                <a:ext cx="2989475" cy="1562055"/>
              </a:xfrm>
              <a:custGeom>
                <a:avLst/>
                <a:gdLst/>
                <a:ahLst/>
                <a:cxnLst/>
                <a:rect l="l" t="t" r="r" b="b"/>
                <a:pathLst>
                  <a:path w="2989475" h="1562055">
                    <a:moveTo>
                      <a:pt x="34785" y="0"/>
                    </a:moveTo>
                    <a:lnTo>
                      <a:pt x="2954690" y="0"/>
                    </a:lnTo>
                    <a:cubicBezTo>
                      <a:pt x="2973901" y="0"/>
                      <a:pt x="2989475" y="15574"/>
                      <a:pt x="2989475" y="34785"/>
                    </a:cubicBezTo>
                    <a:lnTo>
                      <a:pt x="2989475" y="1527269"/>
                    </a:lnTo>
                    <a:cubicBezTo>
                      <a:pt x="2989475" y="1546481"/>
                      <a:pt x="2973901" y="1562055"/>
                      <a:pt x="2954690" y="1562055"/>
                    </a:cubicBezTo>
                    <a:lnTo>
                      <a:pt x="34785" y="1562055"/>
                    </a:lnTo>
                    <a:cubicBezTo>
                      <a:pt x="25560" y="1562055"/>
                      <a:pt x="16712" y="1558390"/>
                      <a:pt x="10188" y="1551866"/>
                    </a:cubicBezTo>
                    <a:cubicBezTo>
                      <a:pt x="3665" y="1545343"/>
                      <a:pt x="0" y="1536495"/>
                      <a:pt x="0" y="1527269"/>
                    </a:cubicBezTo>
                    <a:lnTo>
                      <a:pt x="0" y="34785"/>
                    </a:lnTo>
                    <a:cubicBezTo>
                      <a:pt x="0" y="15574"/>
                      <a:pt x="15574" y="0"/>
                      <a:pt x="34785" y="0"/>
                    </a:cubicBezTo>
                    <a:close/>
                  </a:path>
                </a:pathLst>
              </a:custGeom>
              <a:solidFill>
                <a:srgbClr val="FFFFFF"/>
              </a:solidFill>
            </p:spPr>
            <p:txBody>
              <a:bodyPr/>
              <a:lstStyle/>
              <a:p>
                <a:endParaRPr lang="en-GB"/>
              </a:p>
            </p:txBody>
          </p:sp>
          <p:sp>
            <p:nvSpPr>
              <p:cNvPr id="9" name="TextBox 9">
                <a:extLst>
                  <a:ext uri="{FF2B5EF4-FFF2-40B4-BE49-F238E27FC236}">
                    <a16:creationId xmlns:a16="http://schemas.microsoft.com/office/drawing/2014/main" id="{0701230F-6FF3-F5D5-116E-7E86FF91BA80}"/>
                  </a:ext>
                </a:extLst>
              </p:cNvPr>
              <p:cNvSpPr txBox="1"/>
              <p:nvPr/>
            </p:nvSpPr>
            <p:spPr>
              <a:xfrm>
                <a:off x="0" y="-38100"/>
                <a:ext cx="2989475" cy="1600155"/>
              </a:xfrm>
              <a:prstGeom prst="rect">
                <a:avLst/>
              </a:prstGeom>
            </p:spPr>
            <p:txBody>
              <a:bodyPr lIns="50800" tIns="50800" rIns="50800" bIns="50800" rtlCol="0" anchor="ctr"/>
              <a:lstStyle/>
              <a:p>
                <a:pPr algn="ctr">
                  <a:lnSpc>
                    <a:spcPts val="2659"/>
                  </a:lnSpc>
                </a:pPr>
                <a:endParaRPr/>
              </a:p>
            </p:txBody>
          </p:sp>
        </p:grpSp>
      </p:grpSp>
      <p:sp>
        <p:nvSpPr>
          <p:cNvPr id="10" name="Freeform 10">
            <a:extLst>
              <a:ext uri="{FF2B5EF4-FFF2-40B4-BE49-F238E27FC236}">
                <a16:creationId xmlns:a16="http://schemas.microsoft.com/office/drawing/2014/main" id="{2CDC016B-305F-35E6-0438-A0826EDCA2E0}"/>
              </a:ext>
            </a:extLst>
          </p:cNvPr>
          <p:cNvSpPr/>
          <p:nvPr/>
        </p:nvSpPr>
        <p:spPr>
          <a:xfrm>
            <a:off x="221461" y="4680178"/>
            <a:ext cx="4845288" cy="11259901"/>
          </a:xfrm>
          <a:custGeom>
            <a:avLst/>
            <a:gdLst/>
            <a:ahLst/>
            <a:cxnLst/>
            <a:rect l="l" t="t" r="r" b="b"/>
            <a:pathLst>
              <a:path w="4845288" h="11259901">
                <a:moveTo>
                  <a:pt x="0" y="0"/>
                </a:moveTo>
                <a:lnTo>
                  <a:pt x="4845289" y="0"/>
                </a:lnTo>
                <a:lnTo>
                  <a:pt x="4845289" y="11259900"/>
                </a:lnTo>
                <a:lnTo>
                  <a:pt x="0" y="112599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2" name="TextBox 12">
            <a:extLst>
              <a:ext uri="{FF2B5EF4-FFF2-40B4-BE49-F238E27FC236}">
                <a16:creationId xmlns:a16="http://schemas.microsoft.com/office/drawing/2014/main" id="{8E59AB77-47A9-23FF-A880-155A4C17050E}"/>
              </a:ext>
            </a:extLst>
          </p:cNvPr>
          <p:cNvSpPr txBox="1"/>
          <p:nvPr/>
        </p:nvSpPr>
        <p:spPr>
          <a:xfrm>
            <a:off x="0" y="342900"/>
            <a:ext cx="15128544" cy="1155060"/>
          </a:xfrm>
          <a:prstGeom prst="rect">
            <a:avLst/>
          </a:prstGeom>
        </p:spPr>
        <p:txBody>
          <a:bodyPr lIns="0" tIns="0" rIns="0" bIns="0" rtlCol="0" anchor="t">
            <a:spAutoFit/>
          </a:bodyPr>
          <a:lstStyle/>
          <a:p>
            <a:pPr>
              <a:lnSpc>
                <a:spcPts val="8799"/>
              </a:lnSpc>
            </a:pPr>
            <a:r>
              <a:rPr lang="en-US" sz="8799" spc="624" dirty="0">
                <a:solidFill>
                  <a:srgbClr val="484744"/>
                </a:solidFill>
                <a:latin typeface="Jingleberry"/>
                <a:ea typeface="Jingleberry"/>
                <a:cs typeface="Jingleberry"/>
                <a:sym typeface="Jingleberry"/>
              </a:rPr>
              <a:t>Graphical Abstract</a:t>
            </a:r>
          </a:p>
        </p:txBody>
      </p:sp>
      <p:sp>
        <p:nvSpPr>
          <p:cNvPr id="13" name="Oval 12"/>
          <p:cNvSpPr/>
          <p:nvPr/>
        </p:nvSpPr>
        <p:spPr>
          <a:xfrm>
            <a:off x="6080760" y="2057400"/>
            <a:ext cx="914400" cy="914400"/>
          </a:xfrm>
          <a:prstGeom prst="ellipse">
            <a:avLst/>
          </a:prstGeom>
          <a:solidFill>
            <a:srgbClr val="D9692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400" b="1" i="0">
                <a:solidFill>
                  <a:srgbClr val="FFFFFF"/>
                </a:solidFill>
                <a:latin typeface="Calibri"/>
              </a:rPr>
              <a:t>!</a:t>
            </a:r>
          </a:p>
        </p:txBody>
      </p:sp>
      <p:sp>
        <p:nvSpPr>
          <p:cNvPr id="14" name="TextBox 13"/>
          <p:cNvSpPr txBox="1"/>
          <p:nvPr/>
        </p:nvSpPr>
        <p:spPr>
          <a:xfrm>
            <a:off x="5212080" y="3063240"/>
            <a:ext cx="2651760" cy="457200"/>
          </a:xfrm>
          <a:prstGeom prst="rect">
            <a:avLst/>
          </a:prstGeom>
          <a:noFill/>
        </p:spPr>
        <p:txBody>
          <a:bodyPr wrap="square" lIns="0" tIns="0" rIns="0" bIns="0" anchor="t">
            <a:spAutoFit/>
          </a:bodyPr>
          <a:lstStyle/>
          <a:p>
            <a:pPr algn="ctr"/>
            <a:r>
              <a:rPr sz="2000" b="1" i="0">
                <a:solidFill>
                  <a:srgbClr val="2E2140"/>
                </a:solidFill>
                <a:latin typeface="Calibri"/>
              </a:rPr>
              <a:t>Problem</a:t>
            </a:r>
          </a:p>
        </p:txBody>
      </p:sp>
      <p:sp>
        <p:nvSpPr>
          <p:cNvPr id="15" name="TextBox 14"/>
          <p:cNvSpPr txBox="1"/>
          <p:nvPr/>
        </p:nvSpPr>
        <p:spPr>
          <a:xfrm>
            <a:off x="5212080" y="3566160"/>
            <a:ext cx="2651760" cy="2286000"/>
          </a:xfrm>
          <a:prstGeom prst="rect">
            <a:avLst/>
          </a:prstGeom>
          <a:noFill/>
        </p:spPr>
        <p:txBody>
          <a:bodyPr wrap="square" lIns="0" tIns="0" rIns="0" bIns="0" anchor="t">
            <a:spAutoFit/>
          </a:bodyPr>
          <a:lstStyle/>
          <a:p>
            <a:pPr algn="ctr"/>
            <a:r>
              <a:rPr sz="1500" b="0" i="0">
                <a:solidFill>
                  <a:srgbClr val="6B5B78"/>
                </a:solidFill>
                <a:latin typeface="Calibri"/>
              </a:rPr>
              <a:t>Flood data scattered across agencies, volunteers and satellites</a:t>
            </a:r>
          </a:p>
        </p:txBody>
      </p:sp>
      <p:sp>
        <p:nvSpPr>
          <p:cNvPr id="16" name="Oval 15"/>
          <p:cNvSpPr/>
          <p:nvPr/>
        </p:nvSpPr>
        <p:spPr>
          <a:xfrm>
            <a:off x="9281159" y="2057400"/>
            <a:ext cx="914400" cy="914400"/>
          </a:xfrm>
          <a:prstGeom prst="ellipse">
            <a:avLst/>
          </a:prstGeom>
          <a:solidFill>
            <a:srgbClr val="4A2F5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400" b="1" i="0">
                <a:solidFill>
                  <a:srgbClr val="FFFFFF"/>
                </a:solidFill>
                <a:latin typeface="Calibri"/>
              </a:rPr>
              <a:t>10+</a:t>
            </a:r>
          </a:p>
        </p:txBody>
      </p:sp>
      <p:sp>
        <p:nvSpPr>
          <p:cNvPr id="17" name="TextBox 16"/>
          <p:cNvSpPr txBox="1"/>
          <p:nvPr/>
        </p:nvSpPr>
        <p:spPr>
          <a:xfrm>
            <a:off x="8412480" y="3063240"/>
            <a:ext cx="2651760" cy="457200"/>
          </a:xfrm>
          <a:prstGeom prst="rect">
            <a:avLst/>
          </a:prstGeom>
          <a:noFill/>
        </p:spPr>
        <p:txBody>
          <a:bodyPr wrap="square" lIns="0" tIns="0" rIns="0" bIns="0" anchor="t">
            <a:spAutoFit/>
          </a:bodyPr>
          <a:lstStyle/>
          <a:p>
            <a:pPr algn="ctr"/>
            <a:r>
              <a:rPr sz="2000" b="1" i="0">
                <a:solidFill>
                  <a:srgbClr val="2E2140"/>
                </a:solidFill>
                <a:latin typeface="Calibri"/>
              </a:rPr>
              <a:t>Data</a:t>
            </a:r>
          </a:p>
        </p:txBody>
      </p:sp>
      <p:sp>
        <p:nvSpPr>
          <p:cNvPr id="18" name="TextBox 17"/>
          <p:cNvSpPr txBox="1"/>
          <p:nvPr/>
        </p:nvSpPr>
        <p:spPr>
          <a:xfrm>
            <a:off x="8412480" y="3566160"/>
            <a:ext cx="2651760" cy="2926080"/>
          </a:xfrm>
          <a:prstGeom prst="rect">
            <a:avLst/>
          </a:prstGeom>
          <a:noFill/>
        </p:spPr>
        <p:txBody>
          <a:bodyPr wrap="square" lIns="0" tIns="0" rIns="0" bIns="0" anchor="t">
            <a:spAutoFit/>
          </a:bodyPr>
          <a:lstStyle/>
          <a:p>
            <a:pPr algn="ctr">
              <a:spcAft>
                <a:spcPts val="300"/>
              </a:spcAft>
            </a:pPr>
            <a:r>
              <a:rPr sz="1500" b="0" i="0">
                <a:solidFill>
                  <a:srgbClr val="6B5B78"/>
                </a:solidFill>
                <a:latin typeface="Calibri"/>
              </a:rPr>
              <a:t>Sentinel-2</a:t>
            </a:r>
          </a:p>
          <a:p>
            <a:pPr algn="ctr">
              <a:spcAft>
                <a:spcPts val="300"/>
              </a:spcAft>
            </a:pPr>
            <a:r>
              <a:rPr sz="1500" b="0" i="0">
                <a:solidFill>
                  <a:srgbClr val="6B5B78"/>
                </a:solidFill>
                <a:latin typeface="Calibri"/>
              </a:rPr>
              <a:t>Vantor imagery</a:t>
            </a:r>
          </a:p>
          <a:p>
            <a:pPr algn="ctr">
              <a:spcAft>
                <a:spcPts val="300"/>
              </a:spcAft>
            </a:pPr>
            <a:r>
              <a:rPr sz="1500" b="0" i="0">
                <a:solidFill>
                  <a:srgbClr val="6B5B78"/>
                </a:solidFill>
                <a:latin typeface="Calibri"/>
              </a:rPr>
              <a:t>OSM impact layers</a:t>
            </a:r>
          </a:p>
          <a:p>
            <a:pPr algn="ctr">
              <a:spcAft>
                <a:spcPts val="300"/>
              </a:spcAft>
            </a:pPr>
            <a:r>
              <a:rPr sz="1500" b="0" i="0">
                <a:solidFill>
                  <a:srgbClr val="6B5B78"/>
                </a:solidFill>
                <a:latin typeface="Calibri"/>
              </a:rPr>
              <a:t>BGS landslides</a:t>
            </a:r>
          </a:p>
          <a:p>
            <a:pPr algn="ctr">
              <a:spcAft>
                <a:spcPts val="300"/>
              </a:spcAft>
            </a:pPr>
            <a:r>
              <a:rPr sz="1500" b="0" i="0">
                <a:solidFill>
                  <a:srgbClr val="6B5B78"/>
                </a:solidFill>
                <a:latin typeface="Calibri"/>
              </a:rPr>
              <a:t>Terrain DEM</a:t>
            </a:r>
          </a:p>
        </p:txBody>
      </p:sp>
      <p:sp>
        <p:nvSpPr>
          <p:cNvPr id="19" name="Oval 18"/>
          <p:cNvSpPr/>
          <p:nvPr/>
        </p:nvSpPr>
        <p:spPr>
          <a:xfrm>
            <a:off x="16002000" y="2057400"/>
            <a:ext cx="914400" cy="914400"/>
          </a:xfrm>
          <a:prstGeom prst="ellipse">
            <a:avLst/>
          </a:prstGeom>
          <a:solidFill>
            <a:srgbClr val="1C849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400" b="1" i="0">
                <a:solidFill>
                  <a:srgbClr val="FFFFFF"/>
                </a:solidFill>
                <a:latin typeface="Calibri"/>
              </a:rPr>
              <a:t>✓</a:t>
            </a:r>
          </a:p>
        </p:txBody>
      </p:sp>
      <p:sp>
        <p:nvSpPr>
          <p:cNvPr id="20" name="TextBox 19"/>
          <p:cNvSpPr txBox="1"/>
          <p:nvPr/>
        </p:nvSpPr>
        <p:spPr>
          <a:xfrm>
            <a:off x="15179040" y="3063240"/>
            <a:ext cx="2560320" cy="457200"/>
          </a:xfrm>
          <a:prstGeom prst="rect">
            <a:avLst/>
          </a:prstGeom>
          <a:noFill/>
        </p:spPr>
        <p:txBody>
          <a:bodyPr wrap="square" lIns="0" tIns="0" rIns="0" bIns="0" anchor="t">
            <a:spAutoFit/>
          </a:bodyPr>
          <a:lstStyle/>
          <a:p>
            <a:pPr algn="ctr"/>
            <a:r>
              <a:rPr sz="2000" b="1" i="0">
                <a:solidFill>
                  <a:srgbClr val="2E2140"/>
                </a:solidFill>
                <a:latin typeface="Calibri"/>
              </a:rPr>
              <a:t>People</a:t>
            </a:r>
          </a:p>
        </p:txBody>
      </p:sp>
      <p:sp>
        <p:nvSpPr>
          <p:cNvPr id="21" name="TextBox 20"/>
          <p:cNvSpPr txBox="1"/>
          <p:nvPr/>
        </p:nvSpPr>
        <p:spPr>
          <a:xfrm>
            <a:off x="15179040" y="3566160"/>
            <a:ext cx="2560320" cy="2926080"/>
          </a:xfrm>
          <a:prstGeom prst="rect">
            <a:avLst/>
          </a:prstGeom>
          <a:noFill/>
        </p:spPr>
        <p:txBody>
          <a:bodyPr wrap="square" lIns="0" tIns="0" rIns="0" bIns="0" anchor="t">
            <a:spAutoFit/>
          </a:bodyPr>
          <a:lstStyle/>
          <a:p>
            <a:pPr algn="ctr">
              <a:spcAft>
                <a:spcPts val="300"/>
              </a:spcAft>
            </a:pPr>
            <a:r>
              <a:rPr sz="1500" b="0" i="0">
                <a:solidFill>
                  <a:srgbClr val="6B5B78"/>
                </a:solidFill>
                <a:latin typeface="Calibri"/>
              </a:rPr>
              <a:t>Responders</a:t>
            </a:r>
          </a:p>
          <a:p>
            <a:pPr algn="ctr">
              <a:spcAft>
                <a:spcPts val="300"/>
              </a:spcAft>
            </a:pPr>
            <a:r>
              <a:rPr sz="1500" b="0" i="0">
                <a:solidFill>
                  <a:srgbClr val="6B5B78"/>
                </a:solidFill>
                <a:latin typeface="Calibri"/>
              </a:rPr>
              <a:t>Mappers &amp; researchers</a:t>
            </a:r>
          </a:p>
          <a:p>
            <a:pPr algn="ctr">
              <a:spcAft>
                <a:spcPts val="300"/>
              </a:spcAft>
            </a:pPr>
            <a:r>
              <a:rPr sz="1500" b="0" i="0">
                <a:solidFill>
                  <a:srgbClr val="6B5B78"/>
                </a:solidFill>
                <a:latin typeface="Calibri"/>
              </a:rPr>
              <a:t>Media &amp; public</a:t>
            </a:r>
          </a:p>
        </p:txBody>
      </p:sp>
      <p:sp>
        <p:nvSpPr>
          <p:cNvPr id="22" name="Placeholder IMG 4"/>
          <p:cNvSpPr/>
          <p:nvPr/>
        </p:nvSpPr>
        <p:spPr>
          <a:xfrm>
            <a:off x="11521440" y="2011680"/>
            <a:ext cx="3200400" cy="5120640"/>
          </a:xfrm>
          <a:prstGeom prst="roundRect">
            <a:avLst>
              <a:gd name="adj" fmla="val 4000"/>
            </a:avLst>
          </a:prstGeom>
          <a:solidFill>
            <a:srgbClr val="F4EFF7"/>
          </a:solidFill>
          <a:ln w="25400">
            <a:solidFill>
              <a:srgbClr val="8C6D9F"/>
            </a:solidFill>
            <a:prstDash val="dash"/>
          </a:ln>
          <a:effectLst/>
        </p:spPr>
        <p:style>
          <a:lnRef idx="1">
            <a:schemeClr val="accent1"/>
          </a:lnRef>
          <a:fillRef idx="3">
            <a:schemeClr val="accent1"/>
          </a:fillRef>
          <a:effectRef idx="2">
            <a:schemeClr val="accent1"/>
          </a:effectRef>
          <a:fontRef idx="minor">
            <a:schemeClr val="lt1"/>
          </a:fontRef>
        </p:style>
        <p:txBody>
          <a:bodyPr wrap="square" lIns="320040" tIns="320040" rIns="320040" bIns="320040" rtlCol="0" anchor="ctr"/>
          <a:lstStyle/>
          <a:p>
            <a:pPr algn="ctr">
              <a:spcAft>
                <a:spcPts val="1000"/>
              </a:spcAft>
            </a:pPr>
            <a:r>
              <a:rPr sz="1600" b="1" i="0">
                <a:solidFill>
                  <a:srgbClr val="4A2F5C"/>
                </a:solidFill>
                <a:latin typeface="Calibri"/>
              </a:rPr>
              <a:t>SCREENSHOT PLACEHOLDER  ·  IMG 4</a:t>
            </a:r>
          </a:p>
          <a:p>
            <a:pPr algn="ctr">
              <a:spcAft>
                <a:spcPts val="800"/>
              </a:spcAft>
            </a:pPr>
            <a:r>
              <a:rPr sz="1400" b="0" i="0">
                <a:solidFill>
                  <a:srgbClr val="2E2140"/>
                </a:solidFill>
                <a:latin typeface="Calibri"/>
              </a:rPr>
              <a:t>Full portal UI: 3D map with sidebar open and a few layers on (or the elevation-profile panel).</a:t>
            </a:r>
          </a:p>
          <a:p>
            <a:pPr algn="ctr"/>
            <a:r>
              <a:rPr sz="1200" b="0" i="1">
                <a:solidFill>
                  <a:srgbClr val="6B5B78"/>
                </a:solidFill>
                <a:latin typeface="Calibri"/>
              </a:rPr>
              <a:t>Portrait crop ≈ 0.62 : 1</a:t>
            </a:r>
          </a:p>
        </p:txBody>
      </p:sp>
      <p:sp>
        <p:nvSpPr>
          <p:cNvPr id="23" name="Right Arrow 22"/>
          <p:cNvSpPr/>
          <p:nvPr/>
        </p:nvSpPr>
        <p:spPr>
          <a:xfrm>
            <a:off x="7973568" y="2350008"/>
            <a:ext cx="411480"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ight Arrow 23"/>
          <p:cNvSpPr/>
          <p:nvPr/>
        </p:nvSpPr>
        <p:spPr>
          <a:xfrm>
            <a:off x="11082528" y="2350008"/>
            <a:ext cx="411480"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ight Arrow 24"/>
          <p:cNvSpPr/>
          <p:nvPr/>
        </p:nvSpPr>
        <p:spPr>
          <a:xfrm>
            <a:off x="14767559" y="2350008"/>
            <a:ext cx="384048"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ounded Rectangle 25"/>
          <p:cNvSpPr/>
          <p:nvPr/>
        </p:nvSpPr>
        <p:spPr>
          <a:xfrm>
            <a:off x="5212080" y="7543800"/>
            <a:ext cx="12527280" cy="1417320"/>
          </a:xfrm>
          <a:prstGeom prst="roundRect">
            <a:avLst>
              <a:gd name="adj" fmla="val 12000"/>
            </a:avLst>
          </a:prstGeom>
          <a:solidFill>
            <a:srgbClr val="F4EF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900" b="1" i="0">
                <a:solidFill>
                  <a:srgbClr val="1C8494"/>
                </a:solidFill>
                <a:latin typeface="Calibri"/>
              </a:rPr>
              <a:t>45 km² </a:t>
            </a:r>
            <a:r>
              <a:rPr sz="1900" b="0" i="0">
                <a:solidFill>
                  <a:srgbClr val="2E2140"/>
                </a:solidFill>
                <a:latin typeface="Calibri"/>
              </a:rPr>
              <a:t>flood extent    </a:t>
            </a:r>
            <a:r>
              <a:rPr sz="1900" b="1" i="0">
                <a:solidFill>
                  <a:srgbClr val="D9692A"/>
                </a:solidFill>
                <a:latin typeface="Calibri"/>
              </a:rPr>
              <a:t>145 km </a:t>
            </a:r>
            <a:r>
              <a:rPr sz="1900" b="0" i="0">
                <a:solidFill>
                  <a:srgbClr val="2E2140"/>
                </a:solidFill>
                <a:latin typeface="Calibri"/>
              </a:rPr>
              <a:t>damaged road    </a:t>
            </a:r>
            <a:r>
              <a:rPr sz="1900" b="1" i="0">
                <a:solidFill>
                  <a:srgbClr val="D9692A"/>
                </a:solidFill>
                <a:latin typeface="Calibri"/>
              </a:rPr>
              <a:t>190 </a:t>
            </a:r>
            <a:r>
              <a:rPr sz="1900" b="0" i="0">
                <a:solidFill>
                  <a:srgbClr val="2E2140"/>
                </a:solidFill>
                <a:latin typeface="Calibri"/>
              </a:rPr>
              <a:t>exposed settlements    </a:t>
            </a:r>
            <a:r>
              <a:rPr sz="1900" b="1" i="0">
                <a:solidFill>
                  <a:srgbClr val="4A2F5C"/>
                </a:solidFill>
                <a:latin typeface="Calibri"/>
              </a:rPr>
              <a:t>915 </a:t>
            </a:r>
            <a:r>
              <a:rPr sz="1900" b="0" i="0">
                <a:solidFill>
                  <a:srgbClr val="2E2140"/>
                </a:solidFill>
                <a:latin typeface="Calibri"/>
              </a:rPr>
              <a:t>landslides    </a:t>
            </a:r>
            <a:r>
              <a:rPr sz="1900" b="1" i="0">
                <a:solidFill>
                  <a:srgbClr val="4A2F5C"/>
                </a:solidFill>
                <a:latin typeface="Calibri"/>
              </a:rPr>
              <a:t>40 </a:t>
            </a:r>
            <a:r>
              <a:rPr sz="1900" b="0" i="0">
                <a:solidFill>
                  <a:srgbClr val="2E2140"/>
                </a:solidFill>
                <a:latin typeface="Calibri"/>
              </a:rPr>
              <a:t>open layers</a:t>
            </a:r>
          </a:p>
        </p:txBody>
      </p:sp>
      <p:pic>
        <p:nvPicPr>
          <p:cNvPr id="27" name="Picture 26">
            <a:extLst>
              <a:ext uri="{FF2B5EF4-FFF2-40B4-BE49-F238E27FC236}">
                <a16:creationId xmlns:a16="http://schemas.microsoft.com/office/drawing/2014/main" id="{AC9C4ED0-47F4-F76B-0C13-C65256E36714}"/>
              </a:ext>
            </a:extLst>
          </p:cNvPr>
          <p:cNvPicPr>
            <a:picLocks noChangeAspect="1"/>
          </p:cNvPicPr>
          <p:nvPr/>
        </p:nvPicPr>
        <p:blipFill>
          <a:blip r:embed="rId5"/>
          <a:stretch>
            <a:fillRect/>
          </a:stretch>
        </p:blipFill>
        <p:spPr>
          <a:xfrm>
            <a:off x="11578023" y="2085975"/>
            <a:ext cx="3086666" cy="4973639"/>
          </a:xfrm>
          <a:prstGeom prst="rect">
            <a:avLst/>
          </a:prstGeom>
        </p:spPr>
      </p:pic>
    </p:spTree>
    <p:extLst>
      <p:ext uri="{BB962C8B-B14F-4D97-AF65-F5344CB8AC3E}">
        <p14:creationId xmlns:p14="http://schemas.microsoft.com/office/powerpoint/2010/main" val="391243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38888" b="-38888"/>
            </a:stretch>
          </a:blipFill>
        </p:spPr>
        <p:txBody>
          <a:bodyPr/>
          <a:lstStyle/>
          <a:p>
            <a:endParaRPr lang="en-GB"/>
          </a:p>
        </p:txBody>
      </p:sp>
      <p:grpSp>
        <p:nvGrpSpPr>
          <p:cNvPr id="3" name="Group 3"/>
          <p:cNvGrpSpPr/>
          <p:nvPr/>
        </p:nvGrpSpPr>
        <p:grpSpPr>
          <a:xfrm>
            <a:off x="3281629" y="1477166"/>
            <a:ext cx="11832268" cy="7332668"/>
            <a:chOff x="0" y="0"/>
            <a:chExt cx="15776357" cy="9776891"/>
          </a:xfrm>
        </p:grpSpPr>
        <p:grpSp>
          <p:nvGrpSpPr>
            <p:cNvPr id="4" name="Group 4"/>
            <p:cNvGrpSpPr/>
            <p:nvPr/>
          </p:nvGrpSpPr>
          <p:grpSpPr>
            <a:xfrm>
              <a:off x="177762" y="177762"/>
              <a:ext cx="15598595" cy="9599129"/>
              <a:chOff x="0" y="0"/>
              <a:chExt cx="3522136" cy="2167467"/>
            </a:xfrm>
          </p:grpSpPr>
          <p:sp>
            <p:nvSpPr>
              <p:cNvPr id="5" name="Freeform 5"/>
              <p:cNvSpPr/>
              <p:nvPr/>
            </p:nvSpPr>
            <p:spPr>
              <a:xfrm>
                <a:off x="0" y="0"/>
                <a:ext cx="3522136" cy="2167467"/>
              </a:xfrm>
              <a:custGeom>
                <a:avLst/>
                <a:gdLst/>
                <a:ahLst/>
                <a:cxnLst/>
                <a:rect l="l" t="t" r="r" b="b"/>
                <a:pathLst>
                  <a:path w="3522136" h="2167467">
                    <a:moveTo>
                      <a:pt x="29525" y="0"/>
                    </a:moveTo>
                    <a:lnTo>
                      <a:pt x="3492611" y="0"/>
                    </a:lnTo>
                    <a:cubicBezTo>
                      <a:pt x="3508917" y="0"/>
                      <a:pt x="3522136" y="13219"/>
                      <a:pt x="3522136" y="29525"/>
                    </a:cubicBezTo>
                    <a:lnTo>
                      <a:pt x="3522136" y="2137942"/>
                    </a:lnTo>
                    <a:cubicBezTo>
                      <a:pt x="3522136" y="2154248"/>
                      <a:pt x="3508917" y="2167467"/>
                      <a:pt x="3492611" y="2167467"/>
                    </a:cubicBezTo>
                    <a:lnTo>
                      <a:pt x="29525" y="2167467"/>
                    </a:lnTo>
                    <a:cubicBezTo>
                      <a:pt x="21694" y="2167467"/>
                      <a:pt x="14185" y="2164356"/>
                      <a:pt x="8648" y="2158819"/>
                    </a:cubicBezTo>
                    <a:cubicBezTo>
                      <a:pt x="3111" y="2153282"/>
                      <a:pt x="0" y="2145773"/>
                      <a:pt x="0" y="2137942"/>
                    </a:cubicBezTo>
                    <a:lnTo>
                      <a:pt x="0" y="29525"/>
                    </a:lnTo>
                    <a:cubicBezTo>
                      <a:pt x="0" y="13219"/>
                      <a:pt x="13219" y="0"/>
                      <a:pt x="29525" y="0"/>
                    </a:cubicBezTo>
                    <a:close/>
                  </a:path>
                </a:pathLst>
              </a:custGeom>
              <a:solidFill>
                <a:srgbClr val="543855"/>
              </a:solidFill>
            </p:spPr>
            <p:txBody>
              <a:bodyPr/>
              <a:lstStyle/>
              <a:p>
                <a:endParaRPr lang="en-GB"/>
              </a:p>
            </p:txBody>
          </p:sp>
          <p:sp>
            <p:nvSpPr>
              <p:cNvPr id="6" name="TextBox 6"/>
              <p:cNvSpPr txBox="1"/>
              <p:nvPr/>
            </p:nvSpPr>
            <p:spPr>
              <a:xfrm>
                <a:off x="0" y="-38100"/>
                <a:ext cx="3522136" cy="2205567"/>
              </a:xfrm>
              <a:prstGeom prst="rect">
                <a:avLst/>
              </a:prstGeom>
            </p:spPr>
            <p:txBody>
              <a:bodyPr lIns="50800" tIns="50800" rIns="50800" bIns="50800" rtlCol="0" anchor="ctr"/>
              <a:lstStyle/>
              <a:p>
                <a:pPr algn="ctr">
                  <a:lnSpc>
                    <a:spcPts val="2540"/>
                  </a:lnSpc>
                </a:pPr>
                <a:endParaRPr/>
              </a:p>
            </p:txBody>
          </p:sp>
        </p:grpSp>
        <p:grpSp>
          <p:nvGrpSpPr>
            <p:cNvPr id="7" name="Group 7"/>
            <p:cNvGrpSpPr/>
            <p:nvPr/>
          </p:nvGrpSpPr>
          <p:grpSpPr>
            <a:xfrm>
              <a:off x="0" y="0"/>
              <a:ext cx="15598595" cy="9599129"/>
              <a:chOff x="0" y="0"/>
              <a:chExt cx="3522136" cy="2167467"/>
            </a:xfrm>
          </p:grpSpPr>
          <p:sp>
            <p:nvSpPr>
              <p:cNvPr id="8" name="Freeform 8"/>
              <p:cNvSpPr/>
              <p:nvPr/>
            </p:nvSpPr>
            <p:spPr>
              <a:xfrm>
                <a:off x="0" y="0"/>
                <a:ext cx="3522136" cy="2167467"/>
              </a:xfrm>
              <a:custGeom>
                <a:avLst/>
                <a:gdLst/>
                <a:ahLst/>
                <a:cxnLst/>
                <a:rect l="l" t="t" r="r" b="b"/>
                <a:pathLst>
                  <a:path w="3522136" h="2167467">
                    <a:moveTo>
                      <a:pt x="29525" y="0"/>
                    </a:moveTo>
                    <a:lnTo>
                      <a:pt x="3492611" y="0"/>
                    </a:lnTo>
                    <a:cubicBezTo>
                      <a:pt x="3508917" y="0"/>
                      <a:pt x="3522136" y="13219"/>
                      <a:pt x="3522136" y="29525"/>
                    </a:cubicBezTo>
                    <a:lnTo>
                      <a:pt x="3522136" y="2137942"/>
                    </a:lnTo>
                    <a:cubicBezTo>
                      <a:pt x="3522136" y="2154248"/>
                      <a:pt x="3508917" y="2167467"/>
                      <a:pt x="3492611" y="2167467"/>
                    </a:cubicBezTo>
                    <a:lnTo>
                      <a:pt x="29525" y="2167467"/>
                    </a:lnTo>
                    <a:cubicBezTo>
                      <a:pt x="21694" y="2167467"/>
                      <a:pt x="14185" y="2164356"/>
                      <a:pt x="8648" y="2158819"/>
                    </a:cubicBezTo>
                    <a:cubicBezTo>
                      <a:pt x="3111" y="2153282"/>
                      <a:pt x="0" y="2145773"/>
                      <a:pt x="0" y="2137942"/>
                    </a:cubicBezTo>
                    <a:lnTo>
                      <a:pt x="0" y="29525"/>
                    </a:lnTo>
                    <a:cubicBezTo>
                      <a:pt x="0" y="13219"/>
                      <a:pt x="13219" y="0"/>
                      <a:pt x="29525" y="0"/>
                    </a:cubicBezTo>
                    <a:close/>
                  </a:path>
                </a:pathLst>
              </a:custGeom>
              <a:solidFill>
                <a:srgbClr val="FFFFFF"/>
              </a:solidFill>
            </p:spPr>
            <p:txBody>
              <a:bodyPr/>
              <a:lstStyle/>
              <a:p>
                <a:endParaRPr lang="en-GB"/>
              </a:p>
            </p:txBody>
          </p:sp>
          <p:sp>
            <p:nvSpPr>
              <p:cNvPr id="9" name="TextBox 9"/>
              <p:cNvSpPr txBox="1"/>
              <p:nvPr/>
            </p:nvSpPr>
            <p:spPr>
              <a:xfrm>
                <a:off x="0" y="-38100"/>
                <a:ext cx="3522136" cy="2205567"/>
              </a:xfrm>
              <a:prstGeom prst="rect">
                <a:avLst/>
              </a:prstGeom>
            </p:spPr>
            <p:txBody>
              <a:bodyPr lIns="50800" tIns="50800" rIns="50800" bIns="50800" rtlCol="0" anchor="ctr"/>
              <a:lstStyle/>
              <a:p>
                <a:pPr algn="ctr">
                  <a:lnSpc>
                    <a:spcPts val="2540"/>
                  </a:lnSpc>
                </a:pPr>
                <a:endParaRPr/>
              </a:p>
            </p:txBody>
          </p:sp>
        </p:grpSp>
      </p:grpSp>
      <p:sp>
        <p:nvSpPr>
          <p:cNvPr id="10" name="TextBox 10"/>
          <p:cNvSpPr txBox="1"/>
          <p:nvPr/>
        </p:nvSpPr>
        <p:spPr>
          <a:xfrm>
            <a:off x="2880815" y="2148840"/>
            <a:ext cx="12526370" cy="2198590"/>
          </a:xfrm>
          <a:prstGeom prst="rect">
            <a:avLst/>
          </a:prstGeom>
        </p:spPr>
        <p:txBody>
          <a:bodyPr lIns="0" tIns="0" rIns="0" bIns="0" rtlCol="0" anchor="t">
            <a:spAutoFit/>
          </a:bodyPr>
          <a:lstStyle/>
          <a:p>
            <a:pPr algn="ctr">
              <a:lnSpc>
                <a:spcPts val="15475"/>
              </a:lnSpc>
            </a:pPr>
            <a:r>
              <a:rPr lang="en-US" sz="15475" spc="1145">
                <a:solidFill>
                  <a:srgbClr val="543855"/>
                </a:solidFill>
                <a:latin typeface="Jingleberry"/>
                <a:ea typeface="Jingleberry"/>
                <a:cs typeface="Jingleberry"/>
                <a:sym typeface="Jingleberry"/>
              </a:rPr>
              <a:t>Thanks</a:t>
            </a:r>
            <a:r>
              <a:rPr lang="en-US" sz="15475" b="1" spc="1145">
                <a:solidFill>
                  <a:srgbClr val="543855"/>
                </a:solidFill>
                <a:latin typeface="Jingleberry"/>
                <a:ea typeface="Jingleberry"/>
                <a:cs typeface="Jingleberry"/>
                <a:sym typeface="Jingleberry"/>
              </a:rPr>
              <a:t>!</a:t>
            </a:r>
          </a:p>
        </p:txBody>
      </p:sp>
      <p:sp>
        <p:nvSpPr>
          <p:cNvPr id="12" name="Freeform 12"/>
          <p:cNvSpPr/>
          <p:nvPr/>
        </p:nvSpPr>
        <p:spPr>
          <a:xfrm>
            <a:off x="12137449" y="5815763"/>
            <a:ext cx="5121851" cy="4003085"/>
          </a:xfrm>
          <a:custGeom>
            <a:avLst/>
            <a:gdLst/>
            <a:ahLst/>
            <a:cxnLst/>
            <a:rect l="l" t="t" r="r" b="b"/>
            <a:pathLst>
              <a:path w="5121851" h="4003085">
                <a:moveTo>
                  <a:pt x="0" y="0"/>
                </a:moveTo>
                <a:lnTo>
                  <a:pt x="5121851" y="0"/>
                </a:lnTo>
                <a:lnTo>
                  <a:pt x="5121851" y="4003085"/>
                </a:lnTo>
                <a:lnTo>
                  <a:pt x="0" y="400308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3" name="TextBox 12"/>
          <p:cNvSpPr txBox="1"/>
          <p:nvPr/>
        </p:nvSpPr>
        <p:spPr>
          <a:xfrm>
            <a:off x="3840480" y="4572000"/>
            <a:ext cx="5852160" cy="3108960"/>
          </a:xfrm>
          <a:prstGeom prst="rect">
            <a:avLst/>
          </a:prstGeom>
          <a:noFill/>
        </p:spPr>
        <p:txBody>
          <a:bodyPr wrap="square" lIns="0" tIns="0" rIns="0" bIns="0" anchor="t">
            <a:spAutoFit/>
          </a:bodyPr>
          <a:lstStyle/>
          <a:p>
            <a:pPr algn="l">
              <a:spcAft>
                <a:spcPts val="200"/>
              </a:spcAft>
            </a:pPr>
            <a:r>
              <a:rPr sz="1800" b="1" i="0">
                <a:solidFill>
                  <a:srgbClr val="4A2F5C"/>
                </a:solidFill>
                <a:latin typeface="Calibri"/>
              </a:rPr>
              <a:t>Live portal</a:t>
            </a:r>
          </a:p>
          <a:p>
            <a:pPr algn="l">
              <a:spcAft>
                <a:spcPts val="1200"/>
              </a:spcAft>
            </a:pPr>
            <a:r>
              <a:rPr sz="2000" b="0" i="0">
                <a:solidFill>
                  <a:srgbClr val="2E2140"/>
                </a:solidFill>
                <a:latin typeface="Calibri"/>
              </a:rPr>
              <a:t>iamtekson.github.io/rasuwa-flood</a:t>
            </a:r>
          </a:p>
          <a:p>
            <a:pPr algn="l">
              <a:spcAft>
                <a:spcPts val="200"/>
              </a:spcAft>
            </a:pPr>
            <a:r>
              <a:rPr sz="1800" b="1" i="0">
                <a:solidFill>
                  <a:srgbClr val="4A2F5C"/>
                </a:solidFill>
                <a:latin typeface="Calibri"/>
              </a:rPr>
              <a:t>Code &amp; data</a:t>
            </a:r>
          </a:p>
          <a:p>
            <a:pPr algn="l">
              <a:spcAft>
                <a:spcPts val="1200"/>
              </a:spcAft>
            </a:pPr>
            <a:r>
              <a:rPr sz="2000" b="0" i="0">
                <a:solidFill>
                  <a:srgbClr val="2E2140"/>
                </a:solidFill>
                <a:latin typeface="Calibri"/>
              </a:rPr>
              <a:t>github.com/iamtekson/rasuwa-flood</a:t>
            </a:r>
          </a:p>
          <a:p>
            <a:pPr algn="l">
              <a:spcAft>
                <a:spcPts val="200"/>
              </a:spcAft>
            </a:pPr>
            <a:r>
              <a:rPr sz="1800" b="1" i="0">
                <a:solidFill>
                  <a:srgbClr val="4A2F5C"/>
                </a:solidFill>
                <a:latin typeface="Calibri"/>
              </a:rPr>
              <a:t>Contact</a:t>
            </a:r>
          </a:p>
          <a:p>
            <a:pPr algn="l"/>
            <a:r>
              <a:rPr sz="2000" b="0" i="0">
                <a:solidFill>
                  <a:srgbClr val="2E2140"/>
                </a:solidFill>
                <a:latin typeface="Calibri"/>
              </a:rPr>
              <a:t>[email / LinkedIn]</a:t>
            </a:r>
          </a:p>
        </p:txBody>
      </p:sp>
      <p:pic>
        <p:nvPicPr>
          <p:cNvPr id="14" name="Picture 13" descr="qr.png"/>
          <p:cNvPicPr>
            <a:picLocks noChangeAspect="1"/>
          </p:cNvPicPr>
          <p:nvPr/>
        </p:nvPicPr>
        <p:blipFill>
          <a:blip r:embed="rId5"/>
          <a:stretch>
            <a:fillRect/>
          </a:stretch>
        </p:blipFill>
        <p:spPr>
          <a:xfrm>
            <a:off x="9646920" y="4709160"/>
            <a:ext cx="2240280" cy="2240280"/>
          </a:xfrm>
          <a:prstGeom prst="rect">
            <a:avLst/>
          </a:prstGeom>
        </p:spPr>
      </p:pic>
      <p:sp>
        <p:nvSpPr>
          <p:cNvPr id="15" name="TextBox 14"/>
          <p:cNvSpPr txBox="1"/>
          <p:nvPr/>
        </p:nvSpPr>
        <p:spPr>
          <a:xfrm>
            <a:off x="9418320" y="6995160"/>
            <a:ext cx="2697480" cy="365760"/>
          </a:xfrm>
          <a:prstGeom prst="rect">
            <a:avLst/>
          </a:prstGeom>
          <a:noFill/>
        </p:spPr>
        <p:txBody>
          <a:bodyPr wrap="square" lIns="0" tIns="0" rIns="0" bIns="0" anchor="t">
            <a:spAutoFit/>
          </a:bodyPr>
          <a:lstStyle/>
          <a:p>
            <a:pPr algn="ctr"/>
            <a:r>
              <a:rPr sz="1300" b="0" i="0">
                <a:solidFill>
                  <a:srgbClr val="6B5B78"/>
                </a:solidFill>
                <a:latin typeface="Calibri"/>
              </a:rPr>
              <a:t>Scan to open the portal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74</TotalTime>
  <Words>1559</Words>
  <Application>Microsoft Office PowerPoint</Application>
  <PresentationFormat>Custom</PresentationFormat>
  <Paragraphs>158</Paragraphs>
  <Slides>11</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Aptos</vt:lpstr>
      <vt:lpstr>Arial</vt:lpstr>
      <vt:lpstr>Bobby Jones Condensed</vt:lpstr>
      <vt:lpstr>Calibri</vt:lpstr>
      <vt:lpstr>Courier New</vt:lpstr>
      <vt:lpstr>Jingleberry</vt:lpstr>
      <vt:lpstr>One Little Font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Sayanna kar</dc:creator>
  <cp:lastModifiedBy>Tek Kshetri</cp:lastModifiedBy>
  <cp:revision>11</cp:revision>
  <dcterms:modified xsi:type="dcterms:W3CDTF">2026-09-25T17:45:20Z</dcterms:modified>
</cp:coreProperties>
</file>